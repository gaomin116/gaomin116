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68912" y="0"/>
            <a:ext cx="320040" cy="6858000"/>
          </a:xfrm>
          <a:prstGeom prst="rect">
            <a:avLst/>
          </a:prstGeom>
          <a:solidFill>
            <a:srgbClr val="A67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463040"/>
            <a:ext cx="9601200" cy="457200"/>
          </a:xfrm>
          <a:prstGeom prst="rect">
            <a:avLst/>
          </a:prstGeom>
          <a:noFill/>
        </p:spPr>
        <p:txBody>
          <a:bodyPr wrap="square" anchor="t"/>
          <a:lstStyle/>
          <a:p>
            <a:pPr algn="l">
              <a:spcAft>
                <a:spcPts val="400"/>
              </a:spcAft>
            </a:pPr>
            <a:r>
              <a:rPr sz="1800" b="1" i="0">
                <a:solidFill>
                  <a:srgbClr val="A67C52"/>
                </a:solidFill>
                <a:latin typeface="Microsoft YaHei"/>
                <a:ea typeface="Microsoft YaHei"/>
              </a:rPr>
              <a:t>盛唐浪漫 · 诗仙李白</a:t>
            </a:r>
          </a:p>
        </p:txBody>
      </p:sp>
      <p:sp>
        <p:nvSpPr>
          <p:cNvPr id="6" name="TextBox 5"/>
          <p:cNvSpPr txBox="1"/>
          <p:nvPr/>
        </p:nvSpPr>
        <p:spPr>
          <a:xfrm>
            <a:off x="1097280" y="2011680"/>
            <a:ext cx="10058400" cy="1097280"/>
          </a:xfrm>
          <a:prstGeom prst="rect">
            <a:avLst/>
          </a:prstGeom>
          <a:noFill/>
        </p:spPr>
        <p:txBody>
          <a:bodyPr wrap="square" anchor="t"/>
          <a:lstStyle/>
          <a:p>
            <a:pPr algn="l">
              <a:spcAft>
                <a:spcPts val="400"/>
              </a:spcAft>
            </a:pPr>
            <a:r>
              <a:rPr sz="4400" b="1" i="0">
                <a:solidFill>
                  <a:srgbClr val="FFFFFF"/>
                </a:solidFill>
                <a:latin typeface="Microsoft YaHei"/>
                <a:ea typeface="Microsoft YaHei"/>
              </a:rPr>
              <a:t>李白十二名篇精讲</a:t>
            </a:r>
          </a:p>
        </p:txBody>
      </p:sp>
      <p:sp>
        <p:nvSpPr>
          <p:cNvPr id="7" name="TextBox 6"/>
          <p:cNvSpPr txBox="1"/>
          <p:nvPr/>
        </p:nvSpPr>
        <p:spPr>
          <a:xfrm>
            <a:off x="1097280" y="3108960"/>
            <a:ext cx="10058400" cy="548640"/>
          </a:xfrm>
          <a:prstGeom prst="rect">
            <a:avLst/>
          </a:prstGeom>
          <a:noFill/>
        </p:spPr>
        <p:txBody>
          <a:bodyPr wrap="square" anchor="t"/>
          <a:lstStyle/>
          <a:p>
            <a:pPr algn="l">
              <a:spcAft>
                <a:spcPts val="400"/>
              </a:spcAft>
            </a:pPr>
            <a:r>
              <a:rPr sz="1800" b="0" i="1">
                <a:solidFill>
                  <a:srgbClr val="E8E0D0"/>
                </a:solidFill>
                <a:latin typeface="Microsoft YaHei"/>
                <a:ea typeface="Microsoft YaHei"/>
              </a:rPr>
              <a:t>Twelve Masterpieces of Li Bai — Chinese &amp; English, Context &amp; Meaning</a:t>
            </a:r>
          </a:p>
        </p:txBody>
      </p:sp>
      <p:sp>
        <p:nvSpPr>
          <p:cNvPr id="8" name="Rectangle 7"/>
          <p:cNvSpPr/>
          <p:nvPr/>
        </p:nvSpPr>
        <p:spPr>
          <a:xfrm>
            <a:off x="1097280" y="3840480"/>
            <a:ext cx="2286000" cy="54864"/>
          </a:xfrm>
          <a:prstGeom prst="rect">
            <a:avLst/>
          </a:prstGeom>
          <a:solidFill>
            <a:srgbClr val="2A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114800"/>
            <a:ext cx="9144000" cy="1097280"/>
          </a:xfrm>
          <a:prstGeom prst="rect">
            <a:avLst/>
          </a:prstGeom>
          <a:noFill/>
        </p:spPr>
        <p:txBody>
          <a:bodyPr wrap="square" anchor="t"/>
          <a:lstStyle/>
          <a:p>
            <a:pPr algn="l">
              <a:spcAft>
                <a:spcPts val="400"/>
              </a:spcAft>
            </a:pPr>
            <a:r>
              <a:rPr sz="1400" b="0" i="0">
                <a:solidFill>
                  <a:srgbClr val="F7F3EB"/>
                </a:solidFill>
                <a:latin typeface="Microsoft YaHei"/>
                <a:ea typeface="Microsoft YaHei"/>
              </a:rPr>
              <a:t>含：峨眉山月歌 · 渡荆门送别 · 长干行 · 金陵酒肆留别</a:t>
            </a:r>
          </a:p>
          <a:p>
            <a:pPr algn="l">
              <a:spcAft>
                <a:spcPts val="400"/>
              </a:spcAft>
            </a:pPr>
            <a:r>
              <a:rPr sz="1400" b="0" i="0">
                <a:solidFill>
                  <a:srgbClr val="F7F3EB"/>
                </a:solidFill>
                <a:latin typeface="Microsoft YaHei"/>
                <a:ea typeface="Microsoft YaHei"/>
              </a:rPr>
              <a:t>长相思 · 行路难 · 蜀道难 · 将进酒 · 清平调</a:t>
            </a:r>
          </a:p>
          <a:p>
            <a:pPr algn="l">
              <a:spcAft>
                <a:spcPts val="400"/>
              </a:spcAft>
            </a:pPr>
            <a:r>
              <a:rPr sz="1400" b="0" i="0">
                <a:solidFill>
                  <a:srgbClr val="F7F3EB"/>
                </a:solidFill>
                <a:latin typeface="Microsoft YaHei"/>
                <a:ea typeface="Microsoft YaHei"/>
              </a:rPr>
              <a:t>梦游天姥吟留别 · 早发白帝城 · 庐山谣寄卢侍御虚舟</a:t>
            </a:r>
          </a:p>
        </p:txBody>
      </p:sp>
      <p:sp>
        <p:nvSpPr>
          <p:cNvPr id="10" name="TextBox 9"/>
          <p:cNvSpPr txBox="1"/>
          <p:nvPr/>
        </p:nvSpPr>
        <p:spPr>
          <a:xfrm>
            <a:off x="1097280" y="5943600"/>
            <a:ext cx="9144000" cy="365760"/>
          </a:xfrm>
          <a:prstGeom prst="rect">
            <a:avLst/>
          </a:prstGeom>
          <a:noFill/>
        </p:spPr>
        <p:txBody>
          <a:bodyPr wrap="square" anchor="t"/>
          <a:lstStyle/>
          <a:p>
            <a:pPr algn="l">
              <a:spcAft>
                <a:spcPts val="400"/>
              </a:spcAft>
            </a:pPr>
            <a:r>
              <a:rPr sz="1200" b="0" i="0">
                <a:solidFill>
                  <a:srgbClr val="5A6272"/>
                </a:solidFill>
                <a:latin typeface="Microsoft YaHei"/>
                <a:ea typeface="Microsoft YaHei"/>
              </a:rPr>
              <a:t>中英对照 · 创作背景 · 诗文意义 · 长版演示文稿</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0972800" cy="457200"/>
          </a:xfrm>
          <a:prstGeom prst="rect">
            <a:avLst/>
          </a:prstGeom>
          <a:noFill/>
        </p:spPr>
        <p:txBody>
          <a:bodyPr wrap="square" anchor="t"/>
          <a:lstStyle/>
          <a:p>
            <a:pPr algn="l">
              <a:spcAft>
                <a:spcPts val="400"/>
              </a:spcAft>
            </a:pPr>
            <a:r>
              <a:rPr sz="2400" b="1" i="0">
                <a:solidFill>
                  <a:srgbClr val="FFFFFF"/>
                </a:solidFill>
                <a:latin typeface="Microsoft YaHei"/>
                <a:ea typeface="Microsoft YaHei"/>
              </a:rPr>
              <a:t>目录 Contents（1/2）</a:t>
            </a:r>
          </a:p>
        </p:txBody>
      </p:sp>
      <p:sp>
        <p:nvSpPr>
          <p:cNvPr id="5" name="TextBox 4"/>
          <p:cNvSpPr txBox="1"/>
          <p:nvPr/>
        </p:nvSpPr>
        <p:spPr>
          <a:xfrm>
            <a:off x="731520" y="1097280"/>
            <a:ext cx="10515600" cy="41148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01  峨眉山月歌    Song of the Moon over Mount Emei</a:t>
            </a:r>
          </a:p>
        </p:txBody>
      </p:sp>
      <p:sp>
        <p:nvSpPr>
          <p:cNvPr id="6" name="TextBox 5"/>
          <p:cNvSpPr txBox="1"/>
          <p:nvPr/>
        </p:nvSpPr>
        <p:spPr>
          <a:xfrm>
            <a:off x="1097280" y="1389888"/>
            <a:ext cx="10058400" cy="27432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七言绝句 / Seven-character quatrain  ·  开元十三年（约725年） · 出蜀东下游历之初</a:t>
            </a:r>
          </a:p>
        </p:txBody>
      </p:sp>
      <p:sp>
        <p:nvSpPr>
          <p:cNvPr id="7" name="TextBox 6"/>
          <p:cNvSpPr txBox="1"/>
          <p:nvPr/>
        </p:nvSpPr>
        <p:spPr>
          <a:xfrm>
            <a:off x="731520" y="1874519"/>
            <a:ext cx="10515600" cy="41148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02  渡荆门送别    Crossing Jingmen: A Farewell</a:t>
            </a:r>
          </a:p>
        </p:txBody>
      </p:sp>
      <p:sp>
        <p:nvSpPr>
          <p:cNvPr id="8" name="TextBox 7"/>
          <p:cNvSpPr txBox="1"/>
          <p:nvPr/>
        </p:nvSpPr>
        <p:spPr>
          <a:xfrm>
            <a:off x="1097280" y="2167127"/>
            <a:ext cx="10058400" cy="27432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五言律诗 / Five-character regulated verse  ·  开元十四年（约726年） · 出蜀途经荆门</a:t>
            </a:r>
          </a:p>
        </p:txBody>
      </p:sp>
      <p:sp>
        <p:nvSpPr>
          <p:cNvPr id="9" name="TextBox 8"/>
          <p:cNvSpPr txBox="1"/>
          <p:nvPr/>
        </p:nvSpPr>
        <p:spPr>
          <a:xfrm>
            <a:off x="731520" y="2651760"/>
            <a:ext cx="10515600" cy="41148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03  长干行    Ballad of Changgan (The Merchant’s Wife)</a:t>
            </a:r>
          </a:p>
        </p:txBody>
      </p:sp>
      <p:sp>
        <p:nvSpPr>
          <p:cNvPr id="10" name="TextBox 9"/>
          <p:cNvSpPr txBox="1"/>
          <p:nvPr/>
        </p:nvSpPr>
        <p:spPr>
          <a:xfrm>
            <a:off x="1097280" y="2944368"/>
            <a:ext cx="10058400" cy="27432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乐府歌行 / Yuefu narrative song  ·  约开元末至天宝初 · 寓居金陵一带时作</a:t>
            </a:r>
          </a:p>
        </p:txBody>
      </p:sp>
      <p:sp>
        <p:nvSpPr>
          <p:cNvPr id="11" name="TextBox 10"/>
          <p:cNvSpPr txBox="1"/>
          <p:nvPr/>
        </p:nvSpPr>
        <p:spPr>
          <a:xfrm>
            <a:off x="731520" y="3429000"/>
            <a:ext cx="10515600" cy="41148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04  金陵酒肆留别    Parting at a Jinling Tavern</a:t>
            </a:r>
          </a:p>
        </p:txBody>
      </p:sp>
      <p:sp>
        <p:nvSpPr>
          <p:cNvPr id="12" name="TextBox 11"/>
          <p:cNvSpPr txBox="1"/>
          <p:nvPr/>
        </p:nvSpPr>
        <p:spPr>
          <a:xfrm>
            <a:off x="1097280" y="3721608"/>
            <a:ext cx="10058400" cy="27432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七言古诗（短歌） / Short seven-character song  ·  约开元十四年前后 · 金陵送别友人</a:t>
            </a:r>
          </a:p>
        </p:txBody>
      </p:sp>
      <p:sp>
        <p:nvSpPr>
          <p:cNvPr id="13" name="TextBox 12"/>
          <p:cNvSpPr txBox="1"/>
          <p:nvPr/>
        </p:nvSpPr>
        <p:spPr>
          <a:xfrm>
            <a:off x="731520" y="4206240"/>
            <a:ext cx="10515600" cy="41148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05  长相思    Everlasting Longing (Changxiangsi)</a:t>
            </a:r>
          </a:p>
        </p:txBody>
      </p:sp>
      <p:sp>
        <p:nvSpPr>
          <p:cNvPr id="14" name="TextBox 13"/>
          <p:cNvSpPr txBox="1"/>
          <p:nvPr/>
        </p:nvSpPr>
        <p:spPr>
          <a:xfrm>
            <a:off x="1097280" y="4498848"/>
            <a:ext cx="10058400" cy="27432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乐府歌行 / Yuefu song  ·  约天宝初年 · 长安时期或此后不久</a:t>
            </a:r>
          </a:p>
        </p:txBody>
      </p:sp>
      <p:sp>
        <p:nvSpPr>
          <p:cNvPr id="15" name="TextBox 14"/>
          <p:cNvSpPr txBox="1"/>
          <p:nvPr/>
        </p:nvSpPr>
        <p:spPr>
          <a:xfrm>
            <a:off x="731520" y="4983479"/>
            <a:ext cx="10515600" cy="41148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06  行路难（其一）    Hard Is the Road (I)</a:t>
            </a:r>
          </a:p>
        </p:txBody>
      </p:sp>
      <p:sp>
        <p:nvSpPr>
          <p:cNvPr id="16" name="TextBox 15"/>
          <p:cNvSpPr txBox="1"/>
          <p:nvPr/>
        </p:nvSpPr>
        <p:spPr>
          <a:xfrm>
            <a:off x="1097280" y="5276088"/>
            <a:ext cx="10058400" cy="27432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乐府歌行 / Yuefu song  ·  天宝三载（744年）前后 · 赐金放还后</a:t>
            </a:r>
          </a:p>
        </p:txBody>
      </p:sp>
      <p:sp>
        <p:nvSpPr>
          <p:cNvPr id="17" name="TextBox 16"/>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李白诗作精讲 · Li Bai Poetry  |  2/83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0972800" cy="457200"/>
          </a:xfrm>
          <a:prstGeom prst="rect">
            <a:avLst/>
          </a:prstGeom>
          <a:noFill/>
        </p:spPr>
        <p:txBody>
          <a:bodyPr wrap="square" anchor="t"/>
          <a:lstStyle/>
          <a:p>
            <a:pPr algn="l">
              <a:spcAft>
                <a:spcPts val="400"/>
              </a:spcAft>
            </a:pPr>
            <a:r>
              <a:rPr sz="2400" b="1" i="0">
                <a:solidFill>
                  <a:srgbClr val="FFFFFF"/>
                </a:solidFill>
                <a:latin typeface="Microsoft YaHei"/>
                <a:ea typeface="Microsoft YaHei"/>
              </a:rPr>
              <a:t>目录 Contents（2/2）</a:t>
            </a:r>
          </a:p>
        </p:txBody>
      </p:sp>
      <p:sp>
        <p:nvSpPr>
          <p:cNvPr id="5" name="TextBox 4"/>
          <p:cNvSpPr txBox="1"/>
          <p:nvPr/>
        </p:nvSpPr>
        <p:spPr>
          <a:xfrm>
            <a:off x="731520" y="1097280"/>
            <a:ext cx="10515600" cy="41148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07  蜀道难    The Road to Shu Is Hard</a:t>
            </a:r>
          </a:p>
        </p:txBody>
      </p:sp>
      <p:sp>
        <p:nvSpPr>
          <p:cNvPr id="6" name="TextBox 5"/>
          <p:cNvSpPr txBox="1"/>
          <p:nvPr/>
        </p:nvSpPr>
        <p:spPr>
          <a:xfrm>
            <a:off x="1097280" y="1389888"/>
            <a:ext cx="10058400" cy="27432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乐府歌行（杂言） / Irregular yuefu song  ·  约开元末至天宝初 · 送友人入蜀或有所讽喻</a:t>
            </a:r>
          </a:p>
        </p:txBody>
      </p:sp>
      <p:sp>
        <p:nvSpPr>
          <p:cNvPr id="7" name="TextBox 6"/>
          <p:cNvSpPr txBox="1"/>
          <p:nvPr/>
        </p:nvSpPr>
        <p:spPr>
          <a:xfrm>
            <a:off x="731520" y="1874519"/>
            <a:ext cx="10515600" cy="41148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08  将进酒    Bring in the Wine</a:t>
            </a:r>
          </a:p>
        </p:txBody>
      </p:sp>
      <p:sp>
        <p:nvSpPr>
          <p:cNvPr id="8" name="TextBox 7"/>
          <p:cNvSpPr txBox="1"/>
          <p:nvPr/>
        </p:nvSpPr>
        <p:spPr>
          <a:xfrm>
            <a:off x="1097280" y="2167127"/>
            <a:ext cx="10058400" cy="27432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乐府歌行 / Yuefu song  ·  约天宝年间 · 与友人岑勋、元丹丘宴饮时</a:t>
            </a:r>
          </a:p>
        </p:txBody>
      </p:sp>
      <p:sp>
        <p:nvSpPr>
          <p:cNvPr id="9" name="TextBox 8"/>
          <p:cNvSpPr txBox="1"/>
          <p:nvPr/>
        </p:nvSpPr>
        <p:spPr>
          <a:xfrm>
            <a:off x="731520" y="2651760"/>
            <a:ext cx="10515600" cy="41148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09  清平调（三首）    Qingping Tunes (Three Lyrics)</a:t>
            </a:r>
          </a:p>
        </p:txBody>
      </p:sp>
      <p:sp>
        <p:nvSpPr>
          <p:cNvPr id="10" name="TextBox 9"/>
          <p:cNvSpPr txBox="1"/>
          <p:nvPr/>
        </p:nvSpPr>
        <p:spPr>
          <a:xfrm>
            <a:off x="1097280" y="2944368"/>
            <a:ext cx="10058400" cy="27432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七言绝句组诗 / Three seven-character quatrains  ·  天宝二年左右（约743年） · 供奉翰林、沉香亭赏牡丹时</a:t>
            </a:r>
          </a:p>
        </p:txBody>
      </p:sp>
      <p:sp>
        <p:nvSpPr>
          <p:cNvPr id="11" name="TextBox 10"/>
          <p:cNvSpPr txBox="1"/>
          <p:nvPr/>
        </p:nvSpPr>
        <p:spPr>
          <a:xfrm>
            <a:off x="731520" y="3429000"/>
            <a:ext cx="10515600" cy="41148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10  梦游天姥吟留别    Dream Journey to Tianmu: A Farewell Song</a:t>
            </a:r>
          </a:p>
        </p:txBody>
      </p:sp>
      <p:sp>
        <p:nvSpPr>
          <p:cNvPr id="12" name="TextBox 11"/>
          <p:cNvSpPr txBox="1"/>
          <p:nvPr/>
        </p:nvSpPr>
        <p:spPr>
          <a:xfrm>
            <a:off x="1097280" y="3721608"/>
            <a:ext cx="10058400" cy="27432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杂言歌行 / Irregular song-poem  ·  天宝四载（745年） · 将离东鲁南下吴越时</a:t>
            </a:r>
          </a:p>
        </p:txBody>
      </p:sp>
      <p:sp>
        <p:nvSpPr>
          <p:cNvPr id="13" name="TextBox 12"/>
          <p:cNvSpPr txBox="1"/>
          <p:nvPr/>
        </p:nvSpPr>
        <p:spPr>
          <a:xfrm>
            <a:off x="731520" y="4206240"/>
            <a:ext cx="10515600" cy="41148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11  早发白帝城    Departing Baidi City at Dawn</a:t>
            </a:r>
          </a:p>
        </p:txBody>
      </p:sp>
      <p:sp>
        <p:nvSpPr>
          <p:cNvPr id="14" name="TextBox 13"/>
          <p:cNvSpPr txBox="1"/>
          <p:nvPr/>
        </p:nvSpPr>
        <p:spPr>
          <a:xfrm>
            <a:off x="1097280" y="4498848"/>
            <a:ext cx="10058400" cy="27432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七言绝句 / Seven-character quatrain  ·  乾元二年（759年） · 流放夜郎途中遇赦东归</a:t>
            </a:r>
          </a:p>
        </p:txBody>
      </p:sp>
      <p:sp>
        <p:nvSpPr>
          <p:cNvPr id="15" name="TextBox 14"/>
          <p:cNvSpPr txBox="1"/>
          <p:nvPr/>
        </p:nvSpPr>
        <p:spPr>
          <a:xfrm>
            <a:off x="731520" y="4983479"/>
            <a:ext cx="10515600" cy="41148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12  庐山谣寄卢侍御虚舟    Ballad of Mount Lu, Sent to Censor Lu Xuzhou</a:t>
            </a:r>
          </a:p>
        </p:txBody>
      </p:sp>
      <p:sp>
        <p:nvSpPr>
          <p:cNvPr id="16" name="TextBox 15"/>
          <p:cNvSpPr txBox="1"/>
          <p:nvPr/>
        </p:nvSpPr>
        <p:spPr>
          <a:xfrm>
            <a:off x="1097280" y="5276088"/>
            <a:ext cx="10058400" cy="27432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杂言歌行 / Irregular song-poem  ·  上元元年（760年）左右 · 晚年游庐山时</a:t>
            </a:r>
          </a:p>
        </p:txBody>
      </p:sp>
      <p:sp>
        <p:nvSpPr>
          <p:cNvPr id="17" name="TextBox 16"/>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李白诗作精讲 · Li Bai Poetry  |  3/83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0972800" cy="457200"/>
          </a:xfrm>
          <a:prstGeom prst="rect">
            <a:avLst/>
          </a:prstGeom>
          <a:noFill/>
        </p:spPr>
        <p:txBody>
          <a:bodyPr wrap="square" anchor="t"/>
          <a:lstStyle/>
          <a:p>
            <a:pPr algn="l">
              <a:spcAft>
                <a:spcPts val="400"/>
              </a:spcAft>
            </a:pPr>
            <a:r>
              <a:rPr sz="2400" b="1" i="0">
                <a:solidFill>
                  <a:srgbClr val="FFFFFF"/>
                </a:solidFill>
                <a:latin typeface="Microsoft YaHei"/>
                <a:ea typeface="Microsoft YaHei"/>
              </a:rPr>
              <a:t>诗人简介 · About Li Bai</a:t>
            </a:r>
          </a:p>
        </p:txBody>
      </p:sp>
      <p:sp>
        <p:nvSpPr>
          <p:cNvPr id="5" name="TextBox 4"/>
          <p:cNvSpPr txBox="1"/>
          <p:nvPr/>
        </p:nvSpPr>
        <p:spPr>
          <a:xfrm>
            <a:off x="640080" y="1097280"/>
            <a:ext cx="10972800" cy="5029200"/>
          </a:xfrm>
          <a:prstGeom prst="rect">
            <a:avLst/>
          </a:prstGeom>
          <a:noFill/>
        </p:spPr>
        <p:txBody>
          <a:bodyPr wrap="square" anchor="t"/>
          <a:lstStyle/>
          <a:p>
            <a:pPr algn="l">
              <a:spcAft>
                <a:spcPts val="400"/>
              </a:spcAft>
            </a:pPr>
            <a:r>
              <a:rPr sz="1500" b="0" i="0">
                <a:solidFill>
                  <a:srgbClr val="2C3548"/>
                </a:solidFill>
                <a:latin typeface="Microsoft YaHei"/>
                <a:ea typeface="Microsoft YaHei"/>
              </a:rPr>
              <a:t>李白（701—762），字太白，号青莲居士，盛唐浪漫主义诗歌的巅峰代表，后人尊为“诗仙”。</a:t>
            </a:r>
          </a:p>
          <a:p>
            <a:pPr algn="l">
              <a:spcAft>
                <a:spcPts val="400"/>
              </a:spcAft>
            </a:pPr>
            <a:r>
              <a:rPr sz="1500" b="0" i="0">
                <a:solidFill>
                  <a:srgbClr val="2C3548"/>
                </a:solidFill>
                <a:latin typeface="Microsoft YaHei"/>
                <a:ea typeface="Microsoft YaHei"/>
              </a:rPr>
              <a:t>早年出蜀漫游，天宝初供奉翰林，不久赐金放还；安史乱中因永王事流放夜郎，中途遇赦。</a:t>
            </a:r>
          </a:p>
          <a:p>
            <a:pPr algn="l">
              <a:spcAft>
                <a:spcPts val="400"/>
              </a:spcAft>
            </a:pPr>
            <a:r>
              <a:rPr sz="1500" b="0" i="0">
                <a:solidFill>
                  <a:srgbClr val="2C3548"/>
                </a:solidFill>
                <a:latin typeface="Microsoft YaHei"/>
                <a:ea typeface="Microsoft YaHei"/>
              </a:rPr>
              <a:t>其诗想象瑰奇、情感奔放、语言清雄，尤擅乐府歌行与绝句。</a:t>
            </a:r>
          </a:p>
          <a:p>
            <a:pPr algn="l">
              <a:spcAft>
                <a:spcPts val="400"/>
              </a:spcAft>
            </a:pPr>
            <a:r>
              <a:rPr sz="1500" b="0" i="0">
                <a:solidFill>
                  <a:srgbClr val="2C3548"/>
                </a:solidFill>
                <a:latin typeface="Microsoft YaHei"/>
                <a:ea typeface="Microsoft YaHei"/>
              </a:rPr>
              <a:t/>
            </a:r>
          </a:p>
          <a:p>
            <a:pPr algn="l">
              <a:spcAft>
                <a:spcPts val="400"/>
              </a:spcAft>
            </a:pPr>
            <a:r>
              <a:rPr sz="1500" b="0" i="0">
                <a:solidFill>
                  <a:srgbClr val="2C3548"/>
                </a:solidFill>
                <a:latin typeface="Microsoft YaHei"/>
                <a:ea typeface="Microsoft YaHei"/>
              </a:rPr>
              <a:t>Li Bai (701–762), courtesy name Taibai, the “Poet Immortal,” stands at the summit of</a:t>
            </a:r>
          </a:p>
          <a:p>
            <a:pPr algn="l">
              <a:spcAft>
                <a:spcPts val="400"/>
              </a:spcAft>
            </a:pPr>
            <a:r>
              <a:rPr sz="1500" b="0" i="0">
                <a:solidFill>
                  <a:srgbClr val="2C3548"/>
                </a:solidFill>
                <a:latin typeface="Microsoft YaHei"/>
                <a:ea typeface="Microsoft YaHei"/>
              </a:rPr>
              <a:t>High Tang romantic poetry. He left Shu young, briefly served at court, then wandered;</a:t>
            </a:r>
          </a:p>
          <a:p>
            <a:pPr algn="l">
              <a:spcAft>
                <a:spcPts val="400"/>
              </a:spcAft>
            </a:pPr>
            <a:r>
              <a:rPr sz="1500" b="0" i="0">
                <a:solidFill>
                  <a:srgbClr val="2C3548"/>
                </a:solidFill>
                <a:latin typeface="Microsoft YaHei"/>
                <a:ea typeface="Microsoft YaHei"/>
              </a:rPr>
              <a:t>after exile and pardon late in life, his verse remained bold in vision and music.</a:t>
            </a:r>
          </a:p>
          <a:p>
            <a:pPr algn="l">
              <a:spcAft>
                <a:spcPts val="400"/>
              </a:spcAft>
            </a:pPr>
            <a:r>
              <a:rPr sz="1500" b="0" i="0">
                <a:solidFill>
                  <a:srgbClr val="2C3548"/>
                </a:solidFill>
                <a:latin typeface="Microsoft YaHei"/>
                <a:ea typeface="Microsoft YaHei"/>
              </a:rPr>
              <a:t/>
            </a:r>
          </a:p>
          <a:p>
            <a:pPr algn="l">
              <a:spcAft>
                <a:spcPts val="400"/>
              </a:spcAft>
            </a:pPr>
            <a:r>
              <a:rPr sz="1500" b="0" i="0">
                <a:solidFill>
                  <a:srgbClr val="2C3548"/>
                </a:solidFill>
                <a:latin typeface="Microsoft YaHei"/>
                <a:ea typeface="Microsoft YaHei"/>
              </a:rPr>
              <a:t>本演示文稿按大致创作时间，精讲十二首名篇：每篇含原文、英译、创作背景与诗文意义。</a:t>
            </a:r>
          </a:p>
          <a:p>
            <a:pPr algn="l">
              <a:spcAft>
                <a:spcPts val="400"/>
              </a:spcAft>
            </a:pPr>
            <a:r>
              <a:rPr sz="1500" b="0" i="0">
                <a:solidFill>
                  <a:srgbClr val="2C3548"/>
                </a:solidFill>
                <a:latin typeface="Microsoft YaHei"/>
                <a:ea typeface="Microsoft YaHei"/>
              </a:rPr>
              <a:t>This deck presents twelve masterpieces in roughly chronological order, each with</a:t>
            </a:r>
          </a:p>
          <a:p>
            <a:pPr algn="l">
              <a:spcAft>
                <a:spcPts val="400"/>
              </a:spcAft>
            </a:pPr>
            <a:r>
              <a:rPr sz="1500" b="0" i="0">
                <a:solidFill>
                  <a:srgbClr val="2C3548"/>
                </a:solidFill>
                <a:latin typeface="Microsoft YaHei"/>
                <a:ea typeface="Microsoft YaHei"/>
              </a:rPr>
              <a:t>Chinese text, English translation, historical context, and interpretive meaning.</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李白诗作精讲 · Li Bai Poetry  |  4/83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阅读提示 · How to Read These Poems</a:t>
            </a:r>
          </a:p>
        </p:txBody>
      </p:sp>
      <p:sp>
        <p:nvSpPr>
          <p:cNvPr id="5" name="TextBox 4"/>
          <p:cNvSpPr txBox="1"/>
          <p:nvPr/>
        </p:nvSpPr>
        <p:spPr>
          <a:xfrm>
            <a:off x="640080" y="1097280"/>
            <a:ext cx="10972800" cy="502920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1. 先诵中文，感受声韵与节奏；再读英译，对照意象如何转换。</a:t>
            </a:r>
          </a:p>
          <a:p>
            <a:pPr algn="l">
              <a:spcAft>
                <a:spcPts val="400"/>
              </a:spcAft>
            </a:pPr>
            <a:r>
              <a:rPr sz="1500" b="0" i="0">
                <a:solidFill>
                  <a:srgbClr val="1A1F2E"/>
                </a:solidFill>
                <a:latin typeface="Microsoft YaHei"/>
                <a:ea typeface="Microsoft YaHei"/>
              </a:rPr>
              <a:t>   Recite the Chinese first for sound and cadence; then read the English for imagery.</a:t>
            </a:r>
          </a:p>
          <a:p>
            <a:pPr algn="l">
              <a:spcAft>
                <a:spcPts val="400"/>
              </a:spcAft>
            </a:pPr>
            <a:r>
              <a:rPr sz="1500" b="0" i="0">
                <a:solidFill>
                  <a:srgbClr val="1A1F2E"/>
                </a:solidFill>
                <a:latin typeface="Microsoft YaHei"/>
                <a:ea typeface="Microsoft YaHei"/>
              </a:rPr>
              <a:t/>
            </a:r>
          </a:p>
          <a:p>
            <a:pPr algn="l">
              <a:spcAft>
                <a:spcPts val="400"/>
              </a:spcAft>
            </a:pPr>
            <a:r>
              <a:rPr sz="1500" b="0" i="0">
                <a:solidFill>
                  <a:srgbClr val="1A1F2E"/>
                </a:solidFill>
                <a:latin typeface="Microsoft YaHei"/>
                <a:ea typeface="Microsoft YaHei"/>
              </a:rPr>
              <a:t>2. 注意乐府歌行的“杂言”与绝句的凝练：前者如交响乐，后者如水墨一笔。</a:t>
            </a:r>
          </a:p>
          <a:p>
            <a:pPr algn="l">
              <a:spcAft>
                <a:spcPts val="400"/>
              </a:spcAft>
            </a:pPr>
            <a:r>
              <a:rPr sz="1500" b="0" i="0">
                <a:solidFill>
                  <a:srgbClr val="1A1F2E"/>
                </a:solidFill>
                <a:latin typeface="Microsoft YaHei"/>
                <a:ea typeface="Microsoft YaHei"/>
              </a:rPr>
              <a:t>   Yuefu songs sprawl musically; quatrains distill a single stroke.</a:t>
            </a:r>
          </a:p>
          <a:p>
            <a:pPr algn="l">
              <a:spcAft>
                <a:spcPts val="400"/>
              </a:spcAft>
            </a:pPr>
            <a:r>
              <a:rPr sz="1500" b="0" i="0">
                <a:solidFill>
                  <a:srgbClr val="1A1F2E"/>
                </a:solidFill>
                <a:latin typeface="Microsoft YaHei"/>
                <a:ea typeface="Microsoft YaHei"/>
              </a:rPr>
              <a:t/>
            </a:r>
          </a:p>
          <a:p>
            <a:pPr algn="l">
              <a:spcAft>
                <a:spcPts val="400"/>
              </a:spcAft>
            </a:pPr>
            <a:r>
              <a:rPr sz="1500" b="0" i="0">
                <a:solidFill>
                  <a:srgbClr val="1A1F2E"/>
                </a:solidFill>
                <a:latin typeface="Microsoft YaHei"/>
                <a:ea typeface="Microsoft YaHei"/>
              </a:rPr>
              <a:t>3. 背景帮助理解，但诗意大于史实——允许象征与多义并存。</a:t>
            </a:r>
          </a:p>
          <a:p>
            <a:pPr algn="l">
              <a:spcAft>
                <a:spcPts val="400"/>
              </a:spcAft>
            </a:pPr>
            <a:r>
              <a:rPr sz="1500" b="0" i="0">
                <a:solidFill>
                  <a:srgbClr val="1A1F2E"/>
                </a:solidFill>
                <a:latin typeface="Microsoft YaHei"/>
                <a:ea typeface="Microsoft YaHei"/>
              </a:rPr>
              <a:t>   Context helps, yet meaning exceeds biography; allegory and ambiguity are allowed.</a:t>
            </a:r>
          </a:p>
          <a:p>
            <a:pPr algn="l">
              <a:spcAft>
                <a:spcPts val="400"/>
              </a:spcAft>
            </a:pPr>
            <a:r>
              <a:rPr sz="1500" b="0" i="0">
                <a:solidFill>
                  <a:srgbClr val="1A1F2E"/>
                </a:solidFill>
                <a:latin typeface="Microsoft YaHei"/>
                <a:ea typeface="Microsoft YaHei"/>
              </a:rPr>
              <a:t/>
            </a:r>
          </a:p>
          <a:p>
            <a:pPr algn="l">
              <a:spcAft>
                <a:spcPts val="400"/>
              </a:spcAft>
            </a:pPr>
            <a:r>
              <a:rPr sz="1500" b="0" i="0">
                <a:solidFill>
                  <a:srgbClr val="1A1F2E"/>
                </a:solidFill>
                <a:latin typeface="Microsoft YaHei"/>
                <a:ea typeface="Microsoft YaHei"/>
              </a:rPr>
              <a:t>4. 李白的“豪”常与“愁”共生：纵酒、游仙、傲视权贵，皆是对困境的回应。</a:t>
            </a:r>
          </a:p>
          <a:p>
            <a:pPr algn="l">
              <a:spcAft>
                <a:spcPts val="400"/>
              </a:spcAft>
            </a:pPr>
            <a:r>
              <a:rPr sz="1500" b="0" i="0">
                <a:solidFill>
                  <a:srgbClr val="1A1F2E"/>
                </a:solidFill>
                <a:latin typeface="Microsoft YaHei"/>
                <a:ea typeface="Microsoft YaHei"/>
              </a:rPr>
              <a:t>   His boldness coexists with sorrow—wine, immortals, and defiance answer adversity.</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李白诗作精讲 · Li Bai Poetry  |  5/83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144000" cy="365760"/>
          </a:xfrm>
          <a:prstGeom prst="rect">
            <a:avLst/>
          </a:prstGeom>
          <a:noFill/>
        </p:spPr>
        <p:txBody>
          <a:bodyPr wrap="square" anchor="t"/>
          <a:lstStyle/>
          <a:p>
            <a:pPr algn="l">
              <a:spcAft>
                <a:spcPts val="400"/>
              </a:spcAft>
            </a:pPr>
            <a:r>
              <a:rPr sz="1600" b="1" i="0">
                <a:solidFill>
                  <a:srgbClr val="A67C52"/>
                </a:solidFill>
                <a:latin typeface="Microsoft YaHei"/>
                <a:ea typeface="Microsoft YaHei"/>
              </a:rPr>
              <a:t>第 1 篇  /  Poem 1</a:t>
            </a:r>
          </a:p>
        </p:txBody>
      </p:sp>
      <p:sp>
        <p:nvSpPr>
          <p:cNvPr id="5" name="TextBox 4"/>
          <p:cNvSpPr txBox="1"/>
          <p:nvPr/>
        </p:nvSpPr>
        <p:spPr>
          <a:xfrm>
            <a:off x="1097280" y="2377440"/>
            <a:ext cx="10058400" cy="822960"/>
          </a:xfrm>
          <a:prstGeom prst="rect">
            <a:avLst/>
          </a:prstGeom>
          <a:noFill/>
        </p:spPr>
        <p:txBody>
          <a:bodyPr wrap="square" anchor="t"/>
          <a:lstStyle/>
          <a:p>
            <a:pPr algn="l">
              <a:spcAft>
                <a:spcPts val="400"/>
              </a:spcAft>
            </a:pPr>
            <a:r>
              <a:rPr sz="4000" b="1" i="0">
                <a:solidFill>
                  <a:srgbClr val="FFFFFF"/>
                </a:solidFill>
                <a:latin typeface="Microsoft YaHei"/>
                <a:ea typeface="Microsoft YaHei"/>
              </a:rPr>
              <a:t>《峨眉山月歌》</a:t>
            </a:r>
          </a:p>
        </p:txBody>
      </p:sp>
      <p:sp>
        <p:nvSpPr>
          <p:cNvPr id="6" name="TextBox 5"/>
          <p:cNvSpPr txBox="1"/>
          <p:nvPr/>
        </p:nvSpPr>
        <p:spPr>
          <a:xfrm>
            <a:off x="1097280" y="3291840"/>
            <a:ext cx="10058400" cy="457200"/>
          </a:xfrm>
          <a:prstGeom prst="rect">
            <a:avLst/>
          </a:prstGeom>
          <a:noFill/>
        </p:spPr>
        <p:txBody>
          <a:bodyPr wrap="square" anchor="t"/>
          <a:lstStyle/>
          <a:p>
            <a:pPr algn="l">
              <a:spcAft>
                <a:spcPts val="400"/>
              </a:spcAft>
            </a:pPr>
            <a:r>
              <a:rPr sz="2000" b="0" i="1">
                <a:solidFill>
                  <a:srgbClr val="E8E0D0"/>
                </a:solidFill>
                <a:latin typeface="Microsoft YaHei"/>
                <a:ea typeface="Microsoft YaHei"/>
              </a:rPr>
              <a:t>Song of the Moon over Mount Emei</a:t>
            </a:r>
          </a:p>
        </p:txBody>
      </p:sp>
      <p:sp>
        <p:nvSpPr>
          <p:cNvPr id="7" name="Rectangle 6"/>
          <p:cNvSpPr/>
          <p:nvPr/>
        </p:nvSpPr>
        <p:spPr>
          <a:xfrm>
            <a:off x="1097280" y="3931920"/>
            <a:ext cx="2011680" cy="54864"/>
          </a:xfrm>
          <a:prstGeom prst="rect">
            <a:avLst/>
          </a:prstGeom>
          <a:solidFill>
            <a:srgbClr val="2A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731520"/>
          </a:xfrm>
          <a:prstGeom prst="rect">
            <a:avLst/>
          </a:prstGeom>
          <a:noFill/>
        </p:spPr>
        <p:txBody>
          <a:bodyPr wrap="square" anchor="t"/>
          <a:lstStyle/>
          <a:p>
            <a:pPr algn="l">
              <a:spcAft>
                <a:spcPts val="400"/>
              </a:spcAft>
            </a:pPr>
            <a:r>
              <a:rPr sz="1400" b="0" i="0">
                <a:solidFill>
                  <a:srgbClr val="F7F3EB"/>
                </a:solidFill>
                <a:latin typeface="Microsoft YaHei"/>
                <a:ea typeface="Microsoft YaHei"/>
              </a:rPr>
              <a:t>七言绝句 / Seven-character quatrain</a:t>
            </a:r>
          </a:p>
          <a:p>
            <a:pPr algn="l">
              <a:spcAft>
                <a:spcPts val="400"/>
              </a:spcAft>
            </a:pPr>
            <a:r>
              <a:rPr sz="1400" b="0" i="0">
                <a:solidFill>
                  <a:srgbClr val="F7F3EB"/>
                </a:solidFill>
                <a:latin typeface="Microsoft YaHei"/>
                <a:ea typeface="Microsoft YaHei"/>
              </a:rPr>
              <a:t>开元十三年（约725年） · 出蜀东下游历之初</a:t>
            </a:r>
          </a:p>
          <a:p>
            <a:pPr algn="l">
              <a:spcAft>
                <a:spcPts val="400"/>
              </a:spcAft>
            </a:pPr>
            <a:r>
              <a:rPr sz="1400" b="0" i="0">
                <a:solidFill>
                  <a:srgbClr val="F7F3EB"/>
                </a:solidFill>
                <a:latin typeface="Microsoft YaHei"/>
                <a:ea typeface="Microsoft YaHei"/>
              </a:rPr>
              <a:t>关键词 Keywords：乡情 · 秋月 · 蜀江 · 羁旅</a:t>
            </a:r>
          </a:p>
        </p:txBody>
      </p:sp>
      <p:sp>
        <p:nvSpPr>
          <p:cNvPr id="9" name="TextBox 8"/>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峨眉山月歌  |  6/83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《峨眉山月歌》 · 原文 Original Chinese</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800" b="0" i="0">
                <a:solidFill>
                  <a:srgbClr val="1A1F2E"/>
                </a:solidFill>
                <a:latin typeface="Microsoft YaHei"/>
                <a:ea typeface="Microsoft YaHei"/>
              </a:rPr>
              <a:t>峨眉山月半轮秋，影入平羌江水流。</a:t>
            </a:r>
          </a:p>
          <a:p>
            <a:pPr algn="l">
              <a:spcAft>
                <a:spcPts val="400"/>
              </a:spcAft>
            </a:pPr>
            <a:r>
              <a:rPr sz="1800" b="0" i="0">
                <a:solidFill>
                  <a:srgbClr val="1A1F2E"/>
                </a:solidFill>
                <a:latin typeface="Microsoft YaHei"/>
                <a:ea typeface="Microsoft YaHei"/>
              </a:rPr>
              <a:t>夜发清溪向三峡，思君不见下渝州。</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峨眉山月歌  |  7/83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Song of the Moon over Mount Emei · 英译 English Translation</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600" b="0" i="0">
                <a:solidFill>
                  <a:srgbClr val="2C3548"/>
                </a:solidFill>
                <a:latin typeface="Microsoft YaHei"/>
                <a:ea typeface="Microsoft YaHei"/>
              </a:rPr>
              <a:t>Half a wheel of autumn moon hangs over Mount Emei;</a:t>
            </a:r>
          </a:p>
          <a:p>
            <a:pPr algn="l">
              <a:spcAft>
                <a:spcPts val="400"/>
              </a:spcAft>
            </a:pPr>
            <a:r>
              <a:rPr sz="1600" b="0" i="0">
                <a:solidFill>
                  <a:srgbClr val="2C3548"/>
                </a:solidFill>
                <a:latin typeface="Microsoft YaHei"/>
                <a:ea typeface="Microsoft YaHei"/>
              </a:rPr>
              <a:t>Its reflection drifts with the Pingqiang River’s flow.</a:t>
            </a:r>
          </a:p>
          <a:p>
            <a:pPr algn="l">
              <a:spcAft>
                <a:spcPts val="400"/>
              </a:spcAft>
            </a:pPr>
            <a:r>
              <a:rPr sz="1600" b="0" i="0">
                <a:solidFill>
                  <a:srgbClr val="2C3548"/>
                </a:solidFill>
                <a:latin typeface="Microsoft YaHei"/>
                <a:ea typeface="Microsoft YaHei"/>
              </a:rPr>
              <a:t>At night I leave Clear Stream, bound for the Three Gorges;</a:t>
            </a:r>
          </a:p>
          <a:p>
            <a:pPr algn="l">
              <a:spcAft>
                <a:spcPts val="400"/>
              </a:spcAft>
            </a:pPr>
            <a:r>
              <a:rPr sz="1600" b="0" i="0">
                <a:solidFill>
                  <a:srgbClr val="2C3548"/>
                </a:solidFill>
                <a:latin typeface="Microsoft YaHei"/>
                <a:ea typeface="Microsoft YaHei"/>
              </a:rPr>
              <a:t>Missing you, unseen, I sail down toward Yuzhou.</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峨眉山月歌  |  8/83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《峨眉山月歌》 · 中英对照 Bilingual</a:t>
            </a:r>
          </a:p>
        </p:txBody>
      </p:sp>
      <p:sp>
        <p:nvSpPr>
          <p:cNvPr id="5" name="Rectangle 4"/>
          <p:cNvSpPr/>
          <p:nvPr/>
        </p:nvSpPr>
        <p:spPr>
          <a:xfrm>
            <a:off x="457200" y="914400"/>
            <a:ext cx="5394960" cy="502920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09360" y="914400"/>
            <a:ext cx="5394960" cy="5029200"/>
          </a:xfrm>
          <a:prstGeom prst="rect">
            <a:avLst/>
          </a:prstGeom>
          <a:solidFill>
            <a:srgbClr val="EE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中文</a:t>
            </a:r>
          </a:p>
        </p:txBody>
      </p:sp>
      <p:sp>
        <p:nvSpPr>
          <p:cNvPr id="8" name="TextBox 7"/>
          <p:cNvSpPr txBox="1"/>
          <p:nvPr/>
        </p:nvSpPr>
        <p:spPr>
          <a:xfrm>
            <a:off x="649224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English</a:t>
            </a:r>
          </a:p>
        </p:txBody>
      </p:sp>
      <p:sp>
        <p:nvSpPr>
          <p:cNvPr id="9" name="TextBox 8"/>
          <p:cNvSpPr txBox="1"/>
          <p:nvPr/>
        </p:nvSpPr>
        <p:spPr>
          <a:xfrm>
            <a:off x="640080" y="1417320"/>
            <a:ext cx="5029200" cy="438912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峨眉山月半轮秋，影入平羌江水流。</a:t>
            </a:r>
          </a:p>
          <a:p>
            <a:pPr algn="l">
              <a:spcAft>
                <a:spcPts val="400"/>
              </a:spcAft>
            </a:pPr>
            <a:r>
              <a:rPr sz="1600" b="0" i="0">
                <a:solidFill>
                  <a:srgbClr val="1A1F2E"/>
                </a:solidFill>
                <a:latin typeface="Microsoft YaHei"/>
                <a:ea typeface="Microsoft YaHei"/>
              </a:rPr>
              <a:t>夜发清溪向三峡，思君不见下渝州。</a:t>
            </a:r>
          </a:p>
        </p:txBody>
      </p:sp>
      <p:sp>
        <p:nvSpPr>
          <p:cNvPr id="10" name="TextBox 9"/>
          <p:cNvSpPr txBox="1"/>
          <p:nvPr/>
        </p:nvSpPr>
        <p:spPr>
          <a:xfrm>
            <a:off x="6492240" y="1417320"/>
            <a:ext cx="5029200" cy="4389120"/>
          </a:xfrm>
          <a:prstGeom prst="rect">
            <a:avLst/>
          </a:prstGeom>
          <a:noFill/>
        </p:spPr>
        <p:txBody>
          <a:bodyPr wrap="square" anchor="t"/>
          <a:lstStyle/>
          <a:p>
            <a:pPr algn="l">
              <a:spcAft>
                <a:spcPts val="400"/>
              </a:spcAft>
            </a:pPr>
            <a:r>
              <a:rPr sz="1300" b="0" i="0">
                <a:solidFill>
                  <a:srgbClr val="2C3548"/>
                </a:solidFill>
                <a:latin typeface="Microsoft YaHei"/>
                <a:ea typeface="Microsoft YaHei"/>
              </a:rPr>
              <a:t>Half a wheel of autumn moon hangs over Mount Emei;</a:t>
            </a:r>
          </a:p>
          <a:p>
            <a:pPr algn="l">
              <a:spcAft>
                <a:spcPts val="400"/>
              </a:spcAft>
            </a:pPr>
            <a:r>
              <a:rPr sz="1300" b="0" i="0">
                <a:solidFill>
                  <a:srgbClr val="2C3548"/>
                </a:solidFill>
                <a:latin typeface="Microsoft YaHei"/>
                <a:ea typeface="Microsoft YaHei"/>
              </a:rPr>
              <a:t>Its reflection drifts with the Pingqiang River’s flow.</a:t>
            </a:r>
          </a:p>
          <a:p>
            <a:pPr algn="l">
              <a:spcAft>
                <a:spcPts val="400"/>
              </a:spcAft>
            </a:pPr>
            <a:r>
              <a:rPr sz="1300" b="0" i="0">
                <a:solidFill>
                  <a:srgbClr val="2C3548"/>
                </a:solidFill>
                <a:latin typeface="Microsoft YaHei"/>
                <a:ea typeface="Microsoft YaHei"/>
              </a:rPr>
              <a:t>At night I leave Clear Stream, bound for the Three Gorges;</a:t>
            </a:r>
          </a:p>
          <a:p>
            <a:pPr algn="l">
              <a:spcAft>
                <a:spcPts val="400"/>
              </a:spcAft>
            </a:pPr>
            <a:r>
              <a:rPr sz="1300" b="0" i="0">
                <a:solidFill>
                  <a:srgbClr val="2C3548"/>
                </a:solidFill>
                <a:latin typeface="Microsoft YaHei"/>
                <a:ea typeface="Microsoft YaHei"/>
              </a:rPr>
              <a:t>Missing you, unseen, I sail down toward Yuzhou.</a:t>
            </a:r>
          </a:p>
        </p:txBody>
      </p:sp>
      <p:sp>
        <p:nvSpPr>
          <p:cNvPr id="11" name="TextBox 10"/>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峨眉山月歌  |  9/83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《峨眉山月歌》 · 创作背景 Context</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此诗作于李白青年出蜀、顺江东下途中。开元十三年左右，二十五岁左右的李白告别家乡蜀地，自峨眉一带启程，经清溪、渝州，指向三峡。诗中地名连贯：峨眉山—平羌江—清溪—三峡—渝州，勾勒出一段真实的水路行程，是其早期山水羁旅诗的代表。</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Written around 725, when young Li Bai left Shu (Sichuan) and traveled east by river. Place names form a continuous itinerary: Mount Emei, the Pingqiang River, Clear Stream, the Three Gorges, and Yuzhou—an early landmark of his travel poetry.</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峨眉山月歌  |  10/83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《峨眉山月歌》 · 诗文意义 Meaning</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以秋月为情感枢纽：月照故乡，影随江水，人却渐行渐远。“思君不见”一句，既可解为思念友人，亦可解为对峨眉山月（故乡象征）的依恋。短短四句，空间不断下移，乡情却愈加浓厚，体现李白早期“景中含情、地名入诗”的清丽风格。</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The autumn moon anchors homesickness: light stays on the homeland while the poet drifts away. “Missing you, unseen” may address a friend or the moon itself as a symbol of home. Brief lines move steadily downstream as longing deepens.</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峨眉山月歌  |  11/83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144000" cy="365760"/>
          </a:xfrm>
          <a:prstGeom prst="rect">
            <a:avLst/>
          </a:prstGeom>
          <a:noFill/>
        </p:spPr>
        <p:txBody>
          <a:bodyPr wrap="square" anchor="t"/>
          <a:lstStyle/>
          <a:p>
            <a:pPr algn="l">
              <a:spcAft>
                <a:spcPts val="400"/>
              </a:spcAft>
            </a:pPr>
            <a:r>
              <a:rPr sz="1600" b="1" i="0">
                <a:solidFill>
                  <a:srgbClr val="A67C52"/>
                </a:solidFill>
                <a:latin typeface="Microsoft YaHei"/>
                <a:ea typeface="Microsoft YaHei"/>
              </a:rPr>
              <a:t>第 2 篇  /  Poem 2</a:t>
            </a:r>
          </a:p>
        </p:txBody>
      </p:sp>
      <p:sp>
        <p:nvSpPr>
          <p:cNvPr id="5" name="TextBox 4"/>
          <p:cNvSpPr txBox="1"/>
          <p:nvPr/>
        </p:nvSpPr>
        <p:spPr>
          <a:xfrm>
            <a:off x="1097280" y="2377440"/>
            <a:ext cx="10058400" cy="822960"/>
          </a:xfrm>
          <a:prstGeom prst="rect">
            <a:avLst/>
          </a:prstGeom>
          <a:noFill/>
        </p:spPr>
        <p:txBody>
          <a:bodyPr wrap="square" anchor="t"/>
          <a:lstStyle/>
          <a:p>
            <a:pPr algn="l">
              <a:spcAft>
                <a:spcPts val="400"/>
              </a:spcAft>
            </a:pPr>
            <a:r>
              <a:rPr sz="4000" b="1" i="0">
                <a:solidFill>
                  <a:srgbClr val="FFFFFF"/>
                </a:solidFill>
                <a:latin typeface="Microsoft YaHei"/>
                <a:ea typeface="Microsoft YaHei"/>
              </a:rPr>
              <a:t>《渡荆门送别》</a:t>
            </a:r>
          </a:p>
        </p:txBody>
      </p:sp>
      <p:sp>
        <p:nvSpPr>
          <p:cNvPr id="6" name="TextBox 5"/>
          <p:cNvSpPr txBox="1"/>
          <p:nvPr/>
        </p:nvSpPr>
        <p:spPr>
          <a:xfrm>
            <a:off x="1097280" y="3291840"/>
            <a:ext cx="10058400" cy="457200"/>
          </a:xfrm>
          <a:prstGeom prst="rect">
            <a:avLst/>
          </a:prstGeom>
          <a:noFill/>
        </p:spPr>
        <p:txBody>
          <a:bodyPr wrap="square" anchor="t"/>
          <a:lstStyle/>
          <a:p>
            <a:pPr algn="l">
              <a:spcAft>
                <a:spcPts val="400"/>
              </a:spcAft>
            </a:pPr>
            <a:r>
              <a:rPr sz="2000" b="0" i="1">
                <a:solidFill>
                  <a:srgbClr val="E8E0D0"/>
                </a:solidFill>
                <a:latin typeface="Microsoft YaHei"/>
                <a:ea typeface="Microsoft YaHei"/>
              </a:rPr>
              <a:t>Crossing Jingmen: A Farewell</a:t>
            </a:r>
          </a:p>
        </p:txBody>
      </p:sp>
      <p:sp>
        <p:nvSpPr>
          <p:cNvPr id="7" name="Rectangle 6"/>
          <p:cNvSpPr/>
          <p:nvPr/>
        </p:nvSpPr>
        <p:spPr>
          <a:xfrm>
            <a:off x="1097280" y="3931920"/>
            <a:ext cx="2011680" cy="54864"/>
          </a:xfrm>
          <a:prstGeom prst="rect">
            <a:avLst/>
          </a:prstGeom>
          <a:solidFill>
            <a:srgbClr val="2A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731520"/>
          </a:xfrm>
          <a:prstGeom prst="rect">
            <a:avLst/>
          </a:prstGeom>
          <a:noFill/>
        </p:spPr>
        <p:txBody>
          <a:bodyPr wrap="square" anchor="t"/>
          <a:lstStyle/>
          <a:p>
            <a:pPr algn="l">
              <a:spcAft>
                <a:spcPts val="400"/>
              </a:spcAft>
            </a:pPr>
            <a:r>
              <a:rPr sz="1400" b="0" i="0">
                <a:solidFill>
                  <a:srgbClr val="F7F3EB"/>
                </a:solidFill>
                <a:latin typeface="Microsoft YaHei"/>
                <a:ea typeface="Microsoft YaHei"/>
              </a:rPr>
              <a:t>五言律诗 / Five-character regulated verse</a:t>
            </a:r>
          </a:p>
          <a:p>
            <a:pPr algn="l">
              <a:spcAft>
                <a:spcPts val="400"/>
              </a:spcAft>
            </a:pPr>
            <a:r>
              <a:rPr sz="1400" b="0" i="0">
                <a:solidFill>
                  <a:srgbClr val="F7F3EB"/>
                </a:solidFill>
                <a:latin typeface="Microsoft YaHei"/>
                <a:ea typeface="Microsoft YaHei"/>
              </a:rPr>
              <a:t>开元十四年（约726年） · 出蜀途经荆门</a:t>
            </a:r>
          </a:p>
          <a:p>
            <a:pPr algn="l">
              <a:spcAft>
                <a:spcPts val="400"/>
              </a:spcAft>
            </a:pPr>
            <a:r>
              <a:rPr sz="1400" b="0" i="0">
                <a:solidFill>
                  <a:srgbClr val="F7F3EB"/>
                </a:solidFill>
                <a:latin typeface="Microsoft YaHei"/>
                <a:ea typeface="Microsoft YaHei"/>
              </a:rPr>
              <a:t>关键词 Keywords：壮游 · 江汉 · 乡恋 · 境界</a:t>
            </a:r>
          </a:p>
        </p:txBody>
      </p:sp>
      <p:sp>
        <p:nvSpPr>
          <p:cNvPr id="9" name="TextBox 8"/>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渡荆门送别  |  12/83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《渡荆门送别》 · 原文 Original Chinese</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800" b="0" i="0">
                <a:solidFill>
                  <a:srgbClr val="1A1F2E"/>
                </a:solidFill>
                <a:latin typeface="Microsoft YaHei"/>
                <a:ea typeface="Microsoft YaHei"/>
              </a:rPr>
              <a:t>渡远荆门外，来从楚国游。</a:t>
            </a:r>
          </a:p>
          <a:p>
            <a:pPr algn="l">
              <a:spcAft>
                <a:spcPts val="400"/>
              </a:spcAft>
            </a:pPr>
            <a:r>
              <a:rPr sz="1800" b="0" i="0">
                <a:solidFill>
                  <a:srgbClr val="1A1F2E"/>
                </a:solidFill>
                <a:latin typeface="Microsoft YaHei"/>
                <a:ea typeface="Microsoft YaHei"/>
              </a:rPr>
              <a:t>山随平野尽，江入大荒流。</a:t>
            </a:r>
          </a:p>
          <a:p>
            <a:pPr algn="l">
              <a:spcAft>
                <a:spcPts val="400"/>
              </a:spcAft>
            </a:pPr>
            <a:r>
              <a:rPr sz="1800" b="0" i="0">
                <a:solidFill>
                  <a:srgbClr val="1A1F2E"/>
                </a:solidFill>
                <a:latin typeface="Microsoft YaHei"/>
                <a:ea typeface="Microsoft YaHei"/>
              </a:rPr>
              <a:t>月下飞天镜，云生结海楼。</a:t>
            </a:r>
          </a:p>
          <a:p>
            <a:pPr algn="l">
              <a:spcAft>
                <a:spcPts val="400"/>
              </a:spcAft>
            </a:pPr>
            <a:r>
              <a:rPr sz="1800" b="0" i="0">
                <a:solidFill>
                  <a:srgbClr val="1A1F2E"/>
                </a:solidFill>
                <a:latin typeface="Microsoft YaHei"/>
                <a:ea typeface="Microsoft YaHei"/>
              </a:rPr>
              <a:t>仍怜故乡水，万里送行舟。</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渡荆门送别  |  13/83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Crossing Jingmen: A Farewell · 英译 English Translation</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600" b="0" i="0">
                <a:solidFill>
                  <a:srgbClr val="2C3548"/>
                </a:solidFill>
                <a:latin typeface="Microsoft YaHei"/>
                <a:ea typeface="Microsoft YaHei"/>
              </a:rPr>
              <a:t>Crossing far beyond Jingmen Gate,</a:t>
            </a:r>
          </a:p>
          <a:p>
            <a:pPr algn="l">
              <a:spcAft>
                <a:spcPts val="400"/>
              </a:spcAft>
            </a:pPr>
            <a:r>
              <a:rPr sz="1600" b="0" i="0">
                <a:solidFill>
                  <a:srgbClr val="2C3548"/>
                </a:solidFill>
                <a:latin typeface="Microsoft YaHei"/>
                <a:ea typeface="Microsoft YaHei"/>
              </a:rPr>
              <a:t>I come to roam the land of Chu.</a:t>
            </a:r>
          </a:p>
          <a:p>
            <a:pPr algn="l">
              <a:spcAft>
                <a:spcPts val="400"/>
              </a:spcAft>
            </a:pPr>
            <a:r>
              <a:rPr sz="1600" b="0" i="0">
                <a:solidFill>
                  <a:srgbClr val="2C3548"/>
                </a:solidFill>
                <a:latin typeface="Microsoft YaHei"/>
                <a:ea typeface="Microsoft YaHei"/>
              </a:rPr>
              <a:t>Mountains yield to open plain;</a:t>
            </a:r>
          </a:p>
          <a:p>
            <a:pPr algn="l">
              <a:spcAft>
                <a:spcPts val="400"/>
              </a:spcAft>
            </a:pPr>
            <a:r>
              <a:rPr sz="1600" b="0" i="0">
                <a:solidFill>
                  <a:srgbClr val="2C3548"/>
                </a:solidFill>
                <a:latin typeface="Microsoft YaHei"/>
                <a:ea typeface="Microsoft YaHei"/>
              </a:rPr>
              <a:t>The river pours into the vast wilds.</a:t>
            </a:r>
          </a:p>
          <a:p>
            <a:pPr algn="l">
              <a:spcAft>
                <a:spcPts val="400"/>
              </a:spcAft>
            </a:pPr>
            <a:r>
              <a:rPr sz="1600" b="0" i="0">
                <a:solidFill>
                  <a:srgbClr val="2C3548"/>
                </a:solidFill>
                <a:latin typeface="Microsoft YaHei"/>
                <a:ea typeface="Microsoft YaHei"/>
              </a:rPr>
              <a:t>Beneath the moon, a flying sky-mirror;</a:t>
            </a:r>
          </a:p>
          <a:p>
            <a:pPr algn="l">
              <a:spcAft>
                <a:spcPts val="400"/>
              </a:spcAft>
            </a:pPr>
            <a:r>
              <a:rPr sz="1600" b="0" i="0">
                <a:solidFill>
                  <a:srgbClr val="2C3548"/>
                </a:solidFill>
                <a:latin typeface="Microsoft YaHei"/>
                <a:ea typeface="Microsoft YaHei"/>
              </a:rPr>
              <a:t>Clouds rise and build mirage towers.</a:t>
            </a:r>
          </a:p>
          <a:p>
            <a:pPr algn="l">
              <a:spcAft>
                <a:spcPts val="400"/>
              </a:spcAft>
            </a:pPr>
            <a:r>
              <a:rPr sz="1600" b="0" i="0">
                <a:solidFill>
                  <a:srgbClr val="2C3548"/>
                </a:solidFill>
                <a:latin typeface="Microsoft YaHei"/>
                <a:ea typeface="Microsoft YaHei"/>
              </a:rPr>
              <a:t>Still I love my homeland’s waters—</a:t>
            </a:r>
          </a:p>
          <a:p>
            <a:pPr algn="l">
              <a:spcAft>
                <a:spcPts val="400"/>
              </a:spcAft>
            </a:pPr>
            <a:r>
              <a:rPr sz="1600" b="0" i="0">
                <a:solidFill>
                  <a:srgbClr val="2C3548"/>
                </a:solidFill>
                <a:latin typeface="Microsoft YaHei"/>
                <a:ea typeface="Microsoft YaHei"/>
              </a:rPr>
              <a:t>They escort my boat for a thousand miles.</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渡荆门送别  |  14/83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《渡荆门送别》 · 中英对照 Bilingual</a:t>
            </a:r>
          </a:p>
        </p:txBody>
      </p:sp>
      <p:sp>
        <p:nvSpPr>
          <p:cNvPr id="5" name="Rectangle 4"/>
          <p:cNvSpPr/>
          <p:nvPr/>
        </p:nvSpPr>
        <p:spPr>
          <a:xfrm>
            <a:off x="457200" y="914400"/>
            <a:ext cx="5394960" cy="502920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09360" y="914400"/>
            <a:ext cx="5394960" cy="5029200"/>
          </a:xfrm>
          <a:prstGeom prst="rect">
            <a:avLst/>
          </a:prstGeom>
          <a:solidFill>
            <a:srgbClr val="EE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中文</a:t>
            </a:r>
          </a:p>
        </p:txBody>
      </p:sp>
      <p:sp>
        <p:nvSpPr>
          <p:cNvPr id="8" name="TextBox 7"/>
          <p:cNvSpPr txBox="1"/>
          <p:nvPr/>
        </p:nvSpPr>
        <p:spPr>
          <a:xfrm>
            <a:off x="649224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English</a:t>
            </a:r>
          </a:p>
        </p:txBody>
      </p:sp>
      <p:sp>
        <p:nvSpPr>
          <p:cNvPr id="9" name="TextBox 8"/>
          <p:cNvSpPr txBox="1"/>
          <p:nvPr/>
        </p:nvSpPr>
        <p:spPr>
          <a:xfrm>
            <a:off x="640080" y="1417320"/>
            <a:ext cx="5029200" cy="438912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渡远荆门外，来从楚国游。</a:t>
            </a:r>
          </a:p>
          <a:p>
            <a:pPr algn="l">
              <a:spcAft>
                <a:spcPts val="400"/>
              </a:spcAft>
            </a:pPr>
            <a:r>
              <a:rPr sz="1600" b="0" i="0">
                <a:solidFill>
                  <a:srgbClr val="1A1F2E"/>
                </a:solidFill>
                <a:latin typeface="Microsoft YaHei"/>
                <a:ea typeface="Microsoft YaHei"/>
              </a:rPr>
              <a:t>山随平野尽，江入大荒流。</a:t>
            </a:r>
          </a:p>
          <a:p>
            <a:pPr algn="l">
              <a:spcAft>
                <a:spcPts val="400"/>
              </a:spcAft>
            </a:pPr>
            <a:r>
              <a:rPr sz="1600" b="0" i="0">
                <a:solidFill>
                  <a:srgbClr val="1A1F2E"/>
                </a:solidFill>
                <a:latin typeface="Microsoft YaHei"/>
                <a:ea typeface="Microsoft YaHei"/>
              </a:rPr>
              <a:t>月下飞天镜，云生结海楼。</a:t>
            </a:r>
          </a:p>
          <a:p>
            <a:pPr algn="l">
              <a:spcAft>
                <a:spcPts val="400"/>
              </a:spcAft>
            </a:pPr>
            <a:r>
              <a:rPr sz="1600" b="0" i="0">
                <a:solidFill>
                  <a:srgbClr val="1A1F2E"/>
                </a:solidFill>
                <a:latin typeface="Microsoft YaHei"/>
                <a:ea typeface="Microsoft YaHei"/>
              </a:rPr>
              <a:t>仍怜故乡水，万里送行舟。</a:t>
            </a:r>
          </a:p>
        </p:txBody>
      </p:sp>
      <p:sp>
        <p:nvSpPr>
          <p:cNvPr id="10" name="TextBox 9"/>
          <p:cNvSpPr txBox="1"/>
          <p:nvPr/>
        </p:nvSpPr>
        <p:spPr>
          <a:xfrm>
            <a:off x="6492240" y="1417320"/>
            <a:ext cx="5029200" cy="4389120"/>
          </a:xfrm>
          <a:prstGeom prst="rect">
            <a:avLst/>
          </a:prstGeom>
          <a:noFill/>
        </p:spPr>
        <p:txBody>
          <a:bodyPr wrap="square" anchor="t"/>
          <a:lstStyle/>
          <a:p>
            <a:pPr algn="l">
              <a:spcAft>
                <a:spcPts val="400"/>
              </a:spcAft>
            </a:pPr>
            <a:r>
              <a:rPr sz="1300" b="0" i="0">
                <a:solidFill>
                  <a:srgbClr val="2C3548"/>
                </a:solidFill>
                <a:latin typeface="Microsoft YaHei"/>
                <a:ea typeface="Microsoft YaHei"/>
              </a:rPr>
              <a:t>Crossing far beyond Jingmen Gate,</a:t>
            </a:r>
          </a:p>
          <a:p>
            <a:pPr algn="l">
              <a:spcAft>
                <a:spcPts val="400"/>
              </a:spcAft>
            </a:pPr>
            <a:r>
              <a:rPr sz="1300" b="0" i="0">
                <a:solidFill>
                  <a:srgbClr val="2C3548"/>
                </a:solidFill>
                <a:latin typeface="Microsoft YaHei"/>
                <a:ea typeface="Microsoft YaHei"/>
              </a:rPr>
              <a:t>I come to roam the land of Chu.</a:t>
            </a:r>
          </a:p>
          <a:p>
            <a:pPr algn="l">
              <a:spcAft>
                <a:spcPts val="400"/>
              </a:spcAft>
            </a:pPr>
            <a:r>
              <a:rPr sz="1300" b="0" i="0">
                <a:solidFill>
                  <a:srgbClr val="2C3548"/>
                </a:solidFill>
                <a:latin typeface="Microsoft YaHei"/>
                <a:ea typeface="Microsoft YaHei"/>
              </a:rPr>
              <a:t>Mountains yield to open plain;</a:t>
            </a:r>
          </a:p>
          <a:p>
            <a:pPr algn="l">
              <a:spcAft>
                <a:spcPts val="400"/>
              </a:spcAft>
            </a:pPr>
            <a:r>
              <a:rPr sz="1300" b="0" i="0">
                <a:solidFill>
                  <a:srgbClr val="2C3548"/>
                </a:solidFill>
                <a:latin typeface="Microsoft YaHei"/>
                <a:ea typeface="Microsoft YaHei"/>
              </a:rPr>
              <a:t>The river pours into the vast wilds.</a:t>
            </a:r>
          </a:p>
          <a:p>
            <a:pPr algn="l">
              <a:spcAft>
                <a:spcPts val="400"/>
              </a:spcAft>
            </a:pPr>
            <a:r>
              <a:rPr sz="1300" b="0" i="0">
                <a:solidFill>
                  <a:srgbClr val="2C3548"/>
                </a:solidFill>
                <a:latin typeface="Microsoft YaHei"/>
                <a:ea typeface="Microsoft YaHei"/>
              </a:rPr>
              <a:t>Beneath the moon, a flying sky-mirror;</a:t>
            </a:r>
          </a:p>
          <a:p>
            <a:pPr algn="l">
              <a:spcAft>
                <a:spcPts val="400"/>
              </a:spcAft>
            </a:pPr>
            <a:r>
              <a:rPr sz="1300" b="0" i="0">
                <a:solidFill>
                  <a:srgbClr val="2C3548"/>
                </a:solidFill>
                <a:latin typeface="Microsoft YaHei"/>
                <a:ea typeface="Microsoft YaHei"/>
              </a:rPr>
              <a:t>Clouds rise and build mirage towers.</a:t>
            </a:r>
          </a:p>
          <a:p>
            <a:pPr algn="l">
              <a:spcAft>
                <a:spcPts val="400"/>
              </a:spcAft>
            </a:pPr>
            <a:r>
              <a:rPr sz="1300" b="0" i="0">
                <a:solidFill>
                  <a:srgbClr val="2C3548"/>
                </a:solidFill>
                <a:latin typeface="Microsoft YaHei"/>
                <a:ea typeface="Microsoft YaHei"/>
              </a:rPr>
              <a:t>Still I love my homeland’s waters—</a:t>
            </a:r>
          </a:p>
          <a:p>
            <a:pPr algn="l">
              <a:spcAft>
                <a:spcPts val="400"/>
              </a:spcAft>
            </a:pPr>
            <a:r>
              <a:rPr sz="1300" b="0" i="0">
                <a:solidFill>
                  <a:srgbClr val="2C3548"/>
                </a:solidFill>
                <a:latin typeface="Microsoft YaHei"/>
                <a:ea typeface="Microsoft YaHei"/>
              </a:rPr>
              <a:t>They escort my boat for a thousand miles.</a:t>
            </a:r>
          </a:p>
        </p:txBody>
      </p:sp>
      <p:sp>
        <p:nvSpPr>
          <p:cNvPr id="11" name="TextBox 10"/>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渡荆门送别  |  15/83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《渡荆门送别》 · 创作背景 Context</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李白出蜀后继续东行，渡过荆门进入楚地。荆门山位于今湖北宜都附近，是长江出蜀入楚的地理标志。此诗既是告别故乡山水，也是面向广阔世界的自我宣言。颔联“山随平野尽，江入大荒流”历来被推为写江汉开阔气势的名句。</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After leaving Shu, Li Bai crossed Jingmen into Chu (Hubei). Jingmen marks the Yangtze’s exit from the Sichuan basin. The couplet on mountains ending in plains and the river entering the wilderness is among his most celebrated landscape lines.</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渡荆门送别  |  16/83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《渡荆门送别》 · 诗文意义 Meaning</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前半写空间豁然开朗：山尽原出，江入大荒，象征诗人视野与人生境界的拓展；后半以月、云的奇幻景象烘托壮游兴致，收束却又回落到“故乡水万里送行舟”，豪迈中不失温柔。全诗在“远游”与“乡恋”之间取得精妙平衡。</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The first half opens space—plains and wilderness—as a figure for expanding vision. Moon and clouds heighten the thrill of travel; the close returns to homeland waters escorting the boat, balancing grandeur with affection.</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渡荆门送别  |  17/83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144000" cy="365760"/>
          </a:xfrm>
          <a:prstGeom prst="rect">
            <a:avLst/>
          </a:prstGeom>
          <a:noFill/>
        </p:spPr>
        <p:txBody>
          <a:bodyPr wrap="square" anchor="t"/>
          <a:lstStyle/>
          <a:p>
            <a:pPr algn="l">
              <a:spcAft>
                <a:spcPts val="400"/>
              </a:spcAft>
            </a:pPr>
            <a:r>
              <a:rPr sz="1600" b="1" i="0">
                <a:solidFill>
                  <a:srgbClr val="A67C52"/>
                </a:solidFill>
                <a:latin typeface="Microsoft YaHei"/>
                <a:ea typeface="Microsoft YaHei"/>
              </a:rPr>
              <a:t>第 3 篇  /  Poem 3</a:t>
            </a:r>
          </a:p>
        </p:txBody>
      </p:sp>
      <p:sp>
        <p:nvSpPr>
          <p:cNvPr id="5" name="TextBox 4"/>
          <p:cNvSpPr txBox="1"/>
          <p:nvPr/>
        </p:nvSpPr>
        <p:spPr>
          <a:xfrm>
            <a:off x="1097280" y="2377440"/>
            <a:ext cx="10058400" cy="822960"/>
          </a:xfrm>
          <a:prstGeom prst="rect">
            <a:avLst/>
          </a:prstGeom>
          <a:noFill/>
        </p:spPr>
        <p:txBody>
          <a:bodyPr wrap="square" anchor="t"/>
          <a:lstStyle/>
          <a:p>
            <a:pPr algn="l">
              <a:spcAft>
                <a:spcPts val="400"/>
              </a:spcAft>
            </a:pPr>
            <a:r>
              <a:rPr sz="4000" b="1" i="0">
                <a:solidFill>
                  <a:srgbClr val="FFFFFF"/>
                </a:solidFill>
                <a:latin typeface="Microsoft YaHei"/>
                <a:ea typeface="Microsoft YaHei"/>
              </a:rPr>
              <a:t>《长干行》</a:t>
            </a:r>
          </a:p>
        </p:txBody>
      </p:sp>
      <p:sp>
        <p:nvSpPr>
          <p:cNvPr id="6" name="TextBox 5"/>
          <p:cNvSpPr txBox="1"/>
          <p:nvPr/>
        </p:nvSpPr>
        <p:spPr>
          <a:xfrm>
            <a:off x="1097280" y="3291840"/>
            <a:ext cx="10058400" cy="457200"/>
          </a:xfrm>
          <a:prstGeom prst="rect">
            <a:avLst/>
          </a:prstGeom>
          <a:noFill/>
        </p:spPr>
        <p:txBody>
          <a:bodyPr wrap="square" anchor="t"/>
          <a:lstStyle/>
          <a:p>
            <a:pPr algn="l">
              <a:spcAft>
                <a:spcPts val="400"/>
              </a:spcAft>
            </a:pPr>
            <a:r>
              <a:rPr sz="2000" b="0" i="1">
                <a:solidFill>
                  <a:srgbClr val="E8E0D0"/>
                </a:solidFill>
                <a:latin typeface="Microsoft YaHei"/>
                <a:ea typeface="Microsoft YaHei"/>
              </a:rPr>
              <a:t>Ballad of Changgan (The Merchant’s Wife)</a:t>
            </a:r>
          </a:p>
        </p:txBody>
      </p:sp>
      <p:sp>
        <p:nvSpPr>
          <p:cNvPr id="7" name="Rectangle 6"/>
          <p:cNvSpPr/>
          <p:nvPr/>
        </p:nvSpPr>
        <p:spPr>
          <a:xfrm>
            <a:off x="1097280" y="3931920"/>
            <a:ext cx="2011680" cy="54864"/>
          </a:xfrm>
          <a:prstGeom prst="rect">
            <a:avLst/>
          </a:prstGeom>
          <a:solidFill>
            <a:srgbClr val="2A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731520"/>
          </a:xfrm>
          <a:prstGeom prst="rect">
            <a:avLst/>
          </a:prstGeom>
          <a:noFill/>
        </p:spPr>
        <p:txBody>
          <a:bodyPr wrap="square" anchor="t"/>
          <a:lstStyle/>
          <a:p>
            <a:pPr algn="l">
              <a:spcAft>
                <a:spcPts val="400"/>
              </a:spcAft>
            </a:pPr>
            <a:r>
              <a:rPr sz="1400" b="0" i="0">
                <a:solidFill>
                  <a:srgbClr val="F7F3EB"/>
                </a:solidFill>
                <a:latin typeface="Microsoft YaHei"/>
                <a:ea typeface="Microsoft YaHei"/>
              </a:rPr>
              <a:t>乐府歌行 / Yuefu narrative song</a:t>
            </a:r>
          </a:p>
          <a:p>
            <a:pPr algn="l">
              <a:spcAft>
                <a:spcPts val="400"/>
              </a:spcAft>
            </a:pPr>
            <a:r>
              <a:rPr sz="1400" b="0" i="0">
                <a:solidFill>
                  <a:srgbClr val="F7F3EB"/>
                </a:solidFill>
                <a:latin typeface="Microsoft YaHei"/>
                <a:ea typeface="Microsoft YaHei"/>
              </a:rPr>
              <a:t>约开元末至天宝初 · 寓居金陵一带时作</a:t>
            </a:r>
          </a:p>
          <a:p>
            <a:pPr algn="l">
              <a:spcAft>
                <a:spcPts val="400"/>
              </a:spcAft>
            </a:pPr>
            <a:r>
              <a:rPr sz="1400" b="0" i="0">
                <a:solidFill>
                  <a:srgbClr val="F7F3EB"/>
                </a:solidFill>
                <a:latin typeface="Microsoft YaHei"/>
                <a:ea typeface="Microsoft YaHei"/>
              </a:rPr>
              <a:t>关键词 Keywords：青梅竹马 · 商妇 · 相思 · 乐府</a:t>
            </a:r>
          </a:p>
        </p:txBody>
      </p:sp>
      <p:sp>
        <p:nvSpPr>
          <p:cNvPr id="9" name="TextBox 8"/>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长干行  |  18/83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《长干行》 · 原文 Original Chinese</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妾发初覆额，折花门前剧。</a:t>
            </a:r>
          </a:p>
          <a:p>
            <a:pPr algn="l">
              <a:spcAft>
                <a:spcPts val="400"/>
              </a:spcAft>
            </a:pPr>
            <a:r>
              <a:rPr sz="1500" b="0" i="0">
                <a:solidFill>
                  <a:srgbClr val="1A1F2E"/>
                </a:solidFill>
                <a:latin typeface="Microsoft YaHei"/>
                <a:ea typeface="Microsoft YaHei"/>
              </a:rPr>
              <a:t>郎骑竹马来，绕床弄青梅。</a:t>
            </a:r>
          </a:p>
          <a:p>
            <a:pPr algn="l">
              <a:spcAft>
                <a:spcPts val="400"/>
              </a:spcAft>
            </a:pPr>
            <a:r>
              <a:rPr sz="1500" b="0" i="0">
                <a:solidFill>
                  <a:srgbClr val="1A1F2E"/>
                </a:solidFill>
                <a:latin typeface="Microsoft YaHei"/>
                <a:ea typeface="Microsoft YaHei"/>
              </a:rPr>
              <a:t>同居长干里，两小无嫌猜。</a:t>
            </a:r>
          </a:p>
          <a:p>
            <a:pPr algn="l">
              <a:spcAft>
                <a:spcPts val="400"/>
              </a:spcAft>
            </a:pPr>
            <a:r>
              <a:rPr sz="1500" b="0" i="0">
                <a:solidFill>
                  <a:srgbClr val="1A1F2E"/>
                </a:solidFill>
                <a:latin typeface="Microsoft YaHei"/>
                <a:ea typeface="Microsoft YaHei"/>
              </a:rPr>
              <a:t>十四为君妇，羞颜未尝开。</a:t>
            </a:r>
          </a:p>
          <a:p>
            <a:pPr algn="l">
              <a:spcAft>
                <a:spcPts val="400"/>
              </a:spcAft>
            </a:pPr>
            <a:r>
              <a:rPr sz="1500" b="0" i="0">
                <a:solidFill>
                  <a:srgbClr val="1A1F2E"/>
                </a:solidFill>
                <a:latin typeface="Microsoft YaHei"/>
                <a:ea typeface="Microsoft YaHei"/>
              </a:rPr>
              <a:t>十五始展眉，愿同尘与灰。</a:t>
            </a:r>
          </a:p>
          <a:p>
            <a:pPr algn="l">
              <a:spcAft>
                <a:spcPts val="400"/>
              </a:spcAft>
            </a:pPr>
            <a:r>
              <a:rPr sz="1500" b="0" i="0">
                <a:solidFill>
                  <a:srgbClr val="1A1F2E"/>
                </a:solidFill>
                <a:latin typeface="Microsoft YaHei"/>
                <a:ea typeface="Microsoft YaHei"/>
              </a:rPr>
              <a:t>十六君远行，瞿塘滟滪堆。</a:t>
            </a:r>
          </a:p>
          <a:p>
            <a:pPr algn="l">
              <a:spcAft>
                <a:spcPts val="400"/>
              </a:spcAft>
            </a:pPr>
            <a:r>
              <a:rPr sz="1500" b="0" i="0">
                <a:solidFill>
                  <a:srgbClr val="1A1F2E"/>
                </a:solidFill>
                <a:latin typeface="Microsoft YaHei"/>
                <a:ea typeface="Microsoft YaHei"/>
              </a:rPr>
              <a:t>五月不可触，猿声天上哀。</a:t>
            </a:r>
          </a:p>
          <a:p>
            <a:pPr algn="l">
              <a:spcAft>
                <a:spcPts val="400"/>
              </a:spcAft>
            </a:pPr>
            <a:r>
              <a:rPr sz="1500" b="0" i="0">
                <a:solidFill>
                  <a:srgbClr val="1A1F2E"/>
                </a:solidFill>
                <a:latin typeface="Microsoft YaHei"/>
                <a:ea typeface="Microsoft YaHei"/>
              </a:rPr>
              <a:t>门前迟行迹，一一生绿苔。</a:t>
            </a:r>
          </a:p>
          <a:p>
            <a:pPr algn="l">
              <a:spcAft>
                <a:spcPts val="400"/>
              </a:spcAft>
            </a:pPr>
            <a:r>
              <a:rPr sz="1500" b="0" i="0">
                <a:solidFill>
                  <a:srgbClr val="1A1F2E"/>
                </a:solidFill>
                <a:latin typeface="Microsoft YaHei"/>
                <a:ea typeface="Microsoft YaHei"/>
              </a:rPr>
              <a:t>苔深不能扫，落叶秋风早。</a:t>
            </a:r>
          </a:p>
          <a:p>
            <a:pPr algn="l">
              <a:spcAft>
                <a:spcPts val="400"/>
              </a:spcAft>
            </a:pPr>
            <a:r>
              <a:rPr sz="1500" b="0" i="0">
                <a:solidFill>
                  <a:srgbClr val="1A1F2E"/>
                </a:solidFill>
                <a:latin typeface="Microsoft YaHei"/>
                <a:ea typeface="Microsoft YaHei"/>
              </a:rPr>
              <a:t>八月蝴蝶黄，双飞西园草。</a:t>
            </a:r>
          </a:p>
          <a:p>
            <a:pPr algn="l">
              <a:spcAft>
                <a:spcPts val="400"/>
              </a:spcAft>
            </a:pPr>
            <a:r>
              <a:rPr sz="1500" b="0" i="0">
                <a:solidFill>
                  <a:srgbClr val="1A1F2E"/>
                </a:solidFill>
                <a:latin typeface="Microsoft YaHei"/>
                <a:ea typeface="Microsoft YaHei"/>
              </a:rPr>
              <a:t>感此伤妾心，坐愁红颜老。</a:t>
            </a:r>
          </a:p>
          <a:p>
            <a:pPr algn="l">
              <a:spcAft>
                <a:spcPts val="400"/>
              </a:spcAft>
            </a:pPr>
            <a:r>
              <a:rPr sz="1500" b="0" i="0">
                <a:solidFill>
                  <a:srgbClr val="1A1F2E"/>
                </a:solidFill>
                <a:latin typeface="Microsoft YaHei"/>
                <a:ea typeface="Microsoft YaHei"/>
              </a:rPr>
              <a:t>早晚下三巴，预将书报家。</a:t>
            </a:r>
          </a:p>
          <a:p>
            <a:pPr algn="l">
              <a:spcAft>
                <a:spcPts val="400"/>
              </a:spcAft>
            </a:pPr>
            <a:r>
              <a:rPr sz="1500" b="0" i="0">
                <a:solidFill>
                  <a:srgbClr val="1A1F2E"/>
                </a:solidFill>
                <a:latin typeface="Microsoft YaHei"/>
                <a:ea typeface="Microsoft YaHei"/>
              </a:rPr>
              <a:t>相迎不道远，直至长风沙。</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长干行  |  19/83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Ballad of Changgan (The Merchant’s Wife) · 英译 English Translation</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200" b="0" i="0">
                <a:solidFill>
                  <a:srgbClr val="2C3548"/>
                </a:solidFill>
                <a:latin typeface="Microsoft YaHei"/>
                <a:ea typeface="Microsoft YaHei"/>
              </a:rPr>
              <a:t>When my hair first covered my forehead,</a:t>
            </a:r>
          </a:p>
          <a:p>
            <a:pPr algn="l">
              <a:spcAft>
                <a:spcPts val="400"/>
              </a:spcAft>
            </a:pPr>
            <a:r>
              <a:rPr sz="1200" b="0" i="0">
                <a:solidFill>
                  <a:srgbClr val="2C3548"/>
                </a:solidFill>
                <a:latin typeface="Microsoft YaHei"/>
                <a:ea typeface="Microsoft YaHei"/>
              </a:rPr>
              <a:t>I picked flowers and played by the gate.</a:t>
            </a:r>
          </a:p>
          <a:p>
            <a:pPr algn="l">
              <a:spcAft>
                <a:spcPts val="400"/>
              </a:spcAft>
            </a:pPr>
            <a:r>
              <a:rPr sz="1200" b="0" i="0">
                <a:solidFill>
                  <a:srgbClr val="2C3548"/>
                </a:solidFill>
                <a:latin typeface="Microsoft YaHei"/>
                <a:ea typeface="Microsoft YaHei"/>
              </a:rPr>
              <a:t>You came riding a bamboo horse,</a:t>
            </a:r>
          </a:p>
          <a:p>
            <a:pPr algn="l">
              <a:spcAft>
                <a:spcPts val="400"/>
              </a:spcAft>
            </a:pPr>
            <a:r>
              <a:rPr sz="1200" b="0" i="0">
                <a:solidFill>
                  <a:srgbClr val="2C3548"/>
                </a:solidFill>
                <a:latin typeface="Microsoft YaHei"/>
                <a:ea typeface="Microsoft YaHei"/>
              </a:rPr>
              <a:t>Circling the well, tossing green plums.</a:t>
            </a:r>
          </a:p>
          <a:p>
            <a:pPr algn="l">
              <a:spcAft>
                <a:spcPts val="400"/>
              </a:spcAft>
            </a:pPr>
            <a:r>
              <a:rPr sz="1200" b="0" i="0">
                <a:solidFill>
                  <a:srgbClr val="2C3548"/>
                </a:solidFill>
                <a:latin typeface="Microsoft YaHei"/>
                <a:ea typeface="Microsoft YaHei"/>
              </a:rPr>
              <a:t>We lived together in Changgan Lane—</a:t>
            </a:r>
          </a:p>
          <a:p>
            <a:pPr algn="l">
              <a:spcAft>
                <a:spcPts val="400"/>
              </a:spcAft>
            </a:pPr>
            <a:r>
              <a:rPr sz="1200" b="0" i="0">
                <a:solidFill>
                  <a:srgbClr val="2C3548"/>
                </a:solidFill>
                <a:latin typeface="Microsoft YaHei"/>
                <a:ea typeface="Microsoft YaHei"/>
              </a:rPr>
              <a:t>Two children, without doubt or shame.</a:t>
            </a:r>
          </a:p>
          <a:p>
            <a:pPr algn="l">
              <a:spcAft>
                <a:spcPts val="400"/>
              </a:spcAft>
            </a:pPr>
            <a:r>
              <a:rPr sz="1200" b="0" i="0">
                <a:solidFill>
                  <a:srgbClr val="2C3548"/>
                </a:solidFill>
                <a:latin typeface="Microsoft YaHei"/>
                <a:ea typeface="Microsoft YaHei"/>
              </a:rPr>
              <a:t>At fourteen I became your wife,</a:t>
            </a:r>
          </a:p>
          <a:p>
            <a:pPr algn="l">
              <a:spcAft>
                <a:spcPts val="400"/>
              </a:spcAft>
            </a:pPr>
            <a:r>
              <a:rPr sz="1200" b="0" i="0">
                <a:solidFill>
                  <a:srgbClr val="2C3548"/>
                </a:solidFill>
                <a:latin typeface="Microsoft YaHei"/>
                <a:ea typeface="Microsoft YaHei"/>
              </a:rPr>
              <a:t>Too shy to ever lift my face.</a:t>
            </a:r>
          </a:p>
          <a:p>
            <a:pPr algn="l">
              <a:spcAft>
                <a:spcPts val="400"/>
              </a:spcAft>
            </a:pPr>
            <a:r>
              <a:rPr sz="1200" b="0" i="0">
                <a:solidFill>
                  <a:srgbClr val="2C3548"/>
                </a:solidFill>
                <a:latin typeface="Microsoft YaHei"/>
                <a:ea typeface="Microsoft YaHei"/>
              </a:rPr>
              <a:t>At fifteen I began to smile,</a:t>
            </a:r>
          </a:p>
          <a:p>
            <a:pPr algn="l">
              <a:spcAft>
                <a:spcPts val="400"/>
              </a:spcAft>
            </a:pPr>
            <a:r>
              <a:rPr sz="1200" b="0" i="0">
                <a:solidFill>
                  <a:srgbClr val="2C3548"/>
                </a:solidFill>
                <a:latin typeface="Microsoft YaHei"/>
                <a:ea typeface="Microsoft YaHei"/>
              </a:rPr>
              <a:t>Willing to share dust and ash with you.</a:t>
            </a:r>
          </a:p>
          <a:p>
            <a:pPr algn="l">
              <a:spcAft>
                <a:spcPts val="400"/>
              </a:spcAft>
            </a:pPr>
            <a:r>
              <a:rPr sz="1200" b="0" i="0">
                <a:solidFill>
                  <a:srgbClr val="2C3548"/>
                </a:solidFill>
                <a:latin typeface="Microsoft YaHei"/>
                <a:ea typeface="Microsoft YaHei"/>
              </a:rPr>
              <a:t>At sixteen you journeyed far,</a:t>
            </a:r>
          </a:p>
          <a:p>
            <a:pPr algn="l">
              <a:spcAft>
                <a:spcPts val="400"/>
              </a:spcAft>
            </a:pPr>
            <a:r>
              <a:rPr sz="1200" b="0" i="0">
                <a:solidFill>
                  <a:srgbClr val="2C3548"/>
                </a:solidFill>
                <a:latin typeface="Microsoft YaHei"/>
                <a:ea typeface="Microsoft YaHei"/>
              </a:rPr>
              <a:t>Through Qutang’s perilous Yanyu Rock.</a:t>
            </a:r>
          </a:p>
          <a:p>
            <a:pPr algn="l">
              <a:spcAft>
                <a:spcPts val="400"/>
              </a:spcAft>
            </a:pPr>
            <a:r>
              <a:rPr sz="1200" b="0" i="0">
                <a:solidFill>
                  <a:srgbClr val="2C3548"/>
                </a:solidFill>
                <a:latin typeface="Microsoft YaHei"/>
                <a:ea typeface="Microsoft YaHei"/>
              </a:rPr>
              <a:t>In the fifth month one dare not touch it;</a:t>
            </a:r>
          </a:p>
          <a:p>
            <a:pPr algn="l">
              <a:spcAft>
                <a:spcPts val="400"/>
              </a:spcAft>
            </a:pPr>
            <a:r>
              <a:rPr sz="1200" b="0" i="0">
                <a:solidFill>
                  <a:srgbClr val="2C3548"/>
                </a:solidFill>
                <a:latin typeface="Microsoft YaHei"/>
                <a:ea typeface="Microsoft YaHei"/>
              </a:rPr>
              <a:t>Gibbons cry sorrow from the skies.</a:t>
            </a:r>
          </a:p>
          <a:p>
            <a:pPr algn="l">
              <a:spcAft>
                <a:spcPts val="400"/>
              </a:spcAft>
            </a:pPr>
            <a:r>
              <a:rPr sz="1200" b="0" i="0">
                <a:solidFill>
                  <a:srgbClr val="2C3548"/>
                </a:solidFill>
                <a:latin typeface="Microsoft YaHei"/>
                <a:ea typeface="Microsoft YaHei"/>
              </a:rPr>
              <a:t>Footprints before our gate grow late,</a:t>
            </a:r>
          </a:p>
          <a:p>
            <a:pPr algn="l">
              <a:spcAft>
                <a:spcPts val="400"/>
              </a:spcAft>
            </a:pPr>
            <a:r>
              <a:rPr sz="1200" b="0" i="0">
                <a:solidFill>
                  <a:srgbClr val="2C3548"/>
                </a:solidFill>
                <a:latin typeface="Microsoft YaHei"/>
                <a:ea typeface="Microsoft YaHei"/>
              </a:rPr>
              <a:t>Each one sprouting green moss.</a:t>
            </a:r>
          </a:p>
          <a:p>
            <a:pPr algn="l">
              <a:spcAft>
                <a:spcPts val="400"/>
              </a:spcAft>
            </a:pPr>
            <a:r>
              <a:rPr sz="1200" b="0" i="0">
                <a:solidFill>
                  <a:srgbClr val="2C3548"/>
                </a:solidFill>
                <a:latin typeface="Microsoft YaHei"/>
                <a:ea typeface="Microsoft YaHei"/>
              </a:rPr>
              <a:t>Moss too deep to sweep away;</a:t>
            </a:r>
          </a:p>
          <a:p>
            <a:pPr algn="l">
              <a:spcAft>
                <a:spcPts val="400"/>
              </a:spcAft>
            </a:pPr>
            <a:r>
              <a:rPr sz="1200" b="0" i="0">
                <a:solidFill>
                  <a:srgbClr val="2C3548"/>
                </a:solidFill>
                <a:latin typeface="Microsoft YaHei"/>
                <a:ea typeface="Microsoft YaHei"/>
              </a:rPr>
              <a:t>Fallen leaves, autumn wind comes early.</a:t>
            </a:r>
          </a:p>
          <a:p>
            <a:pPr algn="l">
              <a:spcAft>
                <a:spcPts val="400"/>
              </a:spcAft>
            </a:pPr>
            <a:r>
              <a:rPr sz="1200" b="0" i="0">
                <a:solidFill>
                  <a:srgbClr val="2C3548"/>
                </a:solidFill>
                <a:latin typeface="Microsoft YaHei"/>
                <a:ea typeface="Microsoft YaHei"/>
              </a:rPr>
              <a:t>In the eighth month yellow butterflies</a:t>
            </a:r>
          </a:p>
          <a:p>
            <a:pPr algn="l">
              <a:spcAft>
                <a:spcPts val="400"/>
              </a:spcAft>
            </a:pPr>
            <a:r>
              <a:rPr sz="1200" b="0" i="0">
                <a:solidFill>
                  <a:srgbClr val="2C3548"/>
                </a:solidFill>
                <a:latin typeface="Microsoft YaHei"/>
                <a:ea typeface="Microsoft YaHei"/>
              </a:rPr>
              <a:t>Fly in pairs over the western garden grass.</a:t>
            </a:r>
          </a:p>
          <a:p>
            <a:pPr algn="l">
              <a:spcAft>
                <a:spcPts val="400"/>
              </a:spcAft>
            </a:pPr>
            <a:r>
              <a:rPr sz="1200" b="0" i="0">
                <a:solidFill>
                  <a:srgbClr val="2C3548"/>
                </a:solidFill>
                <a:latin typeface="Microsoft YaHei"/>
                <a:ea typeface="Microsoft YaHei"/>
              </a:rPr>
              <a:t>Seeing this wounds my heart;</a:t>
            </a:r>
          </a:p>
          <a:p>
            <a:pPr algn="l">
              <a:spcAft>
                <a:spcPts val="400"/>
              </a:spcAft>
            </a:pPr>
            <a:r>
              <a:rPr sz="1200" b="0" i="0">
                <a:solidFill>
                  <a:srgbClr val="2C3548"/>
                </a:solidFill>
                <a:latin typeface="Microsoft YaHei"/>
                <a:ea typeface="Microsoft YaHei"/>
              </a:rPr>
              <a:t>I sit grieving as youth fades.</a:t>
            </a:r>
          </a:p>
          <a:p>
            <a:pPr algn="l">
              <a:spcAft>
                <a:spcPts val="400"/>
              </a:spcAft>
            </a:pPr>
            <a:r>
              <a:rPr sz="1200" b="0" i="0">
                <a:solidFill>
                  <a:srgbClr val="2C3548"/>
                </a:solidFill>
                <a:latin typeface="Microsoft YaHei"/>
                <a:ea typeface="Microsoft YaHei"/>
              </a:rPr>
              <a:t>Whenever you leave the Three Ba region,</a:t>
            </a:r>
          </a:p>
          <a:p>
            <a:pPr algn="l">
              <a:spcAft>
                <a:spcPts val="400"/>
              </a:spcAft>
            </a:pPr>
            <a:r>
              <a:rPr sz="1200" b="0" i="0">
                <a:solidFill>
                  <a:srgbClr val="2C3548"/>
                </a:solidFill>
                <a:latin typeface="Microsoft YaHei"/>
                <a:ea typeface="Microsoft YaHei"/>
              </a:rPr>
              <a:t>Send a letter home first.</a:t>
            </a:r>
          </a:p>
          <a:p>
            <a:pPr algn="l">
              <a:spcAft>
                <a:spcPts val="400"/>
              </a:spcAft>
            </a:pPr>
            <a:r>
              <a:rPr sz="1200" b="0" i="0">
                <a:solidFill>
                  <a:srgbClr val="2C3548"/>
                </a:solidFill>
                <a:latin typeface="Microsoft YaHei"/>
                <a:ea typeface="Microsoft YaHei"/>
              </a:rPr>
              <a:t>I will meet you, not counting the distance—</a:t>
            </a:r>
          </a:p>
          <a:p>
            <a:pPr algn="l">
              <a:spcAft>
                <a:spcPts val="400"/>
              </a:spcAft>
            </a:pPr>
            <a:r>
              <a:rPr sz="1200" b="0" i="0">
                <a:solidFill>
                  <a:srgbClr val="2C3548"/>
                </a:solidFill>
                <a:latin typeface="Microsoft YaHei"/>
                <a:ea typeface="Microsoft YaHei"/>
              </a:rPr>
              <a:t>Even as far as Changfengsha.</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长干行  |  20/83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《长干行》 · 中英对照 Bilingual</a:t>
            </a:r>
          </a:p>
        </p:txBody>
      </p:sp>
      <p:sp>
        <p:nvSpPr>
          <p:cNvPr id="5" name="Rectangle 4"/>
          <p:cNvSpPr/>
          <p:nvPr/>
        </p:nvSpPr>
        <p:spPr>
          <a:xfrm>
            <a:off x="457200" y="914400"/>
            <a:ext cx="5394960" cy="502920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09360" y="914400"/>
            <a:ext cx="5394960" cy="5029200"/>
          </a:xfrm>
          <a:prstGeom prst="rect">
            <a:avLst/>
          </a:prstGeom>
          <a:solidFill>
            <a:srgbClr val="EE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中文</a:t>
            </a:r>
          </a:p>
        </p:txBody>
      </p:sp>
      <p:sp>
        <p:nvSpPr>
          <p:cNvPr id="8" name="TextBox 7"/>
          <p:cNvSpPr txBox="1"/>
          <p:nvPr/>
        </p:nvSpPr>
        <p:spPr>
          <a:xfrm>
            <a:off x="649224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English</a:t>
            </a:r>
          </a:p>
        </p:txBody>
      </p:sp>
      <p:sp>
        <p:nvSpPr>
          <p:cNvPr id="9" name="TextBox 8"/>
          <p:cNvSpPr txBox="1"/>
          <p:nvPr/>
        </p:nvSpPr>
        <p:spPr>
          <a:xfrm>
            <a:off x="640080" y="1417320"/>
            <a:ext cx="5029200" cy="4389120"/>
          </a:xfrm>
          <a:prstGeom prst="rect">
            <a:avLst/>
          </a:prstGeom>
          <a:noFill/>
        </p:spPr>
        <p:txBody>
          <a:bodyPr wrap="square" anchor="t"/>
          <a:lstStyle/>
          <a:p>
            <a:pPr algn="l">
              <a:spcAft>
                <a:spcPts val="400"/>
              </a:spcAft>
            </a:pPr>
            <a:r>
              <a:rPr sz="1400" b="0" i="0">
                <a:solidFill>
                  <a:srgbClr val="1A1F2E"/>
                </a:solidFill>
                <a:latin typeface="Microsoft YaHei"/>
                <a:ea typeface="Microsoft YaHei"/>
              </a:rPr>
              <a:t>妾发初覆额，折花门前剧。</a:t>
            </a:r>
          </a:p>
          <a:p>
            <a:pPr algn="l">
              <a:spcAft>
                <a:spcPts val="400"/>
              </a:spcAft>
            </a:pPr>
            <a:r>
              <a:rPr sz="1400" b="0" i="0">
                <a:solidFill>
                  <a:srgbClr val="1A1F2E"/>
                </a:solidFill>
                <a:latin typeface="Microsoft YaHei"/>
                <a:ea typeface="Microsoft YaHei"/>
              </a:rPr>
              <a:t>郎骑竹马来，绕床弄青梅。</a:t>
            </a:r>
          </a:p>
          <a:p>
            <a:pPr algn="l">
              <a:spcAft>
                <a:spcPts val="400"/>
              </a:spcAft>
            </a:pPr>
            <a:r>
              <a:rPr sz="1400" b="0" i="0">
                <a:solidFill>
                  <a:srgbClr val="1A1F2E"/>
                </a:solidFill>
                <a:latin typeface="Microsoft YaHei"/>
                <a:ea typeface="Microsoft YaHei"/>
              </a:rPr>
              <a:t>同居长干里，两小无嫌猜。</a:t>
            </a:r>
          </a:p>
          <a:p>
            <a:pPr algn="l">
              <a:spcAft>
                <a:spcPts val="400"/>
              </a:spcAft>
            </a:pPr>
            <a:r>
              <a:rPr sz="1400" b="0" i="0">
                <a:solidFill>
                  <a:srgbClr val="1A1F2E"/>
                </a:solidFill>
                <a:latin typeface="Microsoft YaHei"/>
                <a:ea typeface="Microsoft YaHei"/>
              </a:rPr>
              <a:t>十四为君妇，羞颜未尝开。</a:t>
            </a:r>
          </a:p>
          <a:p>
            <a:pPr algn="l">
              <a:spcAft>
                <a:spcPts val="400"/>
              </a:spcAft>
            </a:pPr>
            <a:r>
              <a:rPr sz="1400" b="0" i="0">
                <a:solidFill>
                  <a:srgbClr val="1A1F2E"/>
                </a:solidFill>
                <a:latin typeface="Microsoft YaHei"/>
                <a:ea typeface="Microsoft YaHei"/>
              </a:rPr>
              <a:t>十五始展眉，愿同尘与灰。</a:t>
            </a:r>
          </a:p>
          <a:p>
            <a:pPr algn="l">
              <a:spcAft>
                <a:spcPts val="400"/>
              </a:spcAft>
            </a:pPr>
            <a:r>
              <a:rPr sz="1400" b="0" i="0">
                <a:solidFill>
                  <a:srgbClr val="1A1F2E"/>
                </a:solidFill>
                <a:latin typeface="Microsoft YaHei"/>
                <a:ea typeface="Microsoft YaHei"/>
              </a:rPr>
              <a:t>十六君远行，瞿塘滟滪堆。</a:t>
            </a:r>
          </a:p>
          <a:p>
            <a:pPr algn="l">
              <a:spcAft>
                <a:spcPts val="400"/>
              </a:spcAft>
            </a:pPr>
            <a:r>
              <a:rPr sz="1400" b="0" i="0">
                <a:solidFill>
                  <a:srgbClr val="1A1F2E"/>
                </a:solidFill>
                <a:latin typeface="Microsoft YaHei"/>
                <a:ea typeface="Microsoft YaHei"/>
              </a:rPr>
              <a:t>五月不可触，猿声天上哀。</a:t>
            </a:r>
          </a:p>
          <a:p>
            <a:pPr algn="l">
              <a:spcAft>
                <a:spcPts val="400"/>
              </a:spcAft>
            </a:pPr>
            <a:r>
              <a:rPr sz="1400" b="0" i="0">
                <a:solidFill>
                  <a:srgbClr val="1A1F2E"/>
                </a:solidFill>
                <a:latin typeface="Microsoft YaHei"/>
                <a:ea typeface="Microsoft YaHei"/>
              </a:rPr>
              <a:t>门前迟行迹，一一生绿苔。</a:t>
            </a:r>
          </a:p>
          <a:p>
            <a:pPr algn="l">
              <a:spcAft>
                <a:spcPts val="400"/>
              </a:spcAft>
            </a:pPr>
            <a:r>
              <a:rPr sz="1400" b="0" i="0">
                <a:solidFill>
                  <a:srgbClr val="1A1F2E"/>
                </a:solidFill>
                <a:latin typeface="Microsoft YaHei"/>
                <a:ea typeface="Microsoft YaHei"/>
              </a:rPr>
              <a:t>苔深不能扫，落叶秋风早。</a:t>
            </a:r>
          </a:p>
          <a:p>
            <a:pPr algn="l">
              <a:spcAft>
                <a:spcPts val="400"/>
              </a:spcAft>
            </a:pPr>
            <a:r>
              <a:rPr sz="1400" b="0" i="0">
                <a:solidFill>
                  <a:srgbClr val="1A1F2E"/>
                </a:solidFill>
                <a:latin typeface="Microsoft YaHei"/>
                <a:ea typeface="Microsoft YaHei"/>
              </a:rPr>
              <a:t>八月蝴蝶黄，双飞西园草。</a:t>
            </a:r>
          </a:p>
          <a:p>
            <a:pPr algn="l">
              <a:spcAft>
                <a:spcPts val="400"/>
              </a:spcAft>
            </a:pPr>
            <a:r>
              <a:rPr sz="1400" b="0" i="0">
                <a:solidFill>
                  <a:srgbClr val="1A1F2E"/>
                </a:solidFill>
                <a:latin typeface="Microsoft YaHei"/>
                <a:ea typeface="Microsoft YaHei"/>
              </a:rPr>
              <a:t>感此伤妾心，坐愁红颜老。</a:t>
            </a:r>
          </a:p>
          <a:p>
            <a:pPr algn="l">
              <a:spcAft>
                <a:spcPts val="400"/>
              </a:spcAft>
            </a:pPr>
            <a:r>
              <a:rPr sz="1400" b="0" i="0">
                <a:solidFill>
                  <a:srgbClr val="1A1F2E"/>
                </a:solidFill>
                <a:latin typeface="Microsoft YaHei"/>
                <a:ea typeface="Microsoft YaHei"/>
              </a:rPr>
              <a:t>早晚下三巴，预将书报家。</a:t>
            </a:r>
          </a:p>
          <a:p>
            <a:pPr algn="l">
              <a:spcAft>
                <a:spcPts val="400"/>
              </a:spcAft>
            </a:pPr>
            <a:r>
              <a:rPr sz="1400" b="0" i="0">
                <a:solidFill>
                  <a:srgbClr val="1A1F2E"/>
                </a:solidFill>
                <a:latin typeface="Microsoft YaHei"/>
                <a:ea typeface="Microsoft YaHei"/>
              </a:rPr>
              <a:t>相迎不道远，直至长风沙。</a:t>
            </a:r>
          </a:p>
        </p:txBody>
      </p:sp>
      <p:sp>
        <p:nvSpPr>
          <p:cNvPr id="10" name="TextBox 9"/>
          <p:cNvSpPr txBox="1"/>
          <p:nvPr/>
        </p:nvSpPr>
        <p:spPr>
          <a:xfrm>
            <a:off x="6492240" y="1417320"/>
            <a:ext cx="5029200" cy="4389120"/>
          </a:xfrm>
          <a:prstGeom prst="rect">
            <a:avLst/>
          </a:prstGeom>
          <a:noFill/>
        </p:spPr>
        <p:txBody>
          <a:bodyPr wrap="square" anchor="t"/>
          <a:lstStyle/>
          <a:p>
            <a:pPr algn="l">
              <a:spcAft>
                <a:spcPts val="400"/>
              </a:spcAft>
            </a:pPr>
            <a:r>
              <a:rPr sz="1200" b="0" i="0">
                <a:solidFill>
                  <a:srgbClr val="2C3548"/>
                </a:solidFill>
                <a:latin typeface="Microsoft YaHei"/>
                <a:ea typeface="Microsoft YaHei"/>
              </a:rPr>
              <a:t>When my hair first covered my forehead,</a:t>
            </a:r>
          </a:p>
          <a:p>
            <a:pPr algn="l">
              <a:spcAft>
                <a:spcPts val="400"/>
              </a:spcAft>
            </a:pPr>
            <a:r>
              <a:rPr sz="1200" b="0" i="0">
                <a:solidFill>
                  <a:srgbClr val="2C3548"/>
                </a:solidFill>
                <a:latin typeface="Microsoft YaHei"/>
                <a:ea typeface="Microsoft YaHei"/>
              </a:rPr>
              <a:t>I picked flowers and played by the gate.</a:t>
            </a:r>
          </a:p>
          <a:p>
            <a:pPr algn="l">
              <a:spcAft>
                <a:spcPts val="400"/>
              </a:spcAft>
            </a:pPr>
            <a:r>
              <a:rPr sz="1200" b="0" i="0">
                <a:solidFill>
                  <a:srgbClr val="2C3548"/>
                </a:solidFill>
                <a:latin typeface="Microsoft YaHei"/>
                <a:ea typeface="Microsoft YaHei"/>
              </a:rPr>
              <a:t>You came riding a bamboo horse,</a:t>
            </a:r>
          </a:p>
          <a:p>
            <a:pPr algn="l">
              <a:spcAft>
                <a:spcPts val="400"/>
              </a:spcAft>
            </a:pPr>
            <a:r>
              <a:rPr sz="1200" b="0" i="0">
                <a:solidFill>
                  <a:srgbClr val="2C3548"/>
                </a:solidFill>
                <a:latin typeface="Microsoft YaHei"/>
                <a:ea typeface="Microsoft YaHei"/>
              </a:rPr>
              <a:t>Circling the well, tossing green plums.</a:t>
            </a:r>
          </a:p>
          <a:p>
            <a:pPr algn="l">
              <a:spcAft>
                <a:spcPts val="400"/>
              </a:spcAft>
            </a:pPr>
            <a:r>
              <a:rPr sz="1200" b="0" i="0">
                <a:solidFill>
                  <a:srgbClr val="2C3548"/>
                </a:solidFill>
                <a:latin typeface="Microsoft YaHei"/>
                <a:ea typeface="Microsoft YaHei"/>
              </a:rPr>
              <a:t>We lived together in Changgan Lane—</a:t>
            </a:r>
          </a:p>
          <a:p>
            <a:pPr algn="l">
              <a:spcAft>
                <a:spcPts val="400"/>
              </a:spcAft>
            </a:pPr>
            <a:r>
              <a:rPr sz="1200" b="0" i="0">
                <a:solidFill>
                  <a:srgbClr val="2C3548"/>
                </a:solidFill>
                <a:latin typeface="Microsoft YaHei"/>
                <a:ea typeface="Microsoft YaHei"/>
              </a:rPr>
              <a:t>Two children, without doubt or shame.</a:t>
            </a:r>
          </a:p>
          <a:p>
            <a:pPr algn="l">
              <a:spcAft>
                <a:spcPts val="400"/>
              </a:spcAft>
            </a:pPr>
            <a:r>
              <a:rPr sz="1200" b="0" i="0">
                <a:solidFill>
                  <a:srgbClr val="2C3548"/>
                </a:solidFill>
                <a:latin typeface="Microsoft YaHei"/>
                <a:ea typeface="Microsoft YaHei"/>
              </a:rPr>
              <a:t>At fourteen I became your wife,</a:t>
            </a:r>
          </a:p>
          <a:p>
            <a:pPr algn="l">
              <a:spcAft>
                <a:spcPts val="400"/>
              </a:spcAft>
            </a:pPr>
            <a:r>
              <a:rPr sz="1200" b="0" i="0">
                <a:solidFill>
                  <a:srgbClr val="2C3548"/>
                </a:solidFill>
                <a:latin typeface="Microsoft YaHei"/>
                <a:ea typeface="Microsoft YaHei"/>
              </a:rPr>
              <a:t>Too shy to ever lift my face.</a:t>
            </a:r>
          </a:p>
          <a:p>
            <a:pPr algn="l">
              <a:spcAft>
                <a:spcPts val="400"/>
              </a:spcAft>
            </a:pPr>
            <a:r>
              <a:rPr sz="1200" b="0" i="0">
                <a:solidFill>
                  <a:srgbClr val="2C3548"/>
                </a:solidFill>
                <a:latin typeface="Microsoft YaHei"/>
                <a:ea typeface="Microsoft YaHei"/>
              </a:rPr>
              <a:t>At fifteen I began to smile,</a:t>
            </a:r>
          </a:p>
          <a:p>
            <a:pPr algn="l">
              <a:spcAft>
                <a:spcPts val="400"/>
              </a:spcAft>
            </a:pPr>
            <a:r>
              <a:rPr sz="1200" b="0" i="0">
                <a:solidFill>
                  <a:srgbClr val="2C3548"/>
                </a:solidFill>
                <a:latin typeface="Microsoft YaHei"/>
                <a:ea typeface="Microsoft YaHei"/>
              </a:rPr>
              <a:t>Willing to share dust and ash with you.</a:t>
            </a:r>
          </a:p>
          <a:p>
            <a:pPr algn="l">
              <a:spcAft>
                <a:spcPts val="400"/>
              </a:spcAft>
            </a:pPr>
            <a:r>
              <a:rPr sz="1200" b="0" i="0">
                <a:solidFill>
                  <a:srgbClr val="2C3548"/>
                </a:solidFill>
                <a:latin typeface="Microsoft YaHei"/>
                <a:ea typeface="Microsoft YaHei"/>
              </a:rPr>
              <a:t>At sixteen you journeyed far,</a:t>
            </a:r>
          </a:p>
          <a:p>
            <a:pPr algn="l">
              <a:spcAft>
                <a:spcPts val="400"/>
              </a:spcAft>
            </a:pPr>
            <a:r>
              <a:rPr sz="1200" b="0" i="0">
                <a:solidFill>
                  <a:srgbClr val="2C3548"/>
                </a:solidFill>
                <a:latin typeface="Microsoft YaHei"/>
                <a:ea typeface="Microsoft YaHei"/>
              </a:rPr>
              <a:t>Through Qutang’s perilous Yanyu Rock.</a:t>
            </a:r>
          </a:p>
          <a:p>
            <a:pPr algn="l">
              <a:spcAft>
                <a:spcPts val="400"/>
              </a:spcAft>
            </a:pPr>
            <a:r>
              <a:rPr sz="1200" b="0" i="0">
                <a:solidFill>
                  <a:srgbClr val="2C3548"/>
                </a:solidFill>
                <a:latin typeface="Microsoft YaHei"/>
                <a:ea typeface="Microsoft YaHei"/>
              </a:rPr>
              <a:t>In the fifth month one dare not touch it;</a:t>
            </a:r>
          </a:p>
          <a:p>
            <a:pPr algn="l">
              <a:spcAft>
                <a:spcPts val="400"/>
              </a:spcAft>
            </a:pPr>
            <a:r>
              <a:rPr sz="1200" b="0" i="0">
                <a:solidFill>
                  <a:srgbClr val="2C3548"/>
                </a:solidFill>
                <a:latin typeface="Microsoft YaHei"/>
                <a:ea typeface="Microsoft YaHei"/>
              </a:rPr>
              <a:t>Gibbons cry sorrow from the skies.</a:t>
            </a:r>
          </a:p>
          <a:p>
            <a:pPr algn="l">
              <a:spcAft>
                <a:spcPts val="400"/>
              </a:spcAft>
            </a:pPr>
            <a:r>
              <a:rPr sz="1200" b="0" i="0">
                <a:solidFill>
                  <a:srgbClr val="2C3548"/>
                </a:solidFill>
                <a:latin typeface="Microsoft YaHei"/>
                <a:ea typeface="Microsoft YaHei"/>
              </a:rPr>
              <a:t>Footprints before our gate grow late,</a:t>
            </a:r>
          </a:p>
          <a:p>
            <a:pPr algn="l">
              <a:spcAft>
                <a:spcPts val="400"/>
              </a:spcAft>
            </a:pPr>
            <a:r>
              <a:rPr sz="1200" b="0" i="0">
                <a:solidFill>
                  <a:srgbClr val="2C3548"/>
                </a:solidFill>
                <a:latin typeface="Microsoft YaHei"/>
                <a:ea typeface="Microsoft YaHei"/>
              </a:rPr>
              <a:t>Each one sprouting green moss.</a:t>
            </a:r>
          </a:p>
          <a:p>
            <a:pPr algn="l">
              <a:spcAft>
                <a:spcPts val="400"/>
              </a:spcAft>
            </a:pPr>
            <a:r>
              <a:rPr sz="1200" b="0" i="0">
                <a:solidFill>
                  <a:srgbClr val="2C3548"/>
                </a:solidFill>
                <a:latin typeface="Microsoft YaHei"/>
                <a:ea typeface="Microsoft YaHei"/>
              </a:rPr>
              <a:t>Moss too deep to sweep away;</a:t>
            </a:r>
          </a:p>
          <a:p>
            <a:pPr algn="l">
              <a:spcAft>
                <a:spcPts val="400"/>
              </a:spcAft>
            </a:pPr>
            <a:r>
              <a:rPr sz="1200" b="0" i="0">
                <a:solidFill>
                  <a:srgbClr val="2C3548"/>
                </a:solidFill>
                <a:latin typeface="Microsoft YaHei"/>
                <a:ea typeface="Microsoft YaHei"/>
              </a:rPr>
              <a:t>Fallen leaves, autumn wind comes early.</a:t>
            </a:r>
          </a:p>
          <a:p>
            <a:pPr algn="l">
              <a:spcAft>
                <a:spcPts val="400"/>
              </a:spcAft>
            </a:pPr>
            <a:r>
              <a:rPr sz="1200" b="0" i="0">
                <a:solidFill>
                  <a:srgbClr val="2C3548"/>
                </a:solidFill>
                <a:latin typeface="Microsoft YaHei"/>
                <a:ea typeface="Microsoft YaHei"/>
              </a:rPr>
              <a:t>In the eighth month yellow butterflies</a:t>
            </a:r>
          </a:p>
          <a:p>
            <a:pPr algn="l">
              <a:spcAft>
                <a:spcPts val="400"/>
              </a:spcAft>
            </a:pPr>
            <a:r>
              <a:rPr sz="1200" b="0" i="0">
                <a:solidFill>
                  <a:srgbClr val="2C3548"/>
                </a:solidFill>
                <a:latin typeface="Microsoft YaHei"/>
                <a:ea typeface="Microsoft YaHei"/>
              </a:rPr>
              <a:t>Fly in pairs over the western garden grass.</a:t>
            </a:r>
          </a:p>
          <a:p>
            <a:pPr algn="l">
              <a:spcAft>
                <a:spcPts val="400"/>
              </a:spcAft>
            </a:pPr>
            <a:r>
              <a:rPr sz="1200" b="0" i="0">
                <a:solidFill>
                  <a:srgbClr val="2C3548"/>
                </a:solidFill>
                <a:latin typeface="Microsoft YaHei"/>
                <a:ea typeface="Microsoft YaHei"/>
              </a:rPr>
              <a:t>Seeing this wounds my heart;</a:t>
            </a:r>
          </a:p>
          <a:p>
            <a:pPr algn="l">
              <a:spcAft>
                <a:spcPts val="400"/>
              </a:spcAft>
            </a:pPr>
            <a:r>
              <a:rPr sz="1200" b="0" i="0">
                <a:solidFill>
                  <a:srgbClr val="2C3548"/>
                </a:solidFill>
                <a:latin typeface="Microsoft YaHei"/>
                <a:ea typeface="Microsoft YaHei"/>
              </a:rPr>
              <a:t>I sit grieving as youth fades.</a:t>
            </a:r>
          </a:p>
          <a:p>
            <a:pPr algn="l">
              <a:spcAft>
                <a:spcPts val="400"/>
              </a:spcAft>
            </a:pPr>
            <a:r>
              <a:rPr sz="1200" b="0" i="0">
                <a:solidFill>
                  <a:srgbClr val="2C3548"/>
                </a:solidFill>
                <a:latin typeface="Microsoft YaHei"/>
                <a:ea typeface="Microsoft YaHei"/>
              </a:rPr>
              <a:t>Whenever you leave the Three Ba region,</a:t>
            </a:r>
          </a:p>
          <a:p>
            <a:pPr algn="l">
              <a:spcAft>
                <a:spcPts val="400"/>
              </a:spcAft>
            </a:pPr>
            <a:r>
              <a:rPr sz="1200" b="0" i="0">
                <a:solidFill>
                  <a:srgbClr val="2C3548"/>
                </a:solidFill>
                <a:latin typeface="Microsoft YaHei"/>
                <a:ea typeface="Microsoft YaHei"/>
              </a:rPr>
              <a:t>Send a letter home first.</a:t>
            </a:r>
          </a:p>
          <a:p>
            <a:pPr algn="l">
              <a:spcAft>
                <a:spcPts val="400"/>
              </a:spcAft>
            </a:pPr>
            <a:r>
              <a:rPr sz="1200" b="0" i="0">
                <a:solidFill>
                  <a:srgbClr val="2C3548"/>
                </a:solidFill>
                <a:latin typeface="Microsoft YaHei"/>
                <a:ea typeface="Microsoft YaHei"/>
              </a:rPr>
              <a:t>I will meet you, not counting the distance—</a:t>
            </a:r>
          </a:p>
          <a:p>
            <a:pPr algn="l">
              <a:spcAft>
                <a:spcPts val="400"/>
              </a:spcAft>
            </a:pPr>
            <a:r>
              <a:rPr sz="1200" b="0" i="0">
                <a:solidFill>
                  <a:srgbClr val="2C3548"/>
                </a:solidFill>
                <a:latin typeface="Microsoft YaHei"/>
                <a:ea typeface="Microsoft YaHei"/>
              </a:rPr>
              <a:t>Even as far as Changfengsha.</a:t>
            </a:r>
          </a:p>
        </p:txBody>
      </p:sp>
      <p:sp>
        <p:nvSpPr>
          <p:cNvPr id="11" name="TextBox 10"/>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长干行  |  21/83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《长干行》 · 创作背景 Context</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长干行》属乐府旧题，长干里为金陵（今南京）商贾聚居之地。李白以商妇口吻，叙述青梅竹马、婚后离别与苦候归期。唐代商业繁荣，丈夫远行长江上下游经商是常见现实；诗中瞿塘、滟滪堆等险滩，既写行程之危，也写妇人心中的恐惧。</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A yuefu-style narrative in the voice of a merchant’s wife from Changgan Lane (Jinling/Nanjing). Childhood love, early marriage, and anxious waiting for a husband trading along the Yangtze reflect Tang commercial life and river dangers.</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长干行  |  22/83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《长干行》 · 诗文意义 Meaning</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以年龄为时间轴（覆额—十四—十五—十六），细腻刻画女子从嬉戏到深情、再到相思煎熬的情感成长。“青梅竹马”“两小无嫌猜”成为汉语中纯洁初恋的经典意象；末句“直至长风沙”以千里迎夫收束，写出坚贞与深情。全诗叙事与抒情交融，是李白乐府叙事诗的杰作。</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Age markers structure the wife’s emotional growth—from play to devotion to anxious waiting. “Green plums and bamboo horses” became proverbial for innocent first love; the vow to meet him even at Changfengsha crowns steadfast affection.</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长干行  |  23/83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144000" cy="365760"/>
          </a:xfrm>
          <a:prstGeom prst="rect">
            <a:avLst/>
          </a:prstGeom>
          <a:noFill/>
        </p:spPr>
        <p:txBody>
          <a:bodyPr wrap="square" anchor="t"/>
          <a:lstStyle/>
          <a:p>
            <a:pPr algn="l">
              <a:spcAft>
                <a:spcPts val="400"/>
              </a:spcAft>
            </a:pPr>
            <a:r>
              <a:rPr sz="1600" b="1" i="0">
                <a:solidFill>
                  <a:srgbClr val="A67C52"/>
                </a:solidFill>
                <a:latin typeface="Microsoft YaHei"/>
                <a:ea typeface="Microsoft YaHei"/>
              </a:rPr>
              <a:t>第 4 篇  /  Poem 4</a:t>
            </a:r>
          </a:p>
        </p:txBody>
      </p:sp>
      <p:sp>
        <p:nvSpPr>
          <p:cNvPr id="5" name="TextBox 4"/>
          <p:cNvSpPr txBox="1"/>
          <p:nvPr/>
        </p:nvSpPr>
        <p:spPr>
          <a:xfrm>
            <a:off x="1097280" y="2377440"/>
            <a:ext cx="10058400" cy="822960"/>
          </a:xfrm>
          <a:prstGeom prst="rect">
            <a:avLst/>
          </a:prstGeom>
          <a:noFill/>
        </p:spPr>
        <p:txBody>
          <a:bodyPr wrap="square" anchor="t"/>
          <a:lstStyle/>
          <a:p>
            <a:pPr algn="l">
              <a:spcAft>
                <a:spcPts val="400"/>
              </a:spcAft>
            </a:pPr>
            <a:r>
              <a:rPr sz="4000" b="1" i="0">
                <a:solidFill>
                  <a:srgbClr val="FFFFFF"/>
                </a:solidFill>
                <a:latin typeface="Microsoft YaHei"/>
                <a:ea typeface="Microsoft YaHei"/>
              </a:rPr>
              <a:t>《金陵酒肆留别》</a:t>
            </a:r>
          </a:p>
        </p:txBody>
      </p:sp>
      <p:sp>
        <p:nvSpPr>
          <p:cNvPr id="6" name="TextBox 5"/>
          <p:cNvSpPr txBox="1"/>
          <p:nvPr/>
        </p:nvSpPr>
        <p:spPr>
          <a:xfrm>
            <a:off x="1097280" y="3291840"/>
            <a:ext cx="10058400" cy="457200"/>
          </a:xfrm>
          <a:prstGeom prst="rect">
            <a:avLst/>
          </a:prstGeom>
          <a:noFill/>
        </p:spPr>
        <p:txBody>
          <a:bodyPr wrap="square" anchor="t"/>
          <a:lstStyle/>
          <a:p>
            <a:pPr algn="l">
              <a:spcAft>
                <a:spcPts val="400"/>
              </a:spcAft>
            </a:pPr>
            <a:r>
              <a:rPr sz="2000" b="0" i="1">
                <a:solidFill>
                  <a:srgbClr val="E8E0D0"/>
                </a:solidFill>
                <a:latin typeface="Microsoft YaHei"/>
                <a:ea typeface="Microsoft YaHei"/>
              </a:rPr>
              <a:t>Parting at a Jinling Tavern</a:t>
            </a:r>
          </a:p>
        </p:txBody>
      </p:sp>
      <p:sp>
        <p:nvSpPr>
          <p:cNvPr id="7" name="Rectangle 6"/>
          <p:cNvSpPr/>
          <p:nvPr/>
        </p:nvSpPr>
        <p:spPr>
          <a:xfrm>
            <a:off x="1097280" y="3931920"/>
            <a:ext cx="2011680" cy="54864"/>
          </a:xfrm>
          <a:prstGeom prst="rect">
            <a:avLst/>
          </a:prstGeom>
          <a:solidFill>
            <a:srgbClr val="2A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731520"/>
          </a:xfrm>
          <a:prstGeom prst="rect">
            <a:avLst/>
          </a:prstGeom>
          <a:noFill/>
        </p:spPr>
        <p:txBody>
          <a:bodyPr wrap="square" anchor="t"/>
          <a:lstStyle/>
          <a:p>
            <a:pPr algn="l">
              <a:spcAft>
                <a:spcPts val="400"/>
              </a:spcAft>
            </a:pPr>
            <a:r>
              <a:rPr sz="1400" b="0" i="0">
                <a:solidFill>
                  <a:srgbClr val="F7F3EB"/>
                </a:solidFill>
                <a:latin typeface="Microsoft YaHei"/>
                <a:ea typeface="Microsoft YaHei"/>
              </a:rPr>
              <a:t>七言古诗（短歌） / Short seven-character song</a:t>
            </a:r>
          </a:p>
          <a:p>
            <a:pPr algn="l">
              <a:spcAft>
                <a:spcPts val="400"/>
              </a:spcAft>
            </a:pPr>
            <a:r>
              <a:rPr sz="1400" b="0" i="0">
                <a:solidFill>
                  <a:srgbClr val="F7F3EB"/>
                </a:solidFill>
                <a:latin typeface="Microsoft YaHei"/>
                <a:ea typeface="Microsoft YaHei"/>
              </a:rPr>
              <a:t>约开元十四年前后 · 金陵送别友人</a:t>
            </a:r>
          </a:p>
          <a:p>
            <a:pPr algn="l">
              <a:spcAft>
                <a:spcPts val="400"/>
              </a:spcAft>
            </a:pPr>
            <a:r>
              <a:rPr sz="1400" b="0" i="0">
                <a:solidFill>
                  <a:srgbClr val="F7F3EB"/>
                </a:solidFill>
                <a:latin typeface="Microsoft YaHei"/>
                <a:ea typeface="Microsoft YaHei"/>
              </a:rPr>
              <a:t>关键词 Keywords：送别 · 酒肆 · 流水 · 豪情</a:t>
            </a:r>
          </a:p>
        </p:txBody>
      </p:sp>
      <p:sp>
        <p:nvSpPr>
          <p:cNvPr id="9" name="TextBox 8"/>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金陵酒肆留别  |  24/83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《金陵酒肆留别》 · 原文 Original Chinese</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800" b="0" i="0">
                <a:solidFill>
                  <a:srgbClr val="1A1F2E"/>
                </a:solidFill>
                <a:latin typeface="Microsoft YaHei"/>
                <a:ea typeface="Microsoft YaHei"/>
              </a:rPr>
              <a:t>风吹柳花满店香，吴姬压酒唤客尝。</a:t>
            </a:r>
          </a:p>
          <a:p>
            <a:pPr algn="l">
              <a:spcAft>
                <a:spcPts val="400"/>
              </a:spcAft>
            </a:pPr>
            <a:r>
              <a:rPr sz="1800" b="0" i="0">
                <a:solidFill>
                  <a:srgbClr val="1A1F2E"/>
                </a:solidFill>
                <a:latin typeface="Microsoft YaHei"/>
                <a:ea typeface="Microsoft YaHei"/>
              </a:rPr>
              <a:t>金陵子弟来相送，欲行不行各尽觞。</a:t>
            </a:r>
          </a:p>
          <a:p>
            <a:pPr algn="l">
              <a:spcAft>
                <a:spcPts val="400"/>
              </a:spcAft>
            </a:pPr>
            <a:r>
              <a:rPr sz="1800" b="0" i="0">
                <a:solidFill>
                  <a:srgbClr val="1A1F2E"/>
                </a:solidFill>
                <a:latin typeface="Microsoft YaHei"/>
                <a:ea typeface="Microsoft YaHei"/>
              </a:rPr>
              <a:t>请君试问东流水，别意与之谁短长？</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金陵酒肆留别  |  25/83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Parting at a Jinling Tavern · 英译 English Translation</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600" b="0" i="0">
                <a:solidFill>
                  <a:srgbClr val="2C3548"/>
                </a:solidFill>
                <a:latin typeface="Microsoft YaHei"/>
                <a:ea typeface="Microsoft YaHei"/>
              </a:rPr>
              <a:t>Wind blows willow catkins—fragrance fills the shop;</a:t>
            </a:r>
          </a:p>
          <a:p>
            <a:pPr algn="l">
              <a:spcAft>
                <a:spcPts val="400"/>
              </a:spcAft>
            </a:pPr>
            <a:r>
              <a:rPr sz="1600" b="0" i="0">
                <a:solidFill>
                  <a:srgbClr val="2C3548"/>
                </a:solidFill>
                <a:latin typeface="Microsoft YaHei"/>
                <a:ea typeface="Microsoft YaHei"/>
              </a:rPr>
              <a:t>Wu girls press fresh wine and call guests to taste.</a:t>
            </a:r>
          </a:p>
          <a:p>
            <a:pPr algn="l">
              <a:spcAft>
                <a:spcPts val="400"/>
              </a:spcAft>
            </a:pPr>
            <a:r>
              <a:rPr sz="1600" b="0" i="0">
                <a:solidFill>
                  <a:srgbClr val="2C3548"/>
                </a:solidFill>
                <a:latin typeface="Microsoft YaHei"/>
                <a:ea typeface="Microsoft YaHei"/>
              </a:rPr>
              <a:t>Young men of Jinling come to see me off;</a:t>
            </a:r>
          </a:p>
          <a:p>
            <a:pPr algn="l">
              <a:spcAft>
                <a:spcPts val="400"/>
              </a:spcAft>
            </a:pPr>
            <a:r>
              <a:rPr sz="1600" b="0" i="0">
                <a:solidFill>
                  <a:srgbClr val="2C3548"/>
                </a:solidFill>
                <a:latin typeface="Microsoft YaHei"/>
                <a:ea typeface="Microsoft YaHei"/>
              </a:rPr>
              <a:t>Ready to leave yet lingering, we drain every cup.</a:t>
            </a:r>
          </a:p>
          <a:p>
            <a:pPr algn="l">
              <a:spcAft>
                <a:spcPts val="400"/>
              </a:spcAft>
            </a:pPr>
            <a:r>
              <a:rPr sz="1600" b="0" i="0">
                <a:solidFill>
                  <a:srgbClr val="2C3548"/>
                </a:solidFill>
                <a:latin typeface="Microsoft YaHei"/>
                <a:ea typeface="Microsoft YaHei"/>
              </a:rPr>
              <a:t>I ask you—ask the eastward-flowing river:</a:t>
            </a:r>
          </a:p>
          <a:p>
            <a:pPr algn="l">
              <a:spcAft>
                <a:spcPts val="400"/>
              </a:spcAft>
            </a:pPr>
            <a:r>
              <a:rPr sz="1600" b="0" i="0">
                <a:solidFill>
                  <a:srgbClr val="2C3548"/>
                </a:solidFill>
                <a:latin typeface="Microsoft YaHei"/>
                <a:ea typeface="Microsoft YaHei"/>
              </a:rPr>
              <a:t>Whose parting sorrow is longer, yours or its waters?</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金陵酒肆留别  |  26/83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《金陵酒肆留别》 · 中英对照 Bilingual</a:t>
            </a:r>
          </a:p>
        </p:txBody>
      </p:sp>
      <p:sp>
        <p:nvSpPr>
          <p:cNvPr id="5" name="Rectangle 4"/>
          <p:cNvSpPr/>
          <p:nvPr/>
        </p:nvSpPr>
        <p:spPr>
          <a:xfrm>
            <a:off x="457200" y="914400"/>
            <a:ext cx="5394960" cy="502920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09360" y="914400"/>
            <a:ext cx="5394960" cy="5029200"/>
          </a:xfrm>
          <a:prstGeom prst="rect">
            <a:avLst/>
          </a:prstGeom>
          <a:solidFill>
            <a:srgbClr val="EE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中文</a:t>
            </a:r>
          </a:p>
        </p:txBody>
      </p:sp>
      <p:sp>
        <p:nvSpPr>
          <p:cNvPr id="8" name="TextBox 7"/>
          <p:cNvSpPr txBox="1"/>
          <p:nvPr/>
        </p:nvSpPr>
        <p:spPr>
          <a:xfrm>
            <a:off x="649224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English</a:t>
            </a:r>
          </a:p>
        </p:txBody>
      </p:sp>
      <p:sp>
        <p:nvSpPr>
          <p:cNvPr id="9" name="TextBox 8"/>
          <p:cNvSpPr txBox="1"/>
          <p:nvPr/>
        </p:nvSpPr>
        <p:spPr>
          <a:xfrm>
            <a:off x="640080" y="1417320"/>
            <a:ext cx="5029200" cy="438912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风吹柳花满店香，吴姬压酒唤客尝。</a:t>
            </a:r>
          </a:p>
          <a:p>
            <a:pPr algn="l">
              <a:spcAft>
                <a:spcPts val="400"/>
              </a:spcAft>
            </a:pPr>
            <a:r>
              <a:rPr sz="1600" b="0" i="0">
                <a:solidFill>
                  <a:srgbClr val="1A1F2E"/>
                </a:solidFill>
                <a:latin typeface="Microsoft YaHei"/>
                <a:ea typeface="Microsoft YaHei"/>
              </a:rPr>
              <a:t>金陵子弟来相送，欲行不行各尽觞。</a:t>
            </a:r>
          </a:p>
          <a:p>
            <a:pPr algn="l">
              <a:spcAft>
                <a:spcPts val="400"/>
              </a:spcAft>
            </a:pPr>
            <a:r>
              <a:rPr sz="1600" b="0" i="0">
                <a:solidFill>
                  <a:srgbClr val="1A1F2E"/>
                </a:solidFill>
                <a:latin typeface="Microsoft YaHei"/>
                <a:ea typeface="Microsoft YaHei"/>
              </a:rPr>
              <a:t>请君试问东流水，别意与之谁短长？</a:t>
            </a:r>
          </a:p>
        </p:txBody>
      </p:sp>
      <p:sp>
        <p:nvSpPr>
          <p:cNvPr id="10" name="TextBox 9"/>
          <p:cNvSpPr txBox="1"/>
          <p:nvPr/>
        </p:nvSpPr>
        <p:spPr>
          <a:xfrm>
            <a:off x="6492240" y="1417320"/>
            <a:ext cx="5029200" cy="4389120"/>
          </a:xfrm>
          <a:prstGeom prst="rect">
            <a:avLst/>
          </a:prstGeom>
          <a:noFill/>
        </p:spPr>
        <p:txBody>
          <a:bodyPr wrap="square" anchor="t"/>
          <a:lstStyle/>
          <a:p>
            <a:pPr algn="l">
              <a:spcAft>
                <a:spcPts val="400"/>
              </a:spcAft>
            </a:pPr>
            <a:r>
              <a:rPr sz="1300" b="0" i="0">
                <a:solidFill>
                  <a:srgbClr val="2C3548"/>
                </a:solidFill>
                <a:latin typeface="Microsoft YaHei"/>
                <a:ea typeface="Microsoft YaHei"/>
              </a:rPr>
              <a:t>Wind blows willow catkins—fragrance fills the shop;</a:t>
            </a:r>
          </a:p>
          <a:p>
            <a:pPr algn="l">
              <a:spcAft>
                <a:spcPts val="400"/>
              </a:spcAft>
            </a:pPr>
            <a:r>
              <a:rPr sz="1300" b="0" i="0">
                <a:solidFill>
                  <a:srgbClr val="2C3548"/>
                </a:solidFill>
                <a:latin typeface="Microsoft YaHei"/>
                <a:ea typeface="Microsoft YaHei"/>
              </a:rPr>
              <a:t>Wu girls press fresh wine and call guests to taste.</a:t>
            </a:r>
          </a:p>
          <a:p>
            <a:pPr algn="l">
              <a:spcAft>
                <a:spcPts val="400"/>
              </a:spcAft>
            </a:pPr>
            <a:r>
              <a:rPr sz="1300" b="0" i="0">
                <a:solidFill>
                  <a:srgbClr val="2C3548"/>
                </a:solidFill>
                <a:latin typeface="Microsoft YaHei"/>
                <a:ea typeface="Microsoft YaHei"/>
              </a:rPr>
              <a:t>Young men of Jinling come to see me off;</a:t>
            </a:r>
          </a:p>
          <a:p>
            <a:pPr algn="l">
              <a:spcAft>
                <a:spcPts val="400"/>
              </a:spcAft>
            </a:pPr>
            <a:r>
              <a:rPr sz="1300" b="0" i="0">
                <a:solidFill>
                  <a:srgbClr val="2C3548"/>
                </a:solidFill>
                <a:latin typeface="Microsoft YaHei"/>
                <a:ea typeface="Microsoft YaHei"/>
              </a:rPr>
              <a:t>Ready to leave yet lingering, we drain every cup.</a:t>
            </a:r>
          </a:p>
          <a:p>
            <a:pPr algn="l">
              <a:spcAft>
                <a:spcPts val="400"/>
              </a:spcAft>
            </a:pPr>
            <a:r>
              <a:rPr sz="1300" b="0" i="0">
                <a:solidFill>
                  <a:srgbClr val="2C3548"/>
                </a:solidFill>
                <a:latin typeface="Microsoft YaHei"/>
                <a:ea typeface="Microsoft YaHei"/>
              </a:rPr>
              <a:t>I ask you—ask the eastward-flowing river:</a:t>
            </a:r>
          </a:p>
          <a:p>
            <a:pPr algn="l">
              <a:spcAft>
                <a:spcPts val="400"/>
              </a:spcAft>
            </a:pPr>
            <a:r>
              <a:rPr sz="1300" b="0" i="0">
                <a:solidFill>
                  <a:srgbClr val="2C3548"/>
                </a:solidFill>
                <a:latin typeface="Microsoft YaHei"/>
                <a:ea typeface="Microsoft YaHei"/>
              </a:rPr>
              <a:t>Whose parting sorrow is longer, yours or its waters?</a:t>
            </a:r>
          </a:p>
        </p:txBody>
      </p:sp>
      <p:sp>
        <p:nvSpPr>
          <p:cNvPr id="11" name="TextBox 10"/>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金陵酒肆留别  |  27/83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《金陵酒肆留别》 · 创作背景 Context</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李白在金陵（南京）与当地友人宴别。江南春日、柳花飘香、酒肆吴姬，构成明丽的送别场景。与一般凄苦离歌不同，此诗以豪爽畅饮写别情，末句以东流水作比，将抽象的“别意”化为可感的江水长度，构思精巧而气势开朗。</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A farewell banquet in Jinling. Spring willow fragrance and Wu tavern girls set a bright scene. Unlike mournful parting poems, this one drinks boldly and compares parting sorrow to the endless eastward river.</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金陵酒肆留别  |  28/83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《金陵酒肆留别》 · 诗文意义 Meaning</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前四句写饯别的声色与人情：风、花、酒、人，一片热闹；结句陡然一问，把酒席上的依依不舍推向哲理高度。流水无穷，别意亦无穷——以问作结，余味不尽，体现李白送别诗“豪中有深情”的独特气质。</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Sensory bustle fills the first lines; the final question lifts farewell into philosophy. Endless water, endless parting—closing with a question leaves the emotion open, typical of Li Bai’s bold yet deeply felt leave-takings.</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金陵酒肆留别  |  29/83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144000" cy="365760"/>
          </a:xfrm>
          <a:prstGeom prst="rect">
            <a:avLst/>
          </a:prstGeom>
          <a:noFill/>
        </p:spPr>
        <p:txBody>
          <a:bodyPr wrap="square" anchor="t"/>
          <a:lstStyle/>
          <a:p>
            <a:pPr algn="l">
              <a:spcAft>
                <a:spcPts val="400"/>
              </a:spcAft>
            </a:pPr>
            <a:r>
              <a:rPr sz="1600" b="1" i="0">
                <a:solidFill>
                  <a:srgbClr val="A67C52"/>
                </a:solidFill>
                <a:latin typeface="Microsoft YaHei"/>
                <a:ea typeface="Microsoft YaHei"/>
              </a:rPr>
              <a:t>第 5 篇  /  Poem 5</a:t>
            </a:r>
          </a:p>
        </p:txBody>
      </p:sp>
      <p:sp>
        <p:nvSpPr>
          <p:cNvPr id="5" name="TextBox 4"/>
          <p:cNvSpPr txBox="1"/>
          <p:nvPr/>
        </p:nvSpPr>
        <p:spPr>
          <a:xfrm>
            <a:off x="1097280" y="2377440"/>
            <a:ext cx="10058400" cy="822960"/>
          </a:xfrm>
          <a:prstGeom prst="rect">
            <a:avLst/>
          </a:prstGeom>
          <a:noFill/>
        </p:spPr>
        <p:txBody>
          <a:bodyPr wrap="square" anchor="t"/>
          <a:lstStyle/>
          <a:p>
            <a:pPr algn="l">
              <a:spcAft>
                <a:spcPts val="400"/>
              </a:spcAft>
            </a:pPr>
            <a:r>
              <a:rPr sz="4000" b="1" i="0">
                <a:solidFill>
                  <a:srgbClr val="FFFFFF"/>
                </a:solidFill>
                <a:latin typeface="Microsoft YaHei"/>
                <a:ea typeface="Microsoft YaHei"/>
              </a:rPr>
              <a:t>《长相思》</a:t>
            </a:r>
          </a:p>
        </p:txBody>
      </p:sp>
      <p:sp>
        <p:nvSpPr>
          <p:cNvPr id="6" name="TextBox 5"/>
          <p:cNvSpPr txBox="1"/>
          <p:nvPr/>
        </p:nvSpPr>
        <p:spPr>
          <a:xfrm>
            <a:off x="1097280" y="3291840"/>
            <a:ext cx="10058400" cy="457200"/>
          </a:xfrm>
          <a:prstGeom prst="rect">
            <a:avLst/>
          </a:prstGeom>
          <a:noFill/>
        </p:spPr>
        <p:txBody>
          <a:bodyPr wrap="square" anchor="t"/>
          <a:lstStyle/>
          <a:p>
            <a:pPr algn="l">
              <a:spcAft>
                <a:spcPts val="400"/>
              </a:spcAft>
            </a:pPr>
            <a:r>
              <a:rPr sz="2000" b="0" i="1">
                <a:solidFill>
                  <a:srgbClr val="E8E0D0"/>
                </a:solidFill>
                <a:latin typeface="Microsoft YaHei"/>
                <a:ea typeface="Microsoft YaHei"/>
              </a:rPr>
              <a:t>Everlasting Longing (Changxiangsi)</a:t>
            </a:r>
          </a:p>
        </p:txBody>
      </p:sp>
      <p:sp>
        <p:nvSpPr>
          <p:cNvPr id="7" name="Rectangle 6"/>
          <p:cNvSpPr/>
          <p:nvPr/>
        </p:nvSpPr>
        <p:spPr>
          <a:xfrm>
            <a:off x="1097280" y="3931920"/>
            <a:ext cx="2011680" cy="54864"/>
          </a:xfrm>
          <a:prstGeom prst="rect">
            <a:avLst/>
          </a:prstGeom>
          <a:solidFill>
            <a:srgbClr val="2A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731520"/>
          </a:xfrm>
          <a:prstGeom prst="rect">
            <a:avLst/>
          </a:prstGeom>
          <a:noFill/>
        </p:spPr>
        <p:txBody>
          <a:bodyPr wrap="square" anchor="t"/>
          <a:lstStyle/>
          <a:p>
            <a:pPr algn="l">
              <a:spcAft>
                <a:spcPts val="400"/>
              </a:spcAft>
            </a:pPr>
            <a:r>
              <a:rPr sz="1400" b="0" i="0">
                <a:solidFill>
                  <a:srgbClr val="F7F3EB"/>
                </a:solidFill>
                <a:latin typeface="Microsoft YaHei"/>
                <a:ea typeface="Microsoft YaHei"/>
              </a:rPr>
              <a:t>乐府歌行 / Yuefu song</a:t>
            </a:r>
          </a:p>
          <a:p>
            <a:pPr algn="l">
              <a:spcAft>
                <a:spcPts val="400"/>
              </a:spcAft>
            </a:pPr>
            <a:r>
              <a:rPr sz="1400" b="0" i="0">
                <a:solidFill>
                  <a:srgbClr val="F7F3EB"/>
                </a:solidFill>
                <a:latin typeface="Microsoft YaHei"/>
                <a:ea typeface="Microsoft YaHei"/>
              </a:rPr>
              <a:t>约天宝初年 · 长安时期或此后不久</a:t>
            </a:r>
          </a:p>
          <a:p>
            <a:pPr algn="l">
              <a:spcAft>
                <a:spcPts val="400"/>
              </a:spcAft>
            </a:pPr>
            <a:r>
              <a:rPr sz="1400" b="0" i="0">
                <a:solidFill>
                  <a:srgbClr val="F7F3EB"/>
                </a:solidFill>
                <a:latin typeface="Microsoft YaHei"/>
                <a:ea typeface="Microsoft YaHei"/>
              </a:rPr>
              <a:t>关键词 Keywords：相思 · 长安 · 比兴 · 孤夜</a:t>
            </a:r>
          </a:p>
        </p:txBody>
      </p:sp>
      <p:sp>
        <p:nvSpPr>
          <p:cNvPr id="9" name="TextBox 8"/>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长相思  |  30/83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《长相思》 · 原文 Original Chinese</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800" b="0" i="0">
                <a:solidFill>
                  <a:srgbClr val="1A1F2E"/>
                </a:solidFill>
                <a:latin typeface="Microsoft YaHei"/>
                <a:ea typeface="Microsoft YaHei"/>
              </a:rPr>
              <a:t>长相思，在长安。</a:t>
            </a:r>
          </a:p>
          <a:p>
            <a:pPr algn="l">
              <a:spcAft>
                <a:spcPts val="400"/>
              </a:spcAft>
            </a:pPr>
            <a:r>
              <a:rPr sz="1800" b="0" i="0">
                <a:solidFill>
                  <a:srgbClr val="1A1F2E"/>
                </a:solidFill>
                <a:latin typeface="Microsoft YaHei"/>
                <a:ea typeface="Microsoft YaHei"/>
              </a:rPr>
              <a:t>络纬秋啼金井阑，微霜凄凄簟色寒。</a:t>
            </a:r>
          </a:p>
          <a:p>
            <a:pPr algn="l">
              <a:spcAft>
                <a:spcPts val="400"/>
              </a:spcAft>
            </a:pPr>
            <a:r>
              <a:rPr sz="1800" b="0" i="0">
                <a:solidFill>
                  <a:srgbClr val="1A1F2E"/>
                </a:solidFill>
                <a:latin typeface="Microsoft YaHei"/>
                <a:ea typeface="Microsoft YaHei"/>
              </a:rPr>
              <a:t>孤灯不明思欲绝，卷帷望月空长叹。</a:t>
            </a:r>
          </a:p>
          <a:p>
            <a:pPr algn="l">
              <a:spcAft>
                <a:spcPts val="400"/>
              </a:spcAft>
            </a:pPr>
            <a:r>
              <a:rPr sz="1800" b="0" i="0">
                <a:solidFill>
                  <a:srgbClr val="1A1F2E"/>
                </a:solidFill>
                <a:latin typeface="Microsoft YaHei"/>
                <a:ea typeface="Microsoft YaHei"/>
              </a:rPr>
              <a:t>美人如花隔云端。</a:t>
            </a:r>
          </a:p>
          <a:p>
            <a:pPr algn="l">
              <a:spcAft>
                <a:spcPts val="400"/>
              </a:spcAft>
            </a:pPr>
            <a:r>
              <a:rPr sz="1800" b="0" i="0">
                <a:solidFill>
                  <a:srgbClr val="1A1F2E"/>
                </a:solidFill>
                <a:latin typeface="Microsoft YaHei"/>
                <a:ea typeface="Microsoft YaHei"/>
              </a:rPr>
              <a:t>上有青冥之长天，下有渌水之波澜。</a:t>
            </a:r>
          </a:p>
          <a:p>
            <a:pPr algn="l">
              <a:spcAft>
                <a:spcPts val="400"/>
              </a:spcAft>
            </a:pPr>
            <a:r>
              <a:rPr sz="1800" b="0" i="0">
                <a:solidFill>
                  <a:srgbClr val="1A1F2E"/>
                </a:solidFill>
                <a:latin typeface="Microsoft YaHei"/>
                <a:ea typeface="Microsoft YaHei"/>
              </a:rPr>
              <a:t>天长路远魂飞苦，梦魂不到关山难。</a:t>
            </a:r>
          </a:p>
          <a:p>
            <a:pPr algn="l">
              <a:spcAft>
                <a:spcPts val="400"/>
              </a:spcAft>
            </a:pPr>
            <a:r>
              <a:rPr sz="1800" b="0" i="0">
                <a:solidFill>
                  <a:srgbClr val="1A1F2E"/>
                </a:solidFill>
                <a:latin typeface="Microsoft YaHei"/>
                <a:ea typeface="Microsoft YaHei"/>
              </a:rPr>
              <a:t>长相思，摧心肝。</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长相思  |  31/83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Everlasting Longing (Changxiangsi) · 英译 English Translation</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600" b="0" i="0">
                <a:solidFill>
                  <a:srgbClr val="2C3548"/>
                </a:solidFill>
                <a:latin typeface="Microsoft YaHei"/>
                <a:ea typeface="Microsoft YaHei"/>
              </a:rPr>
              <a:t>Everlasting longing—far away in Chang’an.</a:t>
            </a:r>
          </a:p>
          <a:p>
            <a:pPr algn="l">
              <a:spcAft>
                <a:spcPts val="400"/>
              </a:spcAft>
            </a:pPr>
            <a:r>
              <a:rPr sz="1600" b="0" i="0">
                <a:solidFill>
                  <a:srgbClr val="2C3548"/>
                </a:solidFill>
                <a:latin typeface="Microsoft YaHei"/>
                <a:ea typeface="Microsoft YaHei"/>
              </a:rPr>
              <a:t>Autumn crickets cry by the golden well railing;</a:t>
            </a:r>
          </a:p>
          <a:p>
            <a:pPr algn="l">
              <a:spcAft>
                <a:spcPts val="400"/>
              </a:spcAft>
            </a:pPr>
            <a:r>
              <a:rPr sz="1600" b="0" i="0">
                <a:solidFill>
                  <a:srgbClr val="2C3548"/>
                </a:solidFill>
                <a:latin typeface="Microsoft YaHei"/>
                <a:ea typeface="Microsoft YaHei"/>
              </a:rPr>
              <a:t>Thin frost chills the bamboo mat.</a:t>
            </a:r>
          </a:p>
          <a:p>
            <a:pPr algn="l">
              <a:spcAft>
                <a:spcPts val="400"/>
              </a:spcAft>
            </a:pPr>
            <a:r>
              <a:rPr sz="1600" b="0" i="0">
                <a:solidFill>
                  <a:srgbClr val="2C3548"/>
                </a:solidFill>
                <a:latin typeface="Microsoft YaHei"/>
                <a:ea typeface="Microsoft YaHei"/>
              </a:rPr>
              <a:t>A lone lamp dims; longing nearly breaks me.</a:t>
            </a:r>
          </a:p>
          <a:p>
            <a:pPr algn="l">
              <a:spcAft>
                <a:spcPts val="400"/>
              </a:spcAft>
            </a:pPr>
            <a:r>
              <a:rPr sz="1600" b="0" i="0">
                <a:solidFill>
                  <a:srgbClr val="2C3548"/>
                </a:solidFill>
                <a:latin typeface="Microsoft YaHei"/>
                <a:ea typeface="Microsoft YaHei"/>
              </a:rPr>
              <a:t>I roll up the curtain, gaze at the moon, and sigh in vain.</a:t>
            </a:r>
          </a:p>
          <a:p>
            <a:pPr algn="l">
              <a:spcAft>
                <a:spcPts val="400"/>
              </a:spcAft>
            </a:pPr>
            <a:r>
              <a:rPr sz="1600" b="0" i="0">
                <a:solidFill>
                  <a:srgbClr val="2C3548"/>
                </a:solidFill>
                <a:latin typeface="Microsoft YaHei"/>
                <a:ea typeface="Microsoft YaHei"/>
              </a:rPr>
              <a:t>The beauty, flower-like, is barred beyond the clouds.</a:t>
            </a:r>
          </a:p>
          <a:p>
            <a:pPr algn="l">
              <a:spcAft>
                <a:spcPts val="400"/>
              </a:spcAft>
            </a:pPr>
            <a:r>
              <a:rPr sz="1600" b="0" i="0">
                <a:solidFill>
                  <a:srgbClr val="2C3548"/>
                </a:solidFill>
                <a:latin typeface="Microsoft YaHei"/>
                <a:ea typeface="Microsoft YaHei"/>
              </a:rPr>
              <a:t>Above: the long blue vault of heaven;</a:t>
            </a:r>
          </a:p>
          <a:p>
            <a:pPr algn="l">
              <a:spcAft>
                <a:spcPts val="400"/>
              </a:spcAft>
            </a:pPr>
            <a:r>
              <a:rPr sz="1600" b="0" i="0">
                <a:solidFill>
                  <a:srgbClr val="2C3548"/>
                </a:solidFill>
                <a:latin typeface="Microsoft YaHei"/>
                <a:ea typeface="Microsoft YaHei"/>
              </a:rPr>
              <a:t>Below: clear waters rolling in waves.</a:t>
            </a:r>
          </a:p>
          <a:p>
            <a:pPr algn="l">
              <a:spcAft>
                <a:spcPts val="400"/>
              </a:spcAft>
            </a:pPr>
            <a:r>
              <a:rPr sz="1600" b="0" i="0">
                <a:solidFill>
                  <a:srgbClr val="2C3548"/>
                </a:solidFill>
                <a:latin typeface="Microsoft YaHei"/>
                <a:ea typeface="Microsoft YaHei"/>
              </a:rPr>
              <a:t>Heaven is long, the road far—the soul flies in torment;</a:t>
            </a:r>
          </a:p>
          <a:p>
            <a:pPr algn="l">
              <a:spcAft>
                <a:spcPts val="400"/>
              </a:spcAft>
            </a:pPr>
            <a:r>
              <a:rPr sz="1600" b="0" i="0">
                <a:solidFill>
                  <a:srgbClr val="2C3548"/>
                </a:solidFill>
                <a:latin typeface="Microsoft YaHei"/>
                <a:ea typeface="Microsoft YaHei"/>
              </a:rPr>
              <a:t>Even in dreams it cannot cross the hard mountain passes.</a:t>
            </a:r>
          </a:p>
          <a:p>
            <a:pPr algn="l">
              <a:spcAft>
                <a:spcPts val="400"/>
              </a:spcAft>
            </a:pPr>
            <a:r>
              <a:rPr sz="1600" b="0" i="0">
                <a:solidFill>
                  <a:srgbClr val="2C3548"/>
                </a:solidFill>
                <a:latin typeface="Microsoft YaHei"/>
                <a:ea typeface="Microsoft YaHei"/>
              </a:rPr>
              <a:t>Everlasting longing—it crushes the heart.</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长相思  |  32/83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《长相思》 · 中英对照 Bilingual</a:t>
            </a:r>
          </a:p>
        </p:txBody>
      </p:sp>
      <p:sp>
        <p:nvSpPr>
          <p:cNvPr id="5" name="Rectangle 4"/>
          <p:cNvSpPr/>
          <p:nvPr/>
        </p:nvSpPr>
        <p:spPr>
          <a:xfrm>
            <a:off x="457200" y="914400"/>
            <a:ext cx="5394960" cy="502920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09360" y="914400"/>
            <a:ext cx="5394960" cy="5029200"/>
          </a:xfrm>
          <a:prstGeom prst="rect">
            <a:avLst/>
          </a:prstGeom>
          <a:solidFill>
            <a:srgbClr val="EE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中文</a:t>
            </a:r>
          </a:p>
        </p:txBody>
      </p:sp>
      <p:sp>
        <p:nvSpPr>
          <p:cNvPr id="8" name="TextBox 7"/>
          <p:cNvSpPr txBox="1"/>
          <p:nvPr/>
        </p:nvSpPr>
        <p:spPr>
          <a:xfrm>
            <a:off x="649224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English</a:t>
            </a:r>
          </a:p>
        </p:txBody>
      </p:sp>
      <p:sp>
        <p:nvSpPr>
          <p:cNvPr id="9" name="TextBox 8"/>
          <p:cNvSpPr txBox="1"/>
          <p:nvPr/>
        </p:nvSpPr>
        <p:spPr>
          <a:xfrm>
            <a:off x="640080" y="1417320"/>
            <a:ext cx="5029200" cy="438912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长相思，在长安。</a:t>
            </a:r>
          </a:p>
          <a:p>
            <a:pPr algn="l">
              <a:spcAft>
                <a:spcPts val="400"/>
              </a:spcAft>
            </a:pPr>
            <a:r>
              <a:rPr sz="1600" b="0" i="0">
                <a:solidFill>
                  <a:srgbClr val="1A1F2E"/>
                </a:solidFill>
                <a:latin typeface="Microsoft YaHei"/>
                <a:ea typeface="Microsoft YaHei"/>
              </a:rPr>
              <a:t>络纬秋啼金井阑，微霜凄凄簟色寒。</a:t>
            </a:r>
          </a:p>
          <a:p>
            <a:pPr algn="l">
              <a:spcAft>
                <a:spcPts val="400"/>
              </a:spcAft>
            </a:pPr>
            <a:r>
              <a:rPr sz="1600" b="0" i="0">
                <a:solidFill>
                  <a:srgbClr val="1A1F2E"/>
                </a:solidFill>
                <a:latin typeface="Microsoft YaHei"/>
                <a:ea typeface="Microsoft YaHei"/>
              </a:rPr>
              <a:t>孤灯不明思欲绝，卷帷望月空长叹。</a:t>
            </a:r>
          </a:p>
          <a:p>
            <a:pPr algn="l">
              <a:spcAft>
                <a:spcPts val="400"/>
              </a:spcAft>
            </a:pPr>
            <a:r>
              <a:rPr sz="1600" b="0" i="0">
                <a:solidFill>
                  <a:srgbClr val="1A1F2E"/>
                </a:solidFill>
                <a:latin typeface="Microsoft YaHei"/>
                <a:ea typeface="Microsoft YaHei"/>
              </a:rPr>
              <a:t>美人如花隔云端。</a:t>
            </a:r>
          </a:p>
          <a:p>
            <a:pPr algn="l">
              <a:spcAft>
                <a:spcPts val="400"/>
              </a:spcAft>
            </a:pPr>
            <a:r>
              <a:rPr sz="1600" b="0" i="0">
                <a:solidFill>
                  <a:srgbClr val="1A1F2E"/>
                </a:solidFill>
                <a:latin typeface="Microsoft YaHei"/>
                <a:ea typeface="Microsoft YaHei"/>
              </a:rPr>
              <a:t>上有青冥之长天，下有渌水之波澜。</a:t>
            </a:r>
          </a:p>
          <a:p>
            <a:pPr algn="l">
              <a:spcAft>
                <a:spcPts val="400"/>
              </a:spcAft>
            </a:pPr>
            <a:r>
              <a:rPr sz="1600" b="0" i="0">
                <a:solidFill>
                  <a:srgbClr val="1A1F2E"/>
                </a:solidFill>
                <a:latin typeface="Microsoft YaHei"/>
                <a:ea typeface="Microsoft YaHei"/>
              </a:rPr>
              <a:t>天长路远魂飞苦，梦魂不到关山难。</a:t>
            </a:r>
          </a:p>
          <a:p>
            <a:pPr algn="l">
              <a:spcAft>
                <a:spcPts val="400"/>
              </a:spcAft>
            </a:pPr>
            <a:r>
              <a:rPr sz="1600" b="0" i="0">
                <a:solidFill>
                  <a:srgbClr val="1A1F2E"/>
                </a:solidFill>
                <a:latin typeface="Microsoft YaHei"/>
                <a:ea typeface="Microsoft YaHei"/>
              </a:rPr>
              <a:t>长相思，摧心肝。</a:t>
            </a:r>
          </a:p>
        </p:txBody>
      </p:sp>
      <p:sp>
        <p:nvSpPr>
          <p:cNvPr id="10" name="TextBox 9"/>
          <p:cNvSpPr txBox="1"/>
          <p:nvPr/>
        </p:nvSpPr>
        <p:spPr>
          <a:xfrm>
            <a:off x="6492240" y="1417320"/>
            <a:ext cx="5029200" cy="4389120"/>
          </a:xfrm>
          <a:prstGeom prst="rect">
            <a:avLst/>
          </a:prstGeom>
          <a:noFill/>
        </p:spPr>
        <p:txBody>
          <a:bodyPr wrap="square" anchor="t"/>
          <a:lstStyle/>
          <a:p>
            <a:pPr algn="l">
              <a:spcAft>
                <a:spcPts val="400"/>
              </a:spcAft>
            </a:pPr>
            <a:r>
              <a:rPr sz="1300" b="0" i="0">
                <a:solidFill>
                  <a:srgbClr val="2C3548"/>
                </a:solidFill>
                <a:latin typeface="Microsoft YaHei"/>
                <a:ea typeface="Microsoft YaHei"/>
              </a:rPr>
              <a:t>Everlasting longing—far away in Chang’an.</a:t>
            </a:r>
          </a:p>
          <a:p>
            <a:pPr algn="l">
              <a:spcAft>
                <a:spcPts val="400"/>
              </a:spcAft>
            </a:pPr>
            <a:r>
              <a:rPr sz="1300" b="0" i="0">
                <a:solidFill>
                  <a:srgbClr val="2C3548"/>
                </a:solidFill>
                <a:latin typeface="Microsoft YaHei"/>
                <a:ea typeface="Microsoft YaHei"/>
              </a:rPr>
              <a:t>Autumn crickets cry by the golden well railing;</a:t>
            </a:r>
          </a:p>
          <a:p>
            <a:pPr algn="l">
              <a:spcAft>
                <a:spcPts val="400"/>
              </a:spcAft>
            </a:pPr>
            <a:r>
              <a:rPr sz="1300" b="0" i="0">
                <a:solidFill>
                  <a:srgbClr val="2C3548"/>
                </a:solidFill>
                <a:latin typeface="Microsoft YaHei"/>
                <a:ea typeface="Microsoft YaHei"/>
              </a:rPr>
              <a:t>Thin frost chills the bamboo mat.</a:t>
            </a:r>
          </a:p>
          <a:p>
            <a:pPr algn="l">
              <a:spcAft>
                <a:spcPts val="400"/>
              </a:spcAft>
            </a:pPr>
            <a:r>
              <a:rPr sz="1300" b="0" i="0">
                <a:solidFill>
                  <a:srgbClr val="2C3548"/>
                </a:solidFill>
                <a:latin typeface="Microsoft YaHei"/>
                <a:ea typeface="Microsoft YaHei"/>
              </a:rPr>
              <a:t>A lone lamp dims; longing nearly breaks me.</a:t>
            </a:r>
          </a:p>
          <a:p>
            <a:pPr algn="l">
              <a:spcAft>
                <a:spcPts val="400"/>
              </a:spcAft>
            </a:pPr>
            <a:r>
              <a:rPr sz="1300" b="0" i="0">
                <a:solidFill>
                  <a:srgbClr val="2C3548"/>
                </a:solidFill>
                <a:latin typeface="Microsoft YaHei"/>
                <a:ea typeface="Microsoft YaHei"/>
              </a:rPr>
              <a:t>I roll up the curtain, gaze at the moon, and sigh in vain.</a:t>
            </a:r>
          </a:p>
          <a:p>
            <a:pPr algn="l">
              <a:spcAft>
                <a:spcPts val="400"/>
              </a:spcAft>
            </a:pPr>
            <a:r>
              <a:rPr sz="1300" b="0" i="0">
                <a:solidFill>
                  <a:srgbClr val="2C3548"/>
                </a:solidFill>
                <a:latin typeface="Microsoft YaHei"/>
                <a:ea typeface="Microsoft YaHei"/>
              </a:rPr>
              <a:t>The beauty, flower-like, is barred beyond the clouds.</a:t>
            </a:r>
          </a:p>
          <a:p>
            <a:pPr algn="l">
              <a:spcAft>
                <a:spcPts val="400"/>
              </a:spcAft>
            </a:pPr>
            <a:r>
              <a:rPr sz="1300" b="0" i="0">
                <a:solidFill>
                  <a:srgbClr val="2C3548"/>
                </a:solidFill>
                <a:latin typeface="Microsoft YaHei"/>
                <a:ea typeface="Microsoft YaHei"/>
              </a:rPr>
              <a:t>Above: the long blue vault of heaven;</a:t>
            </a:r>
          </a:p>
          <a:p>
            <a:pPr algn="l">
              <a:spcAft>
                <a:spcPts val="400"/>
              </a:spcAft>
            </a:pPr>
            <a:r>
              <a:rPr sz="1300" b="0" i="0">
                <a:solidFill>
                  <a:srgbClr val="2C3548"/>
                </a:solidFill>
                <a:latin typeface="Microsoft YaHei"/>
                <a:ea typeface="Microsoft YaHei"/>
              </a:rPr>
              <a:t>Below: clear waters rolling in waves.</a:t>
            </a:r>
          </a:p>
          <a:p>
            <a:pPr algn="l">
              <a:spcAft>
                <a:spcPts val="400"/>
              </a:spcAft>
            </a:pPr>
            <a:r>
              <a:rPr sz="1300" b="0" i="0">
                <a:solidFill>
                  <a:srgbClr val="2C3548"/>
                </a:solidFill>
                <a:latin typeface="Microsoft YaHei"/>
                <a:ea typeface="Microsoft YaHei"/>
              </a:rPr>
              <a:t>Heaven is long, the road far—the soul flies in torment;</a:t>
            </a:r>
          </a:p>
          <a:p>
            <a:pPr algn="l">
              <a:spcAft>
                <a:spcPts val="400"/>
              </a:spcAft>
            </a:pPr>
            <a:r>
              <a:rPr sz="1300" b="0" i="0">
                <a:solidFill>
                  <a:srgbClr val="2C3548"/>
                </a:solidFill>
                <a:latin typeface="Microsoft YaHei"/>
                <a:ea typeface="Microsoft YaHei"/>
              </a:rPr>
              <a:t>Even in dreams it cannot cross the hard mountain passes.</a:t>
            </a:r>
          </a:p>
          <a:p>
            <a:pPr algn="l">
              <a:spcAft>
                <a:spcPts val="400"/>
              </a:spcAft>
            </a:pPr>
            <a:r>
              <a:rPr sz="1300" b="0" i="0">
                <a:solidFill>
                  <a:srgbClr val="2C3548"/>
                </a:solidFill>
                <a:latin typeface="Microsoft YaHei"/>
                <a:ea typeface="Microsoft YaHei"/>
              </a:rPr>
              <a:t>Everlasting longing—it crushes the heart.</a:t>
            </a:r>
          </a:p>
        </p:txBody>
      </p:sp>
      <p:sp>
        <p:nvSpPr>
          <p:cNvPr id="11" name="TextBox 10"/>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长相思  |  33/83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《长相思》 · 创作背景 Context</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李白《长相思》有多首，此为最著名的一篇。传统上或解为男女相思，或解为政治失意下对君主与理想的向往——“美人”常作比兴，象征贤君或政治理想。诗写于长安相关语境中，秋夜孤灯、关山难越，与诗人供奉翰林前后复杂心境相呼应。</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The most famous of Li Bai’s Changxiangsi poems. Read as romantic longing or, allegorically, as yearning for a ruler/ideal (“beauty” as bi-xing symbol). Autumn night, lone lamp, and impassable passes echo his Chang’an-period unease.</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长相思  |  34/83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《长相思》 · 诗文意义 Meaning</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开篇点题“在长安”，以秋虫、微霜、孤灯、望月层层渲染凄清；“美人如花隔云端”将思念对象推至可望而不可即的高度。天长路远、梦魂难到，把空间阻隔与心理绝望写到极致；首尾“长相思”回环，形成强烈的情感节奏。既是相思曲，也是政治失意的心灵独白。</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Autumn insects, frost, a lone lamp, and moonlight build desolation; the cloud-barred beauty is forever out of reach. Distance defeats even dreams. The refrain “everlasting longing” frames a song of desire—and of thwarted ambition.</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长相思  |  35/83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144000" cy="365760"/>
          </a:xfrm>
          <a:prstGeom prst="rect">
            <a:avLst/>
          </a:prstGeom>
          <a:noFill/>
        </p:spPr>
        <p:txBody>
          <a:bodyPr wrap="square" anchor="t"/>
          <a:lstStyle/>
          <a:p>
            <a:pPr algn="l">
              <a:spcAft>
                <a:spcPts val="400"/>
              </a:spcAft>
            </a:pPr>
            <a:r>
              <a:rPr sz="1600" b="1" i="0">
                <a:solidFill>
                  <a:srgbClr val="A67C52"/>
                </a:solidFill>
                <a:latin typeface="Microsoft YaHei"/>
                <a:ea typeface="Microsoft YaHei"/>
              </a:rPr>
              <a:t>第 6 篇  /  Poem 6</a:t>
            </a:r>
          </a:p>
        </p:txBody>
      </p:sp>
      <p:sp>
        <p:nvSpPr>
          <p:cNvPr id="5" name="TextBox 4"/>
          <p:cNvSpPr txBox="1"/>
          <p:nvPr/>
        </p:nvSpPr>
        <p:spPr>
          <a:xfrm>
            <a:off x="1097280" y="2377440"/>
            <a:ext cx="10058400" cy="822960"/>
          </a:xfrm>
          <a:prstGeom prst="rect">
            <a:avLst/>
          </a:prstGeom>
          <a:noFill/>
        </p:spPr>
        <p:txBody>
          <a:bodyPr wrap="square" anchor="t"/>
          <a:lstStyle/>
          <a:p>
            <a:pPr algn="l">
              <a:spcAft>
                <a:spcPts val="400"/>
              </a:spcAft>
            </a:pPr>
            <a:r>
              <a:rPr sz="4000" b="1" i="0">
                <a:solidFill>
                  <a:srgbClr val="FFFFFF"/>
                </a:solidFill>
                <a:latin typeface="Microsoft YaHei"/>
                <a:ea typeface="Microsoft YaHei"/>
              </a:rPr>
              <a:t>《行路难（其一）》</a:t>
            </a:r>
          </a:p>
        </p:txBody>
      </p:sp>
      <p:sp>
        <p:nvSpPr>
          <p:cNvPr id="6" name="TextBox 5"/>
          <p:cNvSpPr txBox="1"/>
          <p:nvPr/>
        </p:nvSpPr>
        <p:spPr>
          <a:xfrm>
            <a:off x="1097280" y="3291840"/>
            <a:ext cx="10058400" cy="457200"/>
          </a:xfrm>
          <a:prstGeom prst="rect">
            <a:avLst/>
          </a:prstGeom>
          <a:noFill/>
        </p:spPr>
        <p:txBody>
          <a:bodyPr wrap="square" anchor="t"/>
          <a:lstStyle/>
          <a:p>
            <a:pPr algn="l">
              <a:spcAft>
                <a:spcPts val="400"/>
              </a:spcAft>
            </a:pPr>
            <a:r>
              <a:rPr sz="2000" b="0" i="1">
                <a:solidFill>
                  <a:srgbClr val="E8E0D0"/>
                </a:solidFill>
                <a:latin typeface="Microsoft YaHei"/>
                <a:ea typeface="Microsoft YaHei"/>
              </a:rPr>
              <a:t>Hard Is the Road (I)</a:t>
            </a:r>
          </a:p>
        </p:txBody>
      </p:sp>
      <p:sp>
        <p:nvSpPr>
          <p:cNvPr id="7" name="Rectangle 6"/>
          <p:cNvSpPr/>
          <p:nvPr/>
        </p:nvSpPr>
        <p:spPr>
          <a:xfrm>
            <a:off x="1097280" y="3931920"/>
            <a:ext cx="2011680" cy="54864"/>
          </a:xfrm>
          <a:prstGeom prst="rect">
            <a:avLst/>
          </a:prstGeom>
          <a:solidFill>
            <a:srgbClr val="2A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731520"/>
          </a:xfrm>
          <a:prstGeom prst="rect">
            <a:avLst/>
          </a:prstGeom>
          <a:noFill/>
        </p:spPr>
        <p:txBody>
          <a:bodyPr wrap="square" anchor="t"/>
          <a:lstStyle/>
          <a:p>
            <a:pPr algn="l">
              <a:spcAft>
                <a:spcPts val="400"/>
              </a:spcAft>
            </a:pPr>
            <a:r>
              <a:rPr sz="1400" b="0" i="0">
                <a:solidFill>
                  <a:srgbClr val="F7F3EB"/>
                </a:solidFill>
                <a:latin typeface="Microsoft YaHei"/>
                <a:ea typeface="Microsoft YaHei"/>
              </a:rPr>
              <a:t>乐府歌行 / Yuefu song</a:t>
            </a:r>
          </a:p>
          <a:p>
            <a:pPr algn="l">
              <a:spcAft>
                <a:spcPts val="400"/>
              </a:spcAft>
            </a:pPr>
            <a:r>
              <a:rPr sz="1400" b="0" i="0">
                <a:solidFill>
                  <a:srgbClr val="F7F3EB"/>
                </a:solidFill>
                <a:latin typeface="Microsoft YaHei"/>
                <a:ea typeface="Microsoft YaHei"/>
              </a:rPr>
              <a:t>天宝三载（744年）前后 · 赐金放还后</a:t>
            </a:r>
          </a:p>
          <a:p>
            <a:pPr algn="l">
              <a:spcAft>
                <a:spcPts val="400"/>
              </a:spcAft>
            </a:pPr>
            <a:r>
              <a:rPr sz="1400" b="0" i="0">
                <a:solidFill>
                  <a:srgbClr val="F7F3EB"/>
                </a:solidFill>
                <a:latin typeface="Microsoft YaHei"/>
                <a:ea typeface="Microsoft YaHei"/>
              </a:rPr>
              <a:t>关键词 Keywords：失路 · 信念 · 长风破浪 · 政治挫折</a:t>
            </a:r>
          </a:p>
        </p:txBody>
      </p:sp>
      <p:sp>
        <p:nvSpPr>
          <p:cNvPr id="9" name="TextBox 8"/>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行路难（其一）  |  36/83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《行路难（其一）》 · 原文 Original Chinese</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800" b="0" i="0">
                <a:solidFill>
                  <a:srgbClr val="1A1F2E"/>
                </a:solidFill>
                <a:latin typeface="Microsoft YaHei"/>
                <a:ea typeface="Microsoft YaHei"/>
              </a:rPr>
              <a:t>金樽清酒斗十千，玉盘珍羞直万钱。</a:t>
            </a:r>
          </a:p>
          <a:p>
            <a:pPr algn="l">
              <a:spcAft>
                <a:spcPts val="400"/>
              </a:spcAft>
            </a:pPr>
            <a:r>
              <a:rPr sz="1800" b="0" i="0">
                <a:solidFill>
                  <a:srgbClr val="1A1F2E"/>
                </a:solidFill>
                <a:latin typeface="Microsoft YaHei"/>
                <a:ea typeface="Microsoft YaHei"/>
              </a:rPr>
              <a:t>停杯投箸不能食，拔剑四顾心茫然。</a:t>
            </a:r>
          </a:p>
          <a:p>
            <a:pPr algn="l">
              <a:spcAft>
                <a:spcPts val="400"/>
              </a:spcAft>
            </a:pPr>
            <a:r>
              <a:rPr sz="1800" b="0" i="0">
                <a:solidFill>
                  <a:srgbClr val="1A1F2E"/>
                </a:solidFill>
                <a:latin typeface="Microsoft YaHei"/>
                <a:ea typeface="Microsoft YaHei"/>
              </a:rPr>
              <a:t>欲渡黄河冰塞川，将登太行雪满山。</a:t>
            </a:r>
          </a:p>
          <a:p>
            <a:pPr algn="l">
              <a:spcAft>
                <a:spcPts val="400"/>
              </a:spcAft>
            </a:pPr>
            <a:r>
              <a:rPr sz="1800" b="0" i="0">
                <a:solidFill>
                  <a:srgbClr val="1A1F2E"/>
                </a:solidFill>
                <a:latin typeface="Microsoft YaHei"/>
                <a:ea typeface="Microsoft YaHei"/>
              </a:rPr>
              <a:t>闲来垂钓碧溪上，忽复乘舟梦日边。</a:t>
            </a:r>
          </a:p>
          <a:p>
            <a:pPr algn="l">
              <a:spcAft>
                <a:spcPts val="400"/>
              </a:spcAft>
            </a:pPr>
            <a:r>
              <a:rPr sz="1800" b="0" i="0">
                <a:solidFill>
                  <a:srgbClr val="1A1F2E"/>
                </a:solidFill>
                <a:latin typeface="Microsoft YaHei"/>
                <a:ea typeface="Microsoft YaHei"/>
              </a:rPr>
              <a:t>行路难，行路难，多歧路，今安在？</a:t>
            </a:r>
          </a:p>
          <a:p>
            <a:pPr algn="l">
              <a:spcAft>
                <a:spcPts val="400"/>
              </a:spcAft>
            </a:pPr>
            <a:r>
              <a:rPr sz="1800" b="0" i="0">
                <a:solidFill>
                  <a:srgbClr val="1A1F2E"/>
                </a:solidFill>
                <a:latin typeface="Microsoft YaHei"/>
                <a:ea typeface="Microsoft YaHei"/>
              </a:rPr>
              <a:t>长风破浪会有时，直挂云帆济沧海。</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行路难（其一）  |  37/83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Hard Is the Road (I) · 英译 English Translation</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600" b="0" i="0">
                <a:solidFill>
                  <a:srgbClr val="2C3548"/>
                </a:solidFill>
                <a:latin typeface="Microsoft YaHei"/>
                <a:ea typeface="Microsoft YaHei"/>
              </a:rPr>
              <a:t>A golden cup of clear wine, ten thousand a measure;</a:t>
            </a:r>
          </a:p>
          <a:p>
            <a:pPr algn="l">
              <a:spcAft>
                <a:spcPts val="400"/>
              </a:spcAft>
            </a:pPr>
            <a:r>
              <a:rPr sz="1600" b="0" i="0">
                <a:solidFill>
                  <a:srgbClr val="2C3548"/>
                </a:solidFill>
                <a:latin typeface="Microsoft YaHei"/>
                <a:ea typeface="Microsoft YaHei"/>
              </a:rPr>
              <a:t>A jade plate of rare delicacies, worth a myriad cash.</a:t>
            </a:r>
          </a:p>
          <a:p>
            <a:pPr algn="l">
              <a:spcAft>
                <a:spcPts val="400"/>
              </a:spcAft>
            </a:pPr>
            <a:r>
              <a:rPr sz="1600" b="0" i="0">
                <a:solidFill>
                  <a:srgbClr val="2C3548"/>
                </a:solidFill>
                <a:latin typeface="Microsoft YaHei"/>
                <a:ea typeface="Microsoft YaHei"/>
              </a:rPr>
              <a:t>I set down the cup, throw aside the chopsticks—cannot eat;</a:t>
            </a:r>
          </a:p>
          <a:p>
            <a:pPr algn="l">
              <a:spcAft>
                <a:spcPts val="400"/>
              </a:spcAft>
            </a:pPr>
            <a:r>
              <a:rPr sz="1600" b="0" i="0">
                <a:solidFill>
                  <a:srgbClr val="2C3548"/>
                </a:solidFill>
                <a:latin typeface="Microsoft YaHei"/>
                <a:ea typeface="Microsoft YaHei"/>
              </a:rPr>
              <a:t>I draw my sword, look four ways—my heart is lost.</a:t>
            </a:r>
          </a:p>
          <a:p>
            <a:pPr algn="l">
              <a:spcAft>
                <a:spcPts val="400"/>
              </a:spcAft>
            </a:pPr>
            <a:r>
              <a:rPr sz="1600" b="0" i="0">
                <a:solidFill>
                  <a:srgbClr val="2C3548"/>
                </a:solidFill>
                <a:latin typeface="Microsoft YaHei"/>
                <a:ea typeface="Microsoft YaHei"/>
              </a:rPr>
              <a:t>I would cross the Yellow River—ice chokes the stream;</a:t>
            </a:r>
          </a:p>
          <a:p>
            <a:pPr algn="l">
              <a:spcAft>
                <a:spcPts val="400"/>
              </a:spcAft>
            </a:pPr>
            <a:r>
              <a:rPr sz="1600" b="0" i="0">
                <a:solidFill>
                  <a:srgbClr val="2C3548"/>
                </a:solidFill>
                <a:latin typeface="Microsoft YaHei"/>
                <a:ea typeface="Microsoft YaHei"/>
              </a:rPr>
              <a:t>I would climb the Taihang—snow seals the mountains.</a:t>
            </a:r>
          </a:p>
          <a:p>
            <a:pPr algn="l">
              <a:spcAft>
                <a:spcPts val="400"/>
              </a:spcAft>
            </a:pPr>
            <a:r>
              <a:rPr sz="1600" b="0" i="0">
                <a:solidFill>
                  <a:srgbClr val="2C3548"/>
                </a:solidFill>
                <a:latin typeface="Microsoft YaHei"/>
                <a:ea typeface="Microsoft YaHei"/>
              </a:rPr>
              <a:t>At leisure I fish on a jade-green creek;</a:t>
            </a:r>
          </a:p>
          <a:p>
            <a:pPr algn="l">
              <a:spcAft>
                <a:spcPts val="400"/>
              </a:spcAft>
            </a:pPr>
            <a:r>
              <a:rPr sz="1600" b="0" i="0">
                <a:solidFill>
                  <a:srgbClr val="2C3548"/>
                </a:solidFill>
                <a:latin typeface="Microsoft YaHei"/>
                <a:ea typeface="Microsoft YaHei"/>
              </a:rPr>
              <a:t>Suddenly again I dream of a boat beside the sun.</a:t>
            </a:r>
          </a:p>
          <a:p>
            <a:pPr algn="l">
              <a:spcAft>
                <a:spcPts val="400"/>
              </a:spcAft>
            </a:pPr>
            <a:r>
              <a:rPr sz="1600" b="0" i="0">
                <a:solidFill>
                  <a:srgbClr val="2C3548"/>
                </a:solidFill>
                <a:latin typeface="Microsoft YaHei"/>
                <a:ea typeface="Microsoft YaHei"/>
              </a:rPr>
              <a:t>Hard is the road, hard is the road!</a:t>
            </a:r>
          </a:p>
          <a:p>
            <a:pPr algn="l">
              <a:spcAft>
                <a:spcPts val="400"/>
              </a:spcAft>
            </a:pPr>
            <a:r>
              <a:rPr sz="1600" b="0" i="0">
                <a:solidFill>
                  <a:srgbClr val="2C3548"/>
                </a:solidFill>
                <a:latin typeface="Microsoft YaHei"/>
                <a:ea typeface="Microsoft YaHei"/>
              </a:rPr>
              <a:t>Many forked paths—where am I now?</a:t>
            </a:r>
          </a:p>
          <a:p>
            <a:pPr algn="l">
              <a:spcAft>
                <a:spcPts val="400"/>
              </a:spcAft>
            </a:pPr>
            <a:r>
              <a:rPr sz="1600" b="0" i="0">
                <a:solidFill>
                  <a:srgbClr val="2C3548"/>
                </a:solidFill>
                <a:latin typeface="Microsoft YaHei"/>
                <a:ea typeface="Microsoft YaHei"/>
              </a:rPr>
              <a:t>There will be a time to ride the wind and cleave the waves;</a:t>
            </a:r>
          </a:p>
          <a:p>
            <a:pPr algn="l">
              <a:spcAft>
                <a:spcPts val="400"/>
              </a:spcAft>
            </a:pPr>
            <a:r>
              <a:rPr sz="1600" b="0" i="0">
                <a:solidFill>
                  <a:srgbClr val="2C3548"/>
                </a:solidFill>
                <a:latin typeface="Microsoft YaHei"/>
                <a:ea typeface="Microsoft YaHei"/>
              </a:rPr>
              <a:t>I’ll hoist my cloudlike sail and cross the blue sea.</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行路难（其一）  |  38/83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《行路难（其一）》 · 中英对照 Bilingual</a:t>
            </a:r>
          </a:p>
        </p:txBody>
      </p:sp>
      <p:sp>
        <p:nvSpPr>
          <p:cNvPr id="5" name="Rectangle 4"/>
          <p:cNvSpPr/>
          <p:nvPr/>
        </p:nvSpPr>
        <p:spPr>
          <a:xfrm>
            <a:off x="457200" y="914400"/>
            <a:ext cx="5394960" cy="502920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09360" y="914400"/>
            <a:ext cx="5394960" cy="5029200"/>
          </a:xfrm>
          <a:prstGeom prst="rect">
            <a:avLst/>
          </a:prstGeom>
          <a:solidFill>
            <a:srgbClr val="EE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中文</a:t>
            </a:r>
          </a:p>
        </p:txBody>
      </p:sp>
      <p:sp>
        <p:nvSpPr>
          <p:cNvPr id="8" name="TextBox 7"/>
          <p:cNvSpPr txBox="1"/>
          <p:nvPr/>
        </p:nvSpPr>
        <p:spPr>
          <a:xfrm>
            <a:off x="649224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English</a:t>
            </a:r>
          </a:p>
        </p:txBody>
      </p:sp>
      <p:sp>
        <p:nvSpPr>
          <p:cNvPr id="9" name="TextBox 8"/>
          <p:cNvSpPr txBox="1"/>
          <p:nvPr/>
        </p:nvSpPr>
        <p:spPr>
          <a:xfrm>
            <a:off x="640080" y="1417320"/>
            <a:ext cx="5029200" cy="438912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金樽清酒斗十千，玉盘珍羞直万钱。</a:t>
            </a:r>
          </a:p>
          <a:p>
            <a:pPr algn="l">
              <a:spcAft>
                <a:spcPts val="400"/>
              </a:spcAft>
            </a:pPr>
            <a:r>
              <a:rPr sz="1600" b="0" i="0">
                <a:solidFill>
                  <a:srgbClr val="1A1F2E"/>
                </a:solidFill>
                <a:latin typeface="Microsoft YaHei"/>
                <a:ea typeface="Microsoft YaHei"/>
              </a:rPr>
              <a:t>停杯投箸不能食，拔剑四顾心茫然。</a:t>
            </a:r>
          </a:p>
          <a:p>
            <a:pPr algn="l">
              <a:spcAft>
                <a:spcPts val="400"/>
              </a:spcAft>
            </a:pPr>
            <a:r>
              <a:rPr sz="1600" b="0" i="0">
                <a:solidFill>
                  <a:srgbClr val="1A1F2E"/>
                </a:solidFill>
                <a:latin typeface="Microsoft YaHei"/>
                <a:ea typeface="Microsoft YaHei"/>
              </a:rPr>
              <a:t>欲渡黄河冰塞川，将登太行雪满山。</a:t>
            </a:r>
          </a:p>
          <a:p>
            <a:pPr algn="l">
              <a:spcAft>
                <a:spcPts val="400"/>
              </a:spcAft>
            </a:pPr>
            <a:r>
              <a:rPr sz="1600" b="0" i="0">
                <a:solidFill>
                  <a:srgbClr val="1A1F2E"/>
                </a:solidFill>
                <a:latin typeface="Microsoft YaHei"/>
                <a:ea typeface="Microsoft YaHei"/>
              </a:rPr>
              <a:t>闲来垂钓碧溪上，忽复乘舟梦日边。</a:t>
            </a:r>
          </a:p>
          <a:p>
            <a:pPr algn="l">
              <a:spcAft>
                <a:spcPts val="400"/>
              </a:spcAft>
            </a:pPr>
            <a:r>
              <a:rPr sz="1600" b="0" i="0">
                <a:solidFill>
                  <a:srgbClr val="1A1F2E"/>
                </a:solidFill>
                <a:latin typeface="Microsoft YaHei"/>
                <a:ea typeface="Microsoft YaHei"/>
              </a:rPr>
              <a:t>行路难，行路难，多歧路，今安在？</a:t>
            </a:r>
          </a:p>
          <a:p>
            <a:pPr algn="l">
              <a:spcAft>
                <a:spcPts val="400"/>
              </a:spcAft>
            </a:pPr>
            <a:r>
              <a:rPr sz="1600" b="0" i="0">
                <a:solidFill>
                  <a:srgbClr val="1A1F2E"/>
                </a:solidFill>
                <a:latin typeface="Microsoft YaHei"/>
                <a:ea typeface="Microsoft YaHei"/>
              </a:rPr>
              <a:t>长风破浪会有时，直挂云帆济沧海。</a:t>
            </a:r>
          </a:p>
        </p:txBody>
      </p:sp>
      <p:sp>
        <p:nvSpPr>
          <p:cNvPr id="10" name="TextBox 9"/>
          <p:cNvSpPr txBox="1"/>
          <p:nvPr/>
        </p:nvSpPr>
        <p:spPr>
          <a:xfrm>
            <a:off x="6492240" y="1417320"/>
            <a:ext cx="5029200" cy="4389120"/>
          </a:xfrm>
          <a:prstGeom prst="rect">
            <a:avLst/>
          </a:prstGeom>
          <a:noFill/>
        </p:spPr>
        <p:txBody>
          <a:bodyPr wrap="square" anchor="t"/>
          <a:lstStyle/>
          <a:p>
            <a:pPr algn="l">
              <a:spcAft>
                <a:spcPts val="400"/>
              </a:spcAft>
            </a:pPr>
            <a:r>
              <a:rPr sz="1200" b="0" i="0">
                <a:solidFill>
                  <a:srgbClr val="2C3548"/>
                </a:solidFill>
                <a:latin typeface="Microsoft YaHei"/>
                <a:ea typeface="Microsoft YaHei"/>
              </a:rPr>
              <a:t>A golden cup of clear wine, ten thousand a measure;</a:t>
            </a:r>
          </a:p>
          <a:p>
            <a:pPr algn="l">
              <a:spcAft>
                <a:spcPts val="400"/>
              </a:spcAft>
            </a:pPr>
            <a:r>
              <a:rPr sz="1200" b="0" i="0">
                <a:solidFill>
                  <a:srgbClr val="2C3548"/>
                </a:solidFill>
                <a:latin typeface="Microsoft YaHei"/>
                <a:ea typeface="Microsoft YaHei"/>
              </a:rPr>
              <a:t>A jade plate of rare delicacies, worth a myriad cash.</a:t>
            </a:r>
          </a:p>
          <a:p>
            <a:pPr algn="l">
              <a:spcAft>
                <a:spcPts val="400"/>
              </a:spcAft>
            </a:pPr>
            <a:r>
              <a:rPr sz="1200" b="0" i="0">
                <a:solidFill>
                  <a:srgbClr val="2C3548"/>
                </a:solidFill>
                <a:latin typeface="Microsoft YaHei"/>
                <a:ea typeface="Microsoft YaHei"/>
              </a:rPr>
              <a:t>I set down the cup, throw aside the chopsticks—cannot eat;</a:t>
            </a:r>
          </a:p>
          <a:p>
            <a:pPr algn="l">
              <a:spcAft>
                <a:spcPts val="400"/>
              </a:spcAft>
            </a:pPr>
            <a:r>
              <a:rPr sz="1200" b="0" i="0">
                <a:solidFill>
                  <a:srgbClr val="2C3548"/>
                </a:solidFill>
                <a:latin typeface="Microsoft YaHei"/>
                <a:ea typeface="Microsoft YaHei"/>
              </a:rPr>
              <a:t>I draw my sword, look four ways—my heart is lost.</a:t>
            </a:r>
          </a:p>
          <a:p>
            <a:pPr algn="l">
              <a:spcAft>
                <a:spcPts val="400"/>
              </a:spcAft>
            </a:pPr>
            <a:r>
              <a:rPr sz="1200" b="0" i="0">
                <a:solidFill>
                  <a:srgbClr val="2C3548"/>
                </a:solidFill>
                <a:latin typeface="Microsoft YaHei"/>
                <a:ea typeface="Microsoft YaHei"/>
              </a:rPr>
              <a:t>I would cross the Yellow River—ice chokes the stream;</a:t>
            </a:r>
          </a:p>
          <a:p>
            <a:pPr algn="l">
              <a:spcAft>
                <a:spcPts val="400"/>
              </a:spcAft>
            </a:pPr>
            <a:r>
              <a:rPr sz="1200" b="0" i="0">
                <a:solidFill>
                  <a:srgbClr val="2C3548"/>
                </a:solidFill>
                <a:latin typeface="Microsoft YaHei"/>
                <a:ea typeface="Microsoft YaHei"/>
              </a:rPr>
              <a:t>I would climb the Taihang—snow seals the mountains.</a:t>
            </a:r>
          </a:p>
          <a:p>
            <a:pPr algn="l">
              <a:spcAft>
                <a:spcPts val="400"/>
              </a:spcAft>
            </a:pPr>
            <a:r>
              <a:rPr sz="1200" b="0" i="0">
                <a:solidFill>
                  <a:srgbClr val="2C3548"/>
                </a:solidFill>
                <a:latin typeface="Microsoft YaHei"/>
                <a:ea typeface="Microsoft YaHei"/>
              </a:rPr>
              <a:t>At leisure I fish on a jade-green creek;</a:t>
            </a:r>
          </a:p>
          <a:p>
            <a:pPr algn="l">
              <a:spcAft>
                <a:spcPts val="400"/>
              </a:spcAft>
            </a:pPr>
            <a:r>
              <a:rPr sz="1200" b="0" i="0">
                <a:solidFill>
                  <a:srgbClr val="2C3548"/>
                </a:solidFill>
                <a:latin typeface="Microsoft YaHei"/>
                <a:ea typeface="Microsoft YaHei"/>
              </a:rPr>
              <a:t>Suddenly again I dream of a boat beside the sun.</a:t>
            </a:r>
          </a:p>
          <a:p>
            <a:pPr algn="l">
              <a:spcAft>
                <a:spcPts val="400"/>
              </a:spcAft>
            </a:pPr>
            <a:r>
              <a:rPr sz="1200" b="0" i="0">
                <a:solidFill>
                  <a:srgbClr val="2C3548"/>
                </a:solidFill>
                <a:latin typeface="Microsoft YaHei"/>
                <a:ea typeface="Microsoft YaHei"/>
              </a:rPr>
              <a:t>Hard is the road, hard is the road!</a:t>
            </a:r>
          </a:p>
          <a:p>
            <a:pPr algn="l">
              <a:spcAft>
                <a:spcPts val="400"/>
              </a:spcAft>
            </a:pPr>
            <a:r>
              <a:rPr sz="1200" b="0" i="0">
                <a:solidFill>
                  <a:srgbClr val="2C3548"/>
                </a:solidFill>
                <a:latin typeface="Microsoft YaHei"/>
                <a:ea typeface="Microsoft YaHei"/>
              </a:rPr>
              <a:t>Many forked paths—where am I now?</a:t>
            </a:r>
          </a:p>
          <a:p>
            <a:pPr algn="l">
              <a:spcAft>
                <a:spcPts val="400"/>
              </a:spcAft>
            </a:pPr>
            <a:r>
              <a:rPr sz="1200" b="0" i="0">
                <a:solidFill>
                  <a:srgbClr val="2C3548"/>
                </a:solidFill>
                <a:latin typeface="Microsoft YaHei"/>
                <a:ea typeface="Microsoft YaHei"/>
              </a:rPr>
              <a:t>There will be a time to ride the wind and cleave the waves;</a:t>
            </a:r>
          </a:p>
          <a:p>
            <a:pPr algn="l">
              <a:spcAft>
                <a:spcPts val="400"/>
              </a:spcAft>
            </a:pPr>
            <a:r>
              <a:rPr sz="1200" b="0" i="0">
                <a:solidFill>
                  <a:srgbClr val="2C3548"/>
                </a:solidFill>
                <a:latin typeface="Microsoft YaHei"/>
                <a:ea typeface="Microsoft YaHei"/>
              </a:rPr>
              <a:t>I’ll hoist my cloudlike sail and cross the blue sea.</a:t>
            </a:r>
          </a:p>
        </p:txBody>
      </p:sp>
      <p:sp>
        <p:nvSpPr>
          <p:cNvPr id="11" name="TextBox 10"/>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行路难（其一）  |  39/83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《行路难（其一）》 · 创作背景 Context</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天宝初，李白供奉翰林，不久因遭谗毁被“赐金放还”，政治理想受挫。《行路难》三首抒写此时愤懑与自我激励。本篇为第一首，最广为传诵。“垂钓碧溪”“乘舟梦日”分别用姜尚、伊尹典故，暗示贤才终遇明主的希望。</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Around 744, after dismissal from the Hanlin Academy with a “gift of gold,” Li Bai wrote three Hard Is the Road poems. This first piece is the most famous. Allusions to Jiang Ziya fishing and Yi Yin dreaming of the sun hint at future favor.</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行路难（其一）  |  40/83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《行路难（其一）》 · 诗文意义 Meaning</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先写盛宴难以下咽、拔剑茫然，极言内心失路；黄河冰塞、太行雪满，象征仕途梗阻。中间转入典故，自我宽慰；结尾“长风破浪会有时”陡然振起，将悲愤化为对未来的坚定信念。这首诗成为中国文学中“逆境不屈”的经典表达。</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A feast uneaten and a drawn sword show bewilderment; ice and snow figure blocked careers. Historical allusions offer hope; the famous close—“ride the wind and cleave the waves”—turns anguish into defiant faith.</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行路难（其一）  |  41/83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144000" cy="365760"/>
          </a:xfrm>
          <a:prstGeom prst="rect">
            <a:avLst/>
          </a:prstGeom>
          <a:noFill/>
        </p:spPr>
        <p:txBody>
          <a:bodyPr wrap="square" anchor="t"/>
          <a:lstStyle/>
          <a:p>
            <a:pPr algn="l">
              <a:spcAft>
                <a:spcPts val="400"/>
              </a:spcAft>
            </a:pPr>
            <a:r>
              <a:rPr sz="1600" b="1" i="0">
                <a:solidFill>
                  <a:srgbClr val="A67C52"/>
                </a:solidFill>
                <a:latin typeface="Microsoft YaHei"/>
                <a:ea typeface="Microsoft YaHei"/>
              </a:rPr>
              <a:t>第 7 篇  /  Poem 7</a:t>
            </a:r>
          </a:p>
        </p:txBody>
      </p:sp>
      <p:sp>
        <p:nvSpPr>
          <p:cNvPr id="5" name="TextBox 4"/>
          <p:cNvSpPr txBox="1"/>
          <p:nvPr/>
        </p:nvSpPr>
        <p:spPr>
          <a:xfrm>
            <a:off x="1097280" y="2377440"/>
            <a:ext cx="10058400" cy="822960"/>
          </a:xfrm>
          <a:prstGeom prst="rect">
            <a:avLst/>
          </a:prstGeom>
          <a:noFill/>
        </p:spPr>
        <p:txBody>
          <a:bodyPr wrap="square" anchor="t"/>
          <a:lstStyle/>
          <a:p>
            <a:pPr algn="l">
              <a:spcAft>
                <a:spcPts val="400"/>
              </a:spcAft>
            </a:pPr>
            <a:r>
              <a:rPr sz="4000" b="1" i="0">
                <a:solidFill>
                  <a:srgbClr val="FFFFFF"/>
                </a:solidFill>
                <a:latin typeface="Microsoft YaHei"/>
                <a:ea typeface="Microsoft YaHei"/>
              </a:rPr>
              <a:t>《蜀道难》</a:t>
            </a:r>
          </a:p>
        </p:txBody>
      </p:sp>
      <p:sp>
        <p:nvSpPr>
          <p:cNvPr id="6" name="TextBox 5"/>
          <p:cNvSpPr txBox="1"/>
          <p:nvPr/>
        </p:nvSpPr>
        <p:spPr>
          <a:xfrm>
            <a:off x="1097280" y="3291840"/>
            <a:ext cx="10058400" cy="457200"/>
          </a:xfrm>
          <a:prstGeom prst="rect">
            <a:avLst/>
          </a:prstGeom>
          <a:noFill/>
        </p:spPr>
        <p:txBody>
          <a:bodyPr wrap="square" anchor="t"/>
          <a:lstStyle/>
          <a:p>
            <a:pPr algn="l">
              <a:spcAft>
                <a:spcPts val="400"/>
              </a:spcAft>
            </a:pPr>
            <a:r>
              <a:rPr sz="2000" b="0" i="1">
                <a:solidFill>
                  <a:srgbClr val="E8E0D0"/>
                </a:solidFill>
                <a:latin typeface="Microsoft YaHei"/>
                <a:ea typeface="Microsoft YaHei"/>
              </a:rPr>
              <a:t>The Road to Shu Is Hard</a:t>
            </a:r>
          </a:p>
        </p:txBody>
      </p:sp>
      <p:sp>
        <p:nvSpPr>
          <p:cNvPr id="7" name="Rectangle 6"/>
          <p:cNvSpPr/>
          <p:nvPr/>
        </p:nvSpPr>
        <p:spPr>
          <a:xfrm>
            <a:off x="1097280" y="3931920"/>
            <a:ext cx="2011680" cy="54864"/>
          </a:xfrm>
          <a:prstGeom prst="rect">
            <a:avLst/>
          </a:prstGeom>
          <a:solidFill>
            <a:srgbClr val="2A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731520"/>
          </a:xfrm>
          <a:prstGeom prst="rect">
            <a:avLst/>
          </a:prstGeom>
          <a:noFill/>
        </p:spPr>
        <p:txBody>
          <a:bodyPr wrap="square" anchor="t"/>
          <a:lstStyle/>
          <a:p>
            <a:pPr algn="l">
              <a:spcAft>
                <a:spcPts val="400"/>
              </a:spcAft>
            </a:pPr>
            <a:r>
              <a:rPr sz="1400" b="0" i="0">
                <a:solidFill>
                  <a:srgbClr val="F7F3EB"/>
                </a:solidFill>
                <a:latin typeface="Microsoft YaHei"/>
                <a:ea typeface="Microsoft YaHei"/>
              </a:rPr>
              <a:t>乐府歌行（杂言） / Irregular yuefu song</a:t>
            </a:r>
          </a:p>
          <a:p>
            <a:pPr algn="l">
              <a:spcAft>
                <a:spcPts val="400"/>
              </a:spcAft>
            </a:pPr>
            <a:r>
              <a:rPr sz="1400" b="0" i="0">
                <a:solidFill>
                  <a:srgbClr val="F7F3EB"/>
                </a:solidFill>
                <a:latin typeface="Microsoft YaHei"/>
                <a:ea typeface="Microsoft YaHei"/>
              </a:rPr>
              <a:t>约开元末至天宝初 · 送友人入蜀或有所讽喻</a:t>
            </a:r>
          </a:p>
          <a:p>
            <a:pPr algn="l">
              <a:spcAft>
                <a:spcPts val="400"/>
              </a:spcAft>
            </a:pPr>
            <a:r>
              <a:rPr sz="1400" b="0" i="0">
                <a:solidFill>
                  <a:srgbClr val="F7F3EB"/>
                </a:solidFill>
                <a:latin typeface="Microsoft YaHei"/>
                <a:ea typeface="Microsoft YaHei"/>
              </a:rPr>
              <a:t>关键词 Keywords：奇险 · 乐府 · 反复咏叹 · 谪仙</a:t>
            </a:r>
          </a:p>
        </p:txBody>
      </p:sp>
      <p:sp>
        <p:nvSpPr>
          <p:cNvPr id="9" name="TextBox 8"/>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蜀道难  |  42/83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《蜀道难》 · 原文节选 Excerpt</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噫吁嚱，危乎高哉！</a:t>
            </a:r>
          </a:p>
          <a:p>
            <a:pPr algn="l">
              <a:spcAft>
                <a:spcPts val="400"/>
              </a:spcAft>
            </a:pPr>
            <a:r>
              <a:rPr sz="1500" b="0" i="0">
                <a:solidFill>
                  <a:srgbClr val="1A1F2E"/>
                </a:solidFill>
                <a:latin typeface="Microsoft YaHei"/>
                <a:ea typeface="Microsoft YaHei"/>
              </a:rPr>
              <a:t>蜀道之难，难于上青天！</a:t>
            </a:r>
          </a:p>
          <a:p>
            <a:pPr algn="l">
              <a:spcAft>
                <a:spcPts val="400"/>
              </a:spcAft>
            </a:pPr>
            <a:r>
              <a:rPr sz="1500" b="0" i="0">
                <a:solidFill>
                  <a:srgbClr val="1A1F2E"/>
                </a:solidFill>
                <a:latin typeface="Microsoft YaHei"/>
                <a:ea typeface="Microsoft YaHei"/>
              </a:rPr>
              <a:t>蚕丛及鱼凫，开国何茫然！</a:t>
            </a:r>
          </a:p>
          <a:p>
            <a:pPr algn="l">
              <a:spcAft>
                <a:spcPts val="400"/>
              </a:spcAft>
            </a:pPr>
            <a:r>
              <a:rPr sz="1500" b="0" i="0">
                <a:solidFill>
                  <a:srgbClr val="1A1F2E"/>
                </a:solidFill>
                <a:latin typeface="Microsoft YaHei"/>
                <a:ea typeface="Microsoft YaHei"/>
              </a:rPr>
              <a:t>尔来四万八千岁，不与秦塞通人烟。</a:t>
            </a:r>
          </a:p>
          <a:p>
            <a:pPr algn="l">
              <a:spcAft>
                <a:spcPts val="400"/>
              </a:spcAft>
            </a:pPr>
            <a:r>
              <a:rPr sz="1500" b="0" i="0">
                <a:solidFill>
                  <a:srgbClr val="1A1F2E"/>
                </a:solidFill>
                <a:latin typeface="Microsoft YaHei"/>
                <a:ea typeface="Microsoft YaHei"/>
              </a:rPr>
              <a:t>西当太白有鸟道，可以横绝峨眉巅。</a:t>
            </a:r>
          </a:p>
          <a:p>
            <a:pPr algn="l">
              <a:spcAft>
                <a:spcPts val="400"/>
              </a:spcAft>
            </a:pPr>
            <a:r>
              <a:rPr sz="1500" b="0" i="0">
                <a:solidFill>
                  <a:srgbClr val="1A1F2E"/>
                </a:solidFill>
                <a:latin typeface="Microsoft YaHei"/>
                <a:ea typeface="Microsoft YaHei"/>
              </a:rPr>
              <a:t>地崩山摧壮士死，然后天梯石栈相钩连。</a:t>
            </a:r>
          </a:p>
          <a:p>
            <a:pPr algn="l">
              <a:spcAft>
                <a:spcPts val="400"/>
              </a:spcAft>
            </a:pPr>
            <a:r>
              <a:rPr sz="1500" b="0" i="0">
                <a:solidFill>
                  <a:srgbClr val="1A1F2E"/>
                </a:solidFill>
                <a:latin typeface="Microsoft YaHei"/>
                <a:ea typeface="Microsoft YaHei"/>
              </a:rPr>
              <a:t>……</a:t>
            </a:r>
          </a:p>
          <a:p>
            <a:pPr algn="l">
              <a:spcAft>
                <a:spcPts val="400"/>
              </a:spcAft>
            </a:pPr>
            <a:r>
              <a:rPr sz="1500" b="0" i="0">
                <a:solidFill>
                  <a:srgbClr val="1A1F2E"/>
                </a:solidFill>
                <a:latin typeface="Microsoft YaHei"/>
                <a:ea typeface="Microsoft YaHei"/>
              </a:rPr>
              <a:t>连峰去天不盈尺，枯松倒挂倚绝壁。</a:t>
            </a:r>
          </a:p>
          <a:p>
            <a:pPr algn="l">
              <a:spcAft>
                <a:spcPts val="400"/>
              </a:spcAft>
            </a:pPr>
            <a:r>
              <a:rPr sz="1500" b="0" i="0">
                <a:solidFill>
                  <a:srgbClr val="1A1F2E"/>
                </a:solidFill>
                <a:latin typeface="Microsoft YaHei"/>
                <a:ea typeface="Microsoft YaHei"/>
              </a:rPr>
              <a:t>飞湍瀑流争喧豗，砯崖转石万壑雷。</a:t>
            </a:r>
          </a:p>
          <a:p>
            <a:pPr algn="l">
              <a:spcAft>
                <a:spcPts val="400"/>
              </a:spcAft>
            </a:pPr>
            <a:r>
              <a:rPr sz="1500" b="0" i="0">
                <a:solidFill>
                  <a:srgbClr val="1A1F2E"/>
                </a:solidFill>
                <a:latin typeface="Microsoft YaHei"/>
                <a:ea typeface="Microsoft YaHei"/>
              </a:rPr>
              <a:t>其险也如此，嗟尔远道之人胡为乎来哉！</a:t>
            </a:r>
          </a:p>
          <a:p>
            <a:pPr algn="l">
              <a:spcAft>
                <a:spcPts val="400"/>
              </a:spcAft>
            </a:pPr>
            <a:r>
              <a:rPr sz="1500" b="0" i="0">
                <a:solidFill>
                  <a:srgbClr val="1A1F2E"/>
                </a:solidFill>
                <a:latin typeface="Microsoft YaHei"/>
                <a:ea typeface="Microsoft YaHei"/>
              </a:rPr>
              <a:t>……</a:t>
            </a:r>
          </a:p>
          <a:p>
            <a:pPr algn="l">
              <a:spcAft>
                <a:spcPts val="400"/>
              </a:spcAft>
            </a:pPr>
            <a:r>
              <a:rPr sz="1500" b="0" i="0">
                <a:solidFill>
                  <a:srgbClr val="1A1F2E"/>
                </a:solidFill>
                <a:latin typeface="Microsoft YaHei"/>
                <a:ea typeface="Microsoft YaHei"/>
              </a:rPr>
              <a:t>蜀道之难，难于上青天，侧身西望长咨嗟！</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蜀道难  |  43/83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The Road to Shu Is Hard · 英译节选 Excerpt</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300" b="0" i="0">
                <a:solidFill>
                  <a:srgbClr val="2C3548"/>
                </a:solidFill>
                <a:latin typeface="Microsoft YaHei"/>
                <a:ea typeface="Microsoft YaHei"/>
              </a:rPr>
              <a:t>Yi! Xu! Xi! How perilous, how high!</a:t>
            </a:r>
          </a:p>
          <a:p>
            <a:pPr algn="l">
              <a:spcAft>
                <a:spcPts val="400"/>
              </a:spcAft>
            </a:pPr>
            <a:r>
              <a:rPr sz="1300" b="0" i="0">
                <a:solidFill>
                  <a:srgbClr val="2C3548"/>
                </a:solidFill>
                <a:latin typeface="Microsoft YaHei"/>
                <a:ea typeface="Microsoft YaHei"/>
              </a:rPr>
              <a:t>The road to Shu is harder than climbing the blue sky!</a:t>
            </a:r>
          </a:p>
          <a:p>
            <a:pPr algn="l">
              <a:spcAft>
                <a:spcPts val="400"/>
              </a:spcAft>
            </a:pPr>
            <a:r>
              <a:rPr sz="1300" b="0" i="0">
                <a:solidFill>
                  <a:srgbClr val="2C3548"/>
                </a:solidFill>
                <a:latin typeface="Microsoft YaHei"/>
                <a:ea typeface="Microsoft YaHei"/>
              </a:rPr>
              <a:t>Cancong and Yufu—how remote their founding!</a:t>
            </a:r>
          </a:p>
          <a:p>
            <a:pPr algn="l">
              <a:spcAft>
                <a:spcPts val="400"/>
              </a:spcAft>
            </a:pPr>
            <a:r>
              <a:rPr sz="1300" b="0" i="0">
                <a:solidFill>
                  <a:srgbClr val="2C3548"/>
                </a:solidFill>
                <a:latin typeface="Microsoft YaHei"/>
                <a:ea typeface="Microsoft YaHei"/>
              </a:rPr>
              <a:t>Forty-eight thousand years since then,</a:t>
            </a:r>
          </a:p>
          <a:p>
            <a:pPr algn="l">
              <a:spcAft>
                <a:spcPts val="400"/>
              </a:spcAft>
            </a:pPr>
            <a:r>
              <a:rPr sz="1300" b="0" i="0">
                <a:solidFill>
                  <a:srgbClr val="2C3548"/>
                </a:solidFill>
                <a:latin typeface="Microsoft YaHei"/>
                <a:ea typeface="Microsoft YaHei"/>
              </a:rPr>
              <a:t>No traffic passed between Qin and Shu.</a:t>
            </a:r>
          </a:p>
          <a:p>
            <a:pPr algn="l">
              <a:spcAft>
                <a:spcPts val="400"/>
              </a:spcAft>
            </a:pPr>
            <a:r>
              <a:rPr sz="1300" b="0" i="0">
                <a:solidFill>
                  <a:srgbClr val="2C3548"/>
                </a:solidFill>
                <a:latin typeface="Microsoft YaHei"/>
                <a:ea typeface="Microsoft YaHei"/>
              </a:rPr>
              <a:t>West of Taibai only a bird-path</a:t>
            </a:r>
          </a:p>
          <a:p>
            <a:pPr algn="l">
              <a:spcAft>
                <a:spcPts val="400"/>
              </a:spcAft>
            </a:pPr>
            <a:r>
              <a:rPr sz="1300" b="0" i="0">
                <a:solidFill>
                  <a:srgbClr val="2C3548"/>
                </a:solidFill>
                <a:latin typeface="Microsoft YaHei"/>
                <a:ea typeface="Microsoft YaHei"/>
              </a:rPr>
              <a:t>Could cross to Emei’s peak.</a:t>
            </a:r>
          </a:p>
          <a:p>
            <a:pPr algn="l">
              <a:spcAft>
                <a:spcPts val="400"/>
              </a:spcAft>
            </a:pPr>
            <a:r>
              <a:rPr sz="1300" b="0" i="0">
                <a:solidFill>
                  <a:srgbClr val="2C3548"/>
                </a:solidFill>
                <a:latin typeface="Microsoft YaHei"/>
                <a:ea typeface="Microsoft YaHei"/>
              </a:rPr>
              <a:t>Earth split, mountains fell, heroes died—</a:t>
            </a:r>
          </a:p>
          <a:p>
            <a:pPr algn="l">
              <a:spcAft>
                <a:spcPts val="400"/>
              </a:spcAft>
            </a:pPr>
            <a:r>
              <a:rPr sz="1300" b="0" i="0">
                <a:solidFill>
                  <a:srgbClr val="2C3548"/>
                </a:solidFill>
                <a:latin typeface="Microsoft YaHei"/>
                <a:ea typeface="Microsoft YaHei"/>
              </a:rPr>
              <a:t>Then sky-ladders and stone galleries linked the way.</a:t>
            </a:r>
          </a:p>
          <a:p>
            <a:pPr algn="l">
              <a:spcAft>
                <a:spcPts val="400"/>
              </a:spcAft>
            </a:pPr>
            <a:r>
              <a:rPr sz="1300" b="0" i="0">
                <a:solidFill>
                  <a:srgbClr val="2C3548"/>
                </a:solidFill>
                <a:latin typeface="Microsoft YaHei"/>
                <a:ea typeface="Microsoft YaHei"/>
              </a:rPr>
              <a:t>…</a:t>
            </a:r>
          </a:p>
          <a:p>
            <a:pPr algn="l">
              <a:spcAft>
                <a:spcPts val="400"/>
              </a:spcAft>
            </a:pPr>
            <a:r>
              <a:rPr sz="1300" b="0" i="0">
                <a:solidFill>
                  <a:srgbClr val="2C3548"/>
                </a:solidFill>
                <a:latin typeface="Microsoft YaHei"/>
                <a:ea typeface="Microsoft YaHei"/>
              </a:rPr>
              <a:t>Linked peaks leave less than a foot to heaven;</a:t>
            </a:r>
          </a:p>
          <a:p>
            <a:pPr algn="l">
              <a:spcAft>
                <a:spcPts val="400"/>
              </a:spcAft>
            </a:pPr>
            <a:r>
              <a:rPr sz="1300" b="0" i="0">
                <a:solidFill>
                  <a:srgbClr val="2C3548"/>
                </a:solidFill>
                <a:latin typeface="Microsoft YaHei"/>
                <a:ea typeface="Microsoft YaHei"/>
              </a:rPr>
              <a:t>Withered pines hang upside-down from cliffs.</a:t>
            </a:r>
          </a:p>
          <a:p>
            <a:pPr algn="l">
              <a:spcAft>
                <a:spcPts val="400"/>
              </a:spcAft>
            </a:pPr>
            <a:r>
              <a:rPr sz="1300" b="0" i="0">
                <a:solidFill>
                  <a:srgbClr val="2C3548"/>
                </a:solidFill>
                <a:latin typeface="Microsoft YaHei"/>
                <a:ea typeface="Microsoft YaHei"/>
              </a:rPr>
              <a:t>Flying torrents and cataracts roar in rivalry;</a:t>
            </a:r>
          </a:p>
          <a:p>
            <a:pPr algn="l">
              <a:spcAft>
                <a:spcPts val="400"/>
              </a:spcAft>
            </a:pPr>
            <a:r>
              <a:rPr sz="1300" b="0" i="0">
                <a:solidFill>
                  <a:srgbClr val="2C3548"/>
                </a:solidFill>
                <a:latin typeface="Microsoft YaHei"/>
                <a:ea typeface="Microsoft YaHei"/>
              </a:rPr>
              <a:t>Boulders crash—thunder in ten thousand gullies.</a:t>
            </a:r>
          </a:p>
          <a:p>
            <a:pPr algn="l">
              <a:spcAft>
                <a:spcPts val="400"/>
              </a:spcAft>
            </a:pPr>
            <a:r>
              <a:rPr sz="1300" b="0" i="0">
                <a:solidFill>
                  <a:srgbClr val="2C3548"/>
                </a:solidFill>
                <a:latin typeface="Microsoft YaHei"/>
                <a:ea typeface="Microsoft YaHei"/>
              </a:rPr>
              <a:t>Such is the danger—why, traveler from afar, have you come?</a:t>
            </a:r>
          </a:p>
          <a:p>
            <a:pPr algn="l">
              <a:spcAft>
                <a:spcPts val="400"/>
              </a:spcAft>
            </a:pPr>
            <a:r>
              <a:rPr sz="1300" b="0" i="0">
                <a:solidFill>
                  <a:srgbClr val="2C3548"/>
                </a:solidFill>
                <a:latin typeface="Microsoft YaHei"/>
                <a:ea typeface="Microsoft YaHei"/>
              </a:rPr>
              <a:t>…</a:t>
            </a:r>
          </a:p>
          <a:p>
            <a:pPr algn="l">
              <a:spcAft>
                <a:spcPts val="400"/>
              </a:spcAft>
            </a:pPr>
            <a:r>
              <a:rPr sz="1300" b="0" i="0">
                <a:solidFill>
                  <a:srgbClr val="2C3548"/>
                </a:solidFill>
                <a:latin typeface="Microsoft YaHei"/>
                <a:ea typeface="Microsoft YaHei"/>
              </a:rPr>
              <a:t>The road to Shu is harder than climbing the blue sky;</a:t>
            </a:r>
          </a:p>
          <a:p>
            <a:pPr algn="l">
              <a:spcAft>
                <a:spcPts val="400"/>
              </a:spcAft>
            </a:pPr>
            <a:r>
              <a:rPr sz="1300" b="0" i="0">
                <a:solidFill>
                  <a:srgbClr val="2C3548"/>
                </a:solidFill>
                <a:latin typeface="Microsoft YaHei"/>
                <a:ea typeface="Microsoft YaHei"/>
              </a:rPr>
              <a:t>I turn west and heave a long sigh!</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蜀道难  |  44/83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《蜀道难》 · 全文原文 Full Chinese</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噫吁嚱，危乎高哉！蜀道之难，难于上青天！</a:t>
            </a:r>
          </a:p>
          <a:p>
            <a:pPr algn="l">
              <a:spcAft>
                <a:spcPts val="400"/>
              </a:spcAft>
            </a:pPr>
            <a:r>
              <a:rPr sz="1500" b="0" i="0">
                <a:solidFill>
                  <a:srgbClr val="1A1F2E"/>
                </a:solidFill>
                <a:latin typeface="Microsoft YaHei"/>
                <a:ea typeface="Microsoft YaHei"/>
              </a:rPr>
              <a:t>蚕丛及鱼凫，开国何茫然！尔来四万八千岁，不与秦塞通人烟。</a:t>
            </a:r>
          </a:p>
          <a:p>
            <a:pPr algn="l">
              <a:spcAft>
                <a:spcPts val="400"/>
              </a:spcAft>
            </a:pPr>
            <a:r>
              <a:rPr sz="1500" b="0" i="0">
                <a:solidFill>
                  <a:srgbClr val="1A1F2E"/>
                </a:solidFill>
                <a:latin typeface="Microsoft YaHei"/>
                <a:ea typeface="Microsoft YaHei"/>
              </a:rPr>
              <a:t>西当太白有鸟道，可以横绝峨眉巅。地崩山摧壮士死，然后天梯石栈相钩连。</a:t>
            </a:r>
          </a:p>
          <a:p>
            <a:pPr algn="l">
              <a:spcAft>
                <a:spcPts val="400"/>
              </a:spcAft>
            </a:pPr>
            <a:r>
              <a:rPr sz="1500" b="0" i="0">
                <a:solidFill>
                  <a:srgbClr val="1A1F2E"/>
                </a:solidFill>
                <a:latin typeface="Microsoft YaHei"/>
                <a:ea typeface="Microsoft YaHei"/>
              </a:rPr>
              <a:t>上有六龙回日之高标，下有冲波逆折之回川。黄鹤之飞尚不得过，猿猱欲度愁攀援。</a:t>
            </a:r>
          </a:p>
          <a:p>
            <a:pPr algn="l">
              <a:spcAft>
                <a:spcPts val="400"/>
              </a:spcAft>
            </a:pPr>
            <a:r>
              <a:rPr sz="1500" b="0" i="0">
                <a:solidFill>
                  <a:srgbClr val="1A1F2E"/>
                </a:solidFill>
                <a:latin typeface="Microsoft YaHei"/>
                <a:ea typeface="Microsoft YaHei"/>
              </a:rPr>
              <a:t>青泥何盘盘，百步九折萦岩峦。扪参历井仰胁息，以手抚膺坐长叹。</a:t>
            </a:r>
          </a:p>
          <a:p>
            <a:pPr algn="l">
              <a:spcAft>
                <a:spcPts val="400"/>
              </a:spcAft>
            </a:pPr>
            <a:r>
              <a:rPr sz="1500" b="0" i="0">
                <a:solidFill>
                  <a:srgbClr val="1A1F2E"/>
                </a:solidFill>
                <a:latin typeface="Microsoft YaHei"/>
                <a:ea typeface="Microsoft YaHei"/>
              </a:rPr>
              <a:t>问君西游何时还？畏途巉岩不可攀。但见悲鸟号古木，雄飞雌从绕林间。</a:t>
            </a:r>
          </a:p>
          <a:p>
            <a:pPr algn="l">
              <a:spcAft>
                <a:spcPts val="400"/>
              </a:spcAft>
            </a:pPr>
            <a:r>
              <a:rPr sz="1500" b="0" i="0">
                <a:solidFill>
                  <a:srgbClr val="1A1F2E"/>
                </a:solidFill>
                <a:latin typeface="Microsoft YaHei"/>
                <a:ea typeface="Microsoft YaHei"/>
              </a:rPr>
              <a:t>又闻子规啼夜月，愁空山。蜀道之难，难于上青天，使人听此凋朱颜！</a:t>
            </a:r>
          </a:p>
          <a:p>
            <a:pPr algn="l">
              <a:spcAft>
                <a:spcPts val="400"/>
              </a:spcAft>
            </a:pPr>
            <a:r>
              <a:rPr sz="1500" b="0" i="0">
                <a:solidFill>
                  <a:srgbClr val="1A1F2E"/>
                </a:solidFill>
                <a:latin typeface="Microsoft YaHei"/>
                <a:ea typeface="Microsoft YaHei"/>
              </a:rPr>
              <a:t>连峰去天不盈尺，枯松倒挂倚绝壁。飞湍瀑流争喧豗，砯崖转石万壑雷。</a:t>
            </a:r>
          </a:p>
          <a:p>
            <a:pPr algn="l">
              <a:spcAft>
                <a:spcPts val="400"/>
              </a:spcAft>
            </a:pPr>
            <a:r>
              <a:rPr sz="1500" b="0" i="0">
                <a:solidFill>
                  <a:srgbClr val="1A1F2E"/>
                </a:solidFill>
                <a:latin typeface="Microsoft YaHei"/>
                <a:ea typeface="Microsoft YaHei"/>
              </a:rPr>
              <a:t>其险也如此，嗟尔远道之人胡为乎来哉！</a:t>
            </a:r>
          </a:p>
          <a:p>
            <a:pPr algn="l">
              <a:spcAft>
                <a:spcPts val="400"/>
              </a:spcAft>
            </a:pPr>
            <a:r>
              <a:rPr sz="1500" b="0" i="0">
                <a:solidFill>
                  <a:srgbClr val="1A1F2E"/>
                </a:solidFill>
                <a:latin typeface="Microsoft YaHei"/>
                <a:ea typeface="Microsoft YaHei"/>
              </a:rPr>
              <a:t>剑阁峥嵘而崔嵬，一夫当关，万夫莫开。所守或匪亲，化为狼与豺。</a:t>
            </a:r>
          </a:p>
          <a:p>
            <a:pPr algn="l">
              <a:spcAft>
                <a:spcPts val="400"/>
              </a:spcAft>
            </a:pPr>
            <a:r>
              <a:rPr sz="1500" b="0" i="0">
                <a:solidFill>
                  <a:srgbClr val="1A1F2E"/>
                </a:solidFill>
                <a:latin typeface="Microsoft YaHei"/>
                <a:ea typeface="Microsoft YaHei"/>
              </a:rPr>
              <a:t>朝避猛虎，夕避长蛇，磨牙吮血，杀人如麻。锦城虽云乐，不如早还家。</a:t>
            </a:r>
          </a:p>
          <a:p>
            <a:pPr algn="l">
              <a:spcAft>
                <a:spcPts val="400"/>
              </a:spcAft>
            </a:pPr>
            <a:r>
              <a:rPr sz="1500" b="0" i="0">
                <a:solidFill>
                  <a:srgbClr val="1A1F2E"/>
                </a:solidFill>
                <a:latin typeface="Microsoft YaHei"/>
                <a:ea typeface="Microsoft YaHei"/>
              </a:rPr>
              <a:t>蜀道之难，难于上青天，侧身西望长咨嗟！</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蜀道难  |  45/83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The Road to Shu Is Hard · 全文英译 Full English</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600" b="0" i="0">
                <a:solidFill>
                  <a:srgbClr val="2C3548"/>
                </a:solidFill>
                <a:latin typeface="Microsoft YaHei"/>
                <a:ea typeface="Microsoft YaHei"/>
              </a:rPr>
              <a:t>Yi! Xu! Xi! How perilous, how high! The road to Shu is harder than climbing the blue sky!</a:t>
            </a:r>
          </a:p>
          <a:p>
            <a:pPr algn="l">
              <a:spcAft>
                <a:spcPts val="400"/>
              </a:spcAft>
            </a:pPr>
            <a:r>
              <a:rPr sz="1600" b="0" i="0">
                <a:solidFill>
                  <a:srgbClr val="2C3548"/>
                </a:solidFill>
                <a:latin typeface="Microsoft YaHei"/>
                <a:ea typeface="Microsoft YaHei"/>
              </a:rPr>
              <a:t>Cancong and Yufu—how remote their founding! For forty-eight thousand years, Qin and Shu shared no traffic.</a:t>
            </a:r>
          </a:p>
          <a:p>
            <a:pPr algn="l">
              <a:spcAft>
                <a:spcPts val="400"/>
              </a:spcAft>
            </a:pPr>
            <a:r>
              <a:rPr sz="1600" b="0" i="0">
                <a:solidFill>
                  <a:srgbClr val="2C3548"/>
                </a:solidFill>
                <a:latin typeface="Microsoft YaHei"/>
                <a:ea typeface="Microsoft YaHei"/>
              </a:rPr>
              <a:t>West of Taibai only a bird-path could cross to Emei’s peak. Earth split, mountains fell, heroes died—then sky-ladders and stone galleries linked the way.</a:t>
            </a:r>
          </a:p>
          <a:p>
            <a:pPr algn="l">
              <a:spcAft>
                <a:spcPts val="400"/>
              </a:spcAft>
            </a:pPr>
            <a:r>
              <a:rPr sz="1600" b="0" i="0">
                <a:solidFill>
                  <a:srgbClr val="2C3548"/>
                </a:solidFill>
                <a:latin typeface="Microsoft YaHei"/>
                <a:ea typeface="Microsoft YaHei"/>
              </a:rPr>
              <a:t>Above: a peak so high the six dragons of the sun turn back; below: swirling rivers that reverse their course. Even yellow cranes cannot fly over; gibbons fret at the climb.</a:t>
            </a:r>
          </a:p>
          <a:p>
            <a:pPr algn="l">
              <a:spcAft>
                <a:spcPts val="400"/>
              </a:spcAft>
            </a:pPr>
            <a:r>
              <a:rPr sz="1600" b="0" i="0">
                <a:solidFill>
                  <a:srgbClr val="2C3548"/>
                </a:solidFill>
                <a:latin typeface="Microsoft YaHei"/>
                <a:ea typeface="Microsoft YaHei"/>
              </a:rPr>
              <a:t>How winding is Qingni Pass—a hundred steps, nine bends around the ridges. Touching the stars, one gasps; hand on breast, one sits and sighs.</a:t>
            </a:r>
          </a:p>
          <a:p>
            <a:pPr algn="l">
              <a:spcAft>
                <a:spcPts val="400"/>
              </a:spcAft>
            </a:pPr>
            <a:r>
              <a:rPr sz="1600" b="0" i="0">
                <a:solidFill>
                  <a:srgbClr val="2C3548"/>
                </a:solidFill>
                <a:latin typeface="Microsoft YaHei"/>
                <a:ea typeface="Microsoft YaHei"/>
              </a:rPr>
              <a:t>Friend, when will you return from the west? The dread road’s cliffs cannot be scaled. Only mournful birds cry in ancient trees; male and female wheel through the woods.</a:t>
            </a:r>
          </a:p>
          <a:p>
            <a:pPr algn="l">
              <a:spcAft>
                <a:spcPts val="400"/>
              </a:spcAft>
            </a:pPr>
            <a:r>
              <a:rPr sz="1600" b="0" i="0">
                <a:solidFill>
                  <a:srgbClr val="2C3548"/>
                </a:solidFill>
                <a:latin typeface="Microsoft YaHei"/>
                <a:ea typeface="Microsoft YaHei"/>
              </a:rPr>
              <a:t>Again the cuckoo weeps under the night moon, grieving in empty mountains. The road to Shu is harder than the sky—hearing this, one’s rosy cheeks fade!</a:t>
            </a:r>
          </a:p>
          <a:p>
            <a:pPr algn="l">
              <a:spcAft>
                <a:spcPts val="400"/>
              </a:spcAft>
            </a:pPr>
            <a:r>
              <a:rPr sz="1600" b="0" i="0">
                <a:solidFill>
                  <a:srgbClr val="2C3548"/>
                </a:solidFill>
                <a:latin typeface="Microsoft YaHei"/>
                <a:ea typeface="Microsoft YaHei"/>
              </a:rPr>
              <a:t>Peaks leave less than a foot to heaven; withered pines hang from cliffs. Torrents roar; boulders thunder in ten thousand gullies.</a:t>
            </a:r>
          </a:p>
          <a:p>
            <a:pPr algn="l">
              <a:spcAft>
                <a:spcPts val="400"/>
              </a:spcAft>
            </a:pPr>
            <a:r>
              <a:rPr sz="1600" b="0" i="0">
                <a:solidFill>
                  <a:srgbClr val="2C3548"/>
                </a:solidFill>
                <a:latin typeface="Microsoft YaHei"/>
                <a:ea typeface="Microsoft YaHei"/>
              </a:rPr>
              <a:t>Such danger—why, traveler, have you come so far?</a:t>
            </a:r>
          </a:p>
          <a:p>
            <a:pPr algn="l">
              <a:spcAft>
                <a:spcPts val="400"/>
              </a:spcAft>
            </a:pPr>
            <a:r>
              <a:rPr sz="1600" b="0" i="0">
                <a:solidFill>
                  <a:srgbClr val="2C3548"/>
                </a:solidFill>
                <a:latin typeface="Microsoft YaHei"/>
                <a:ea typeface="Microsoft YaHei"/>
              </a:rPr>
              <a:t>Jianmen Tower looms steep: one man holds the pass, ten thousand cannot open it. If the guard be not loyal, he turns wolf and jackal.</a:t>
            </a:r>
          </a:p>
          <a:p>
            <a:pPr algn="l">
              <a:spcAft>
                <a:spcPts val="400"/>
              </a:spcAft>
            </a:pPr>
            <a:r>
              <a:rPr sz="1600" b="0" i="0">
                <a:solidFill>
                  <a:srgbClr val="2C3548"/>
                </a:solidFill>
                <a:latin typeface="Microsoft YaHei"/>
                <a:ea typeface="Microsoft YaHei"/>
              </a:rPr>
              <a:t>By day flee tigers, by night long snakes—they grind teeth, suck blood, kill like hemp. Though Brocade City is said to be joyous, better return home early.</a:t>
            </a:r>
          </a:p>
          <a:p>
            <a:pPr algn="l">
              <a:spcAft>
                <a:spcPts val="400"/>
              </a:spcAft>
            </a:pPr>
            <a:r>
              <a:rPr sz="1600" b="0" i="0">
                <a:solidFill>
                  <a:srgbClr val="2C3548"/>
                </a:solidFill>
                <a:latin typeface="Microsoft YaHei"/>
                <a:ea typeface="Microsoft YaHei"/>
              </a:rPr>
              <a:t>The road to Shu is harder than climbing the blue sky; I turn west and heave a long sigh!</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蜀道难  |  46/83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《蜀道难》 · 创作背景 Context</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蜀道难》为李白代表作，贺知章读后叹为“谪仙人”。诗用乐府旧题，极写秦蜀栈道之险。关于主旨，历代有多种说法：送友人入蜀告诫、讽喻蜀地形胜易生割据、或纯以山川雄奇骋才。无论何解，其艺术成就在于将地理险阻写成震撼人心的音乐化长篇。</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A signature masterpiece; He Zhizhang called Li Bai a “banished immortal” after reading it. Readings vary: warning a friend entering Shu, political allegory about strategic terrain, or pure landscape virtuosity. Its power lies in turning geography into thunderous, musical verse.</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蜀道难  |  47/83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《蜀道难》 · 诗文意义 Meaning</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以“难于上青天”为主旋律三次反复，穿插神话、历史、鸟兽、山水与政治隐忧，句式长短错落，情绪大起大落。它不仅写蜀道，更写人生之路的艰危，以及诗人面对绝境时的惊叹、忧虑与豪迈才情。是盛唐浪漫主义诗歌的高峰之一。</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The refrain “harder than the blue sky” returns three times, mixing myth, history, beasts, landscape, and political unease. Irregular lines surge and crash. Beyond Shu’s roads, it figures life’s perils—and Li Bai’s awe, alarm, and genius.</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蜀道难  |  48/83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144000" cy="365760"/>
          </a:xfrm>
          <a:prstGeom prst="rect">
            <a:avLst/>
          </a:prstGeom>
          <a:noFill/>
        </p:spPr>
        <p:txBody>
          <a:bodyPr wrap="square" anchor="t"/>
          <a:lstStyle/>
          <a:p>
            <a:pPr algn="l">
              <a:spcAft>
                <a:spcPts val="400"/>
              </a:spcAft>
            </a:pPr>
            <a:r>
              <a:rPr sz="1600" b="1" i="0">
                <a:solidFill>
                  <a:srgbClr val="A67C52"/>
                </a:solidFill>
                <a:latin typeface="Microsoft YaHei"/>
                <a:ea typeface="Microsoft YaHei"/>
              </a:rPr>
              <a:t>第 8 篇  /  Poem 8</a:t>
            </a:r>
          </a:p>
        </p:txBody>
      </p:sp>
      <p:sp>
        <p:nvSpPr>
          <p:cNvPr id="5" name="TextBox 4"/>
          <p:cNvSpPr txBox="1"/>
          <p:nvPr/>
        </p:nvSpPr>
        <p:spPr>
          <a:xfrm>
            <a:off x="1097280" y="2377440"/>
            <a:ext cx="10058400" cy="822960"/>
          </a:xfrm>
          <a:prstGeom prst="rect">
            <a:avLst/>
          </a:prstGeom>
          <a:noFill/>
        </p:spPr>
        <p:txBody>
          <a:bodyPr wrap="square" anchor="t"/>
          <a:lstStyle/>
          <a:p>
            <a:pPr algn="l">
              <a:spcAft>
                <a:spcPts val="400"/>
              </a:spcAft>
            </a:pPr>
            <a:r>
              <a:rPr sz="4000" b="1" i="0">
                <a:solidFill>
                  <a:srgbClr val="FFFFFF"/>
                </a:solidFill>
                <a:latin typeface="Microsoft YaHei"/>
                <a:ea typeface="Microsoft YaHei"/>
              </a:rPr>
              <a:t>《将进酒》</a:t>
            </a:r>
          </a:p>
        </p:txBody>
      </p:sp>
      <p:sp>
        <p:nvSpPr>
          <p:cNvPr id="6" name="TextBox 5"/>
          <p:cNvSpPr txBox="1"/>
          <p:nvPr/>
        </p:nvSpPr>
        <p:spPr>
          <a:xfrm>
            <a:off x="1097280" y="3291840"/>
            <a:ext cx="10058400" cy="457200"/>
          </a:xfrm>
          <a:prstGeom prst="rect">
            <a:avLst/>
          </a:prstGeom>
          <a:noFill/>
        </p:spPr>
        <p:txBody>
          <a:bodyPr wrap="square" anchor="t"/>
          <a:lstStyle/>
          <a:p>
            <a:pPr algn="l">
              <a:spcAft>
                <a:spcPts val="400"/>
              </a:spcAft>
            </a:pPr>
            <a:r>
              <a:rPr sz="2000" b="0" i="1">
                <a:solidFill>
                  <a:srgbClr val="E8E0D0"/>
                </a:solidFill>
                <a:latin typeface="Microsoft YaHei"/>
                <a:ea typeface="Microsoft YaHei"/>
              </a:rPr>
              <a:t>Bring in the Wine</a:t>
            </a:r>
          </a:p>
        </p:txBody>
      </p:sp>
      <p:sp>
        <p:nvSpPr>
          <p:cNvPr id="7" name="Rectangle 6"/>
          <p:cNvSpPr/>
          <p:nvPr/>
        </p:nvSpPr>
        <p:spPr>
          <a:xfrm>
            <a:off x="1097280" y="3931920"/>
            <a:ext cx="2011680" cy="54864"/>
          </a:xfrm>
          <a:prstGeom prst="rect">
            <a:avLst/>
          </a:prstGeom>
          <a:solidFill>
            <a:srgbClr val="2A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731520"/>
          </a:xfrm>
          <a:prstGeom prst="rect">
            <a:avLst/>
          </a:prstGeom>
          <a:noFill/>
        </p:spPr>
        <p:txBody>
          <a:bodyPr wrap="square" anchor="t"/>
          <a:lstStyle/>
          <a:p>
            <a:pPr algn="l">
              <a:spcAft>
                <a:spcPts val="400"/>
              </a:spcAft>
            </a:pPr>
            <a:r>
              <a:rPr sz="1400" b="0" i="0">
                <a:solidFill>
                  <a:srgbClr val="F7F3EB"/>
                </a:solidFill>
                <a:latin typeface="Microsoft YaHei"/>
                <a:ea typeface="Microsoft YaHei"/>
              </a:rPr>
              <a:t>乐府歌行 / Yuefu song</a:t>
            </a:r>
          </a:p>
          <a:p>
            <a:pPr algn="l">
              <a:spcAft>
                <a:spcPts val="400"/>
              </a:spcAft>
            </a:pPr>
            <a:r>
              <a:rPr sz="1400" b="0" i="0">
                <a:solidFill>
                  <a:srgbClr val="F7F3EB"/>
                </a:solidFill>
                <a:latin typeface="Microsoft YaHei"/>
                <a:ea typeface="Microsoft YaHei"/>
              </a:rPr>
              <a:t>约天宝年间 · 与友人岑勋、元丹丘宴饮时</a:t>
            </a:r>
          </a:p>
          <a:p>
            <a:pPr algn="l">
              <a:spcAft>
                <a:spcPts val="400"/>
              </a:spcAft>
            </a:pPr>
            <a:r>
              <a:rPr sz="1400" b="0" i="0">
                <a:solidFill>
                  <a:srgbClr val="F7F3EB"/>
                </a:solidFill>
                <a:latin typeface="Microsoft YaHei"/>
                <a:ea typeface="Microsoft YaHei"/>
              </a:rPr>
              <a:t>关键词 Keywords：纵酒 · 自信 · 时光 · 万古愁</a:t>
            </a:r>
          </a:p>
        </p:txBody>
      </p:sp>
      <p:sp>
        <p:nvSpPr>
          <p:cNvPr id="9" name="TextBox 8"/>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将进酒  |  49/83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《将进酒》 · 原文 Original Chinese</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君不见黄河之水天上来，奔流到海不复回。</a:t>
            </a:r>
          </a:p>
          <a:p>
            <a:pPr algn="l">
              <a:spcAft>
                <a:spcPts val="400"/>
              </a:spcAft>
            </a:pPr>
            <a:r>
              <a:rPr sz="1500" b="0" i="0">
                <a:solidFill>
                  <a:srgbClr val="1A1F2E"/>
                </a:solidFill>
                <a:latin typeface="Microsoft YaHei"/>
                <a:ea typeface="Microsoft YaHei"/>
              </a:rPr>
              <a:t>君不见高堂明镜悲白发，朝如青丝暮成雪。</a:t>
            </a:r>
          </a:p>
          <a:p>
            <a:pPr algn="l">
              <a:spcAft>
                <a:spcPts val="400"/>
              </a:spcAft>
            </a:pPr>
            <a:r>
              <a:rPr sz="1500" b="0" i="0">
                <a:solidFill>
                  <a:srgbClr val="1A1F2E"/>
                </a:solidFill>
                <a:latin typeface="Microsoft YaHei"/>
                <a:ea typeface="Microsoft YaHei"/>
              </a:rPr>
              <a:t>人生得意须尽欢，莫使金樽空对月。</a:t>
            </a:r>
          </a:p>
          <a:p>
            <a:pPr algn="l">
              <a:spcAft>
                <a:spcPts val="400"/>
              </a:spcAft>
            </a:pPr>
            <a:r>
              <a:rPr sz="1500" b="0" i="0">
                <a:solidFill>
                  <a:srgbClr val="1A1F2E"/>
                </a:solidFill>
                <a:latin typeface="Microsoft YaHei"/>
                <a:ea typeface="Microsoft YaHei"/>
              </a:rPr>
              <a:t>天生我材必有用，千金散尽还复来。</a:t>
            </a:r>
          </a:p>
          <a:p>
            <a:pPr algn="l">
              <a:spcAft>
                <a:spcPts val="400"/>
              </a:spcAft>
            </a:pPr>
            <a:r>
              <a:rPr sz="1500" b="0" i="0">
                <a:solidFill>
                  <a:srgbClr val="1A1F2E"/>
                </a:solidFill>
                <a:latin typeface="Microsoft YaHei"/>
                <a:ea typeface="Microsoft YaHei"/>
              </a:rPr>
              <a:t>烹羊宰牛且为乐，会须一饮三百杯。</a:t>
            </a:r>
          </a:p>
          <a:p>
            <a:pPr algn="l">
              <a:spcAft>
                <a:spcPts val="400"/>
              </a:spcAft>
            </a:pPr>
            <a:r>
              <a:rPr sz="1500" b="0" i="0">
                <a:solidFill>
                  <a:srgbClr val="1A1F2E"/>
                </a:solidFill>
                <a:latin typeface="Microsoft YaHei"/>
                <a:ea typeface="Microsoft YaHei"/>
              </a:rPr>
              <a:t>岑夫子，丹丘生，将进酒，杯莫停。</a:t>
            </a:r>
          </a:p>
          <a:p>
            <a:pPr algn="l">
              <a:spcAft>
                <a:spcPts val="400"/>
              </a:spcAft>
            </a:pPr>
            <a:r>
              <a:rPr sz="1500" b="0" i="0">
                <a:solidFill>
                  <a:srgbClr val="1A1F2E"/>
                </a:solidFill>
                <a:latin typeface="Microsoft YaHei"/>
                <a:ea typeface="Microsoft YaHei"/>
              </a:rPr>
              <a:t>与君歌一曲，请君为我倾耳听。</a:t>
            </a:r>
          </a:p>
          <a:p>
            <a:pPr algn="l">
              <a:spcAft>
                <a:spcPts val="400"/>
              </a:spcAft>
            </a:pPr>
            <a:r>
              <a:rPr sz="1500" b="0" i="0">
                <a:solidFill>
                  <a:srgbClr val="1A1F2E"/>
                </a:solidFill>
                <a:latin typeface="Microsoft YaHei"/>
                <a:ea typeface="Microsoft YaHei"/>
              </a:rPr>
              <a:t>钟鼓馔玉不足贵，但愿长醉不复醒。</a:t>
            </a:r>
          </a:p>
          <a:p>
            <a:pPr algn="l">
              <a:spcAft>
                <a:spcPts val="400"/>
              </a:spcAft>
            </a:pPr>
            <a:r>
              <a:rPr sz="1500" b="0" i="0">
                <a:solidFill>
                  <a:srgbClr val="1A1F2E"/>
                </a:solidFill>
                <a:latin typeface="Microsoft YaHei"/>
                <a:ea typeface="Microsoft YaHei"/>
              </a:rPr>
              <a:t>古来圣贤皆寂寞，惟有饮者留其名。</a:t>
            </a:r>
          </a:p>
          <a:p>
            <a:pPr algn="l">
              <a:spcAft>
                <a:spcPts val="400"/>
              </a:spcAft>
            </a:pPr>
            <a:r>
              <a:rPr sz="1500" b="0" i="0">
                <a:solidFill>
                  <a:srgbClr val="1A1F2E"/>
                </a:solidFill>
                <a:latin typeface="Microsoft YaHei"/>
                <a:ea typeface="Microsoft YaHei"/>
              </a:rPr>
              <a:t>陈王昔时宴平乐，斗酒十千恣欢谑。</a:t>
            </a:r>
          </a:p>
          <a:p>
            <a:pPr algn="l">
              <a:spcAft>
                <a:spcPts val="400"/>
              </a:spcAft>
            </a:pPr>
            <a:r>
              <a:rPr sz="1500" b="0" i="0">
                <a:solidFill>
                  <a:srgbClr val="1A1F2E"/>
                </a:solidFill>
                <a:latin typeface="Microsoft YaHei"/>
                <a:ea typeface="Microsoft YaHei"/>
              </a:rPr>
              <a:t>主人何为言少钱，径须沽取对君酌。</a:t>
            </a:r>
          </a:p>
          <a:p>
            <a:pPr algn="l">
              <a:spcAft>
                <a:spcPts val="400"/>
              </a:spcAft>
            </a:pPr>
            <a:r>
              <a:rPr sz="1500" b="0" i="0">
                <a:solidFill>
                  <a:srgbClr val="1A1F2E"/>
                </a:solidFill>
                <a:latin typeface="Microsoft YaHei"/>
                <a:ea typeface="Microsoft YaHei"/>
              </a:rPr>
              <a:t>五花马，千金裘，呼儿将出换美酒，与尔同销万古愁。</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将进酒  |  50/83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Bring in the Wine · 英译 English Translation</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200" b="0" i="0">
                <a:solidFill>
                  <a:srgbClr val="2C3548"/>
                </a:solidFill>
                <a:latin typeface="Microsoft YaHei"/>
                <a:ea typeface="Microsoft YaHei"/>
              </a:rPr>
              <a:t>Have you not seen the Yellow River’s waters come from Heaven,</a:t>
            </a:r>
          </a:p>
          <a:p>
            <a:pPr algn="l">
              <a:spcAft>
                <a:spcPts val="400"/>
              </a:spcAft>
            </a:pPr>
            <a:r>
              <a:rPr sz="1200" b="0" i="0">
                <a:solidFill>
                  <a:srgbClr val="2C3548"/>
                </a:solidFill>
                <a:latin typeface="Microsoft YaHei"/>
                <a:ea typeface="Microsoft YaHei"/>
              </a:rPr>
              <a:t>Rushing to the sea, never to return?</a:t>
            </a:r>
          </a:p>
          <a:p>
            <a:pPr algn="l">
              <a:spcAft>
                <a:spcPts val="400"/>
              </a:spcAft>
            </a:pPr>
            <a:r>
              <a:rPr sz="1200" b="0" i="0">
                <a:solidFill>
                  <a:srgbClr val="2C3548"/>
                </a:solidFill>
                <a:latin typeface="Microsoft YaHei"/>
                <a:ea typeface="Microsoft YaHei"/>
              </a:rPr>
              <a:t>Have you not seen, in bright mirrors of high halls, grieving over white hair—</a:t>
            </a:r>
          </a:p>
          <a:p>
            <a:pPr algn="l">
              <a:spcAft>
                <a:spcPts val="400"/>
              </a:spcAft>
            </a:pPr>
            <a:r>
              <a:rPr sz="1200" b="0" i="0">
                <a:solidFill>
                  <a:srgbClr val="2C3548"/>
                </a:solidFill>
                <a:latin typeface="Microsoft YaHei"/>
                <a:ea typeface="Microsoft YaHei"/>
              </a:rPr>
              <a:t>At dawn like black silk, by evening turned to snow?</a:t>
            </a:r>
          </a:p>
          <a:p>
            <a:pPr algn="l">
              <a:spcAft>
                <a:spcPts val="400"/>
              </a:spcAft>
            </a:pPr>
            <a:r>
              <a:rPr sz="1200" b="0" i="0">
                <a:solidFill>
                  <a:srgbClr val="2C3548"/>
                </a:solidFill>
                <a:latin typeface="Microsoft YaHei"/>
                <a:ea typeface="Microsoft YaHei"/>
              </a:rPr>
              <a:t>When life is glad, we must drain our joy;</a:t>
            </a:r>
          </a:p>
          <a:p>
            <a:pPr algn="l">
              <a:spcAft>
                <a:spcPts val="400"/>
              </a:spcAft>
            </a:pPr>
            <a:r>
              <a:rPr sz="1200" b="0" i="0">
                <a:solidFill>
                  <a:srgbClr val="2C3548"/>
                </a:solidFill>
                <a:latin typeface="Microsoft YaHei"/>
                <a:ea typeface="Microsoft YaHei"/>
              </a:rPr>
              <a:t>Never let the golden cup face the moon in vain.</a:t>
            </a:r>
          </a:p>
          <a:p>
            <a:pPr algn="l">
              <a:spcAft>
                <a:spcPts val="400"/>
              </a:spcAft>
            </a:pPr>
            <a:r>
              <a:rPr sz="1200" b="0" i="0">
                <a:solidFill>
                  <a:srgbClr val="2C3548"/>
                </a:solidFill>
                <a:latin typeface="Microsoft YaHei"/>
                <a:ea typeface="Microsoft YaHei"/>
              </a:rPr>
              <a:t>Heaven made me—my talent must be of use;</a:t>
            </a:r>
          </a:p>
          <a:p>
            <a:pPr algn="l">
              <a:spcAft>
                <a:spcPts val="400"/>
              </a:spcAft>
            </a:pPr>
            <a:r>
              <a:rPr sz="1200" b="0" i="0">
                <a:solidFill>
                  <a:srgbClr val="2C3548"/>
                </a:solidFill>
                <a:latin typeface="Microsoft YaHei"/>
                <a:ea typeface="Microsoft YaHei"/>
              </a:rPr>
              <a:t>A thousand gold pieces spent will come again.</a:t>
            </a:r>
          </a:p>
          <a:p>
            <a:pPr algn="l">
              <a:spcAft>
                <a:spcPts val="400"/>
              </a:spcAft>
            </a:pPr>
            <a:r>
              <a:rPr sz="1200" b="0" i="0">
                <a:solidFill>
                  <a:srgbClr val="2C3548"/>
                </a:solidFill>
                <a:latin typeface="Microsoft YaHei"/>
                <a:ea typeface="Microsoft YaHei"/>
              </a:rPr>
              <a:t>Cook the lamb, butcher the ox—let us make merry;</a:t>
            </a:r>
          </a:p>
          <a:p>
            <a:pPr algn="l">
              <a:spcAft>
                <a:spcPts val="400"/>
              </a:spcAft>
            </a:pPr>
            <a:r>
              <a:rPr sz="1200" b="0" i="0">
                <a:solidFill>
                  <a:srgbClr val="2C3548"/>
                </a:solidFill>
                <a:latin typeface="Microsoft YaHei"/>
                <a:ea typeface="Microsoft YaHei"/>
              </a:rPr>
              <a:t>We must drink three hundred cups at one sitting.</a:t>
            </a:r>
          </a:p>
          <a:p>
            <a:pPr algn="l">
              <a:spcAft>
                <a:spcPts val="400"/>
              </a:spcAft>
            </a:pPr>
            <a:r>
              <a:rPr sz="1200" b="0" i="0">
                <a:solidFill>
                  <a:srgbClr val="2C3548"/>
                </a:solidFill>
                <a:latin typeface="Microsoft YaHei"/>
                <a:ea typeface="Microsoft YaHei"/>
              </a:rPr>
              <a:t>Master Cen, Danqiu my friend—bring in the wine, don’t set the cups down!</a:t>
            </a:r>
          </a:p>
          <a:p>
            <a:pPr algn="l">
              <a:spcAft>
                <a:spcPts val="400"/>
              </a:spcAft>
            </a:pPr>
            <a:r>
              <a:rPr sz="1200" b="0" i="0">
                <a:solidFill>
                  <a:srgbClr val="2C3548"/>
                </a:solidFill>
                <a:latin typeface="Microsoft YaHei"/>
                <a:ea typeface="Microsoft YaHei"/>
              </a:rPr>
              <a:t>I sing you a song; lend me your ear.</a:t>
            </a:r>
          </a:p>
          <a:p>
            <a:pPr algn="l">
              <a:spcAft>
                <a:spcPts val="400"/>
              </a:spcAft>
            </a:pPr>
            <a:r>
              <a:rPr sz="1200" b="0" i="0">
                <a:solidFill>
                  <a:srgbClr val="2C3548"/>
                </a:solidFill>
                <a:latin typeface="Microsoft YaHei"/>
                <a:ea typeface="Microsoft YaHei"/>
              </a:rPr>
              <a:t>Bells, drums, and jade delicacies are not worth treasure;</a:t>
            </a:r>
          </a:p>
          <a:p>
            <a:pPr algn="l">
              <a:spcAft>
                <a:spcPts val="400"/>
              </a:spcAft>
            </a:pPr>
            <a:r>
              <a:rPr sz="1200" b="0" i="0">
                <a:solidFill>
                  <a:srgbClr val="2C3548"/>
                </a:solidFill>
                <a:latin typeface="Microsoft YaHei"/>
                <a:ea typeface="Microsoft YaHei"/>
              </a:rPr>
              <a:t>I only wish to stay forever drunk and never wake.</a:t>
            </a:r>
          </a:p>
          <a:p>
            <a:pPr algn="l">
              <a:spcAft>
                <a:spcPts val="400"/>
              </a:spcAft>
            </a:pPr>
            <a:r>
              <a:rPr sz="1200" b="0" i="0">
                <a:solidFill>
                  <a:srgbClr val="2C3548"/>
                </a:solidFill>
                <a:latin typeface="Microsoft YaHei"/>
                <a:ea typeface="Microsoft YaHei"/>
              </a:rPr>
              <a:t>Sages of old have all been lonely;</a:t>
            </a:r>
          </a:p>
          <a:p>
            <a:pPr algn="l">
              <a:spcAft>
                <a:spcPts val="400"/>
              </a:spcAft>
            </a:pPr>
            <a:r>
              <a:rPr sz="1200" b="0" i="0">
                <a:solidFill>
                  <a:srgbClr val="2C3548"/>
                </a:solidFill>
                <a:latin typeface="Microsoft YaHei"/>
                <a:ea typeface="Microsoft YaHei"/>
              </a:rPr>
              <a:t>Only the drinkers left their names.</a:t>
            </a:r>
          </a:p>
          <a:p>
            <a:pPr algn="l">
              <a:spcAft>
                <a:spcPts val="400"/>
              </a:spcAft>
            </a:pPr>
            <a:r>
              <a:rPr sz="1200" b="0" i="0">
                <a:solidFill>
                  <a:srgbClr val="2C3548"/>
                </a:solidFill>
                <a:latin typeface="Microsoft YaHei"/>
                <a:ea typeface="Microsoft YaHei"/>
              </a:rPr>
              <a:t>Prince Chen once feasted at Pingle,</a:t>
            </a:r>
          </a:p>
          <a:p>
            <a:pPr algn="l">
              <a:spcAft>
                <a:spcPts val="400"/>
              </a:spcAft>
            </a:pPr>
            <a:r>
              <a:rPr sz="1200" b="0" i="0">
                <a:solidFill>
                  <a:srgbClr val="2C3548"/>
                </a:solidFill>
                <a:latin typeface="Microsoft YaHei"/>
                <a:ea typeface="Microsoft YaHei"/>
              </a:rPr>
              <a:t>Ten thousand a dipper, wild in joy and jest.</a:t>
            </a:r>
          </a:p>
          <a:p>
            <a:pPr algn="l">
              <a:spcAft>
                <a:spcPts val="400"/>
              </a:spcAft>
            </a:pPr>
            <a:r>
              <a:rPr sz="1200" b="0" i="0">
                <a:solidFill>
                  <a:srgbClr val="2C3548"/>
                </a:solidFill>
                <a:latin typeface="Microsoft YaHei"/>
                <a:ea typeface="Microsoft YaHei"/>
              </a:rPr>
              <a:t>Host, why speak of little money?</a:t>
            </a:r>
          </a:p>
          <a:p>
            <a:pPr algn="l">
              <a:spcAft>
                <a:spcPts val="400"/>
              </a:spcAft>
            </a:pPr>
            <a:r>
              <a:rPr sz="1200" b="0" i="0">
                <a:solidFill>
                  <a:srgbClr val="2C3548"/>
                </a:solidFill>
                <a:latin typeface="Microsoft YaHei"/>
                <a:ea typeface="Microsoft YaHei"/>
              </a:rPr>
              <a:t>Just buy wine and drink with you.</a:t>
            </a:r>
          </a:p>
          <a:p>
            <a:pPr algn="l">
              <a:spcAft>
                <a:spcPts val="400"/>
              </a:spcAft>
            </a:pPr>
            <a:r>
              <a:rPr sz="1200" b="0" i="0">
                <a:solidFill>
                  <a:srgbClr val="2C3548"/>
                </a:solidFill>
                <a:latin typeface="Microsoft YaHei"/>
                <a:ea typeface="Microsoft YaHei"/>
              </a:rPr>
              <a:t>Piebaald horse, fur coat worth a thousand gold—</a:t>
            </a:r>
          </a:p>
          <a:p>
            <a:pPr algn="l">
              <a:spcAft>
                <a:spcPts val="400"/>
              </a:spcAft>
            </a:pPr>
            <a:r>
              <a:rPr sz="1200" b="0" i="0">
                <a:solidFill>
                  <a:srgbClr val="2C3548"/>
                </a:solidFill>
                <a:latin typeface="Microsoft YaHei"/>
                <a:ea typeface="Microsoft YaHei"/>
              </a:rPr>
              <a:t>Call the boy to take them out and trade for fine wine,</a:t>
            </a:r>
          </a:p>
          <a:p>
            <a:pPr algn="l">
              <a:spcAft>
                <a:spcPts val="400"/>
              </a:spcAft>
            </a:pPr>
            <a:r>
              <a:rPr sz="1200" b="0" i="0">
                <a:solidFill>
                  <a:srgbClr val="2C3548"/>
                </a:solidFill>
                <a:latin typeface="Microsoft YaHei"/>
                <a:ea typeface="Microsoft YaHei"/>
              </a:rPr>
              <a:t>And with you I’ll melt ten thousand ages of sorrow.</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将进酒  |  51/83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《将进酒》 · 中英对照 Bilingual</a:t>
            </a:r>
          </a:p>
        </p:txBody>
      </p:sp>
      <p:sp>
        <p:nvSpPr>
          <p:cNvPr id="5" name="Rectangle 4"/>
          <p:cNvSpPr/>
          <p:nvPr/>
        </p:nvSpPr>
        <p:spPr>
          <a:xfrm>
            <a:off x="457200" y="914400"/>
            <a:ext cx="5394960" cy="502920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09360" y="914400"/>
            <a:ext cx="5394960" cy="5029200"/>
          </a:xfrm>
          <a:prstGeom prst="rect">
            <a:avLst/>
          </a:prstGeom>
          <a:solidFill>
            <a:srgbClr val="EE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中文</a:t>
            </a:r>
          </a:p>
        </p:txBody>
      </p:sp>
      <p:sp>
        <p:nvSpPr>
          <p:cNvPr id="8" name="TextBox 7"/>
          <p:cNvSpPr txBox="1"/>
          <p:nvPr/>
        </p:nvSpPr>
        <p:spPr>
          <a:xfrm>
            <a:off x="649224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English</a:t>
            </a:r>
          </a:p>
        </p:txBody>
      </p:sp>
      <p:sp>
        <p:nvSpPr>
          <p:cNvPr id="9" name="TextBox 8"/>
          <p:cNvSpPr txBox="1"/>
          <p:nvPr/>
        </p:nvSpPr>
        <p:spPr>
          <a:xfrm>
            <a:off x="640080" y="1417320"/>
            <a:ext cx="5029200" cy="4389120"/>
          </a:xfrm>
          <a:prstGeom prst="rect">
            <a:avLst/>
          </a:prstGeom>
          <a:noFill/>
        </p:spPr>
        <p:txBody>
          <a:bodyPr wrap="square" anchor="t"/>
          <a:lstStyle/>
          <a:p>
            <a:pPr algn="l">
              <a:spcAft>
                <a:spcPts val="400"/>
              </a:spcAft>
            </a:pPr>
            <a:r>
              <a:rPr sz="1400" b="0" i="0">
                <a:solidFill>
                  <a:srgbClr val="1A1F2E"/>
                </a:solidFill>
                <a:latin typeface="Microsoft YaHei"/>
                <a:ea typeface="Microsoft YaHei"/>
              </a:rPr>
              <a:t>君不见黄河之水天上来，奔流到海不复回。</a:t>
            </a:r>
          </a:p>
          <a:p>
            <a:pPr algn="l">
              <a:spcAft>
                <a:spcPts val="400"/>
              </a:spcAft>
            </a:pPr>
            <a:r>
              <a:rPr sz="1400" b="0" i="0">
                <a:solidFill>
                  <a:srgbClr val="1A1F2E"/>
                </a:solidFill>
                <a:latin typeface="Microsoft YaHei"/>
                <a:ea typeface="Microsoft YaHei"/>
              </a:rPr>
              <a:t>君不见高堂明镜悲白发，朝如青丝暮成雪。</a:t>
            </a:r>
          </a:p>
          <a:p>
            <a:pPr algn="l">
              <a:spcAft>
                <a:spcPts val="400"/>
              </a:spcAft>
            </a:pPr>
            <a:r>
              <a:rPr sz="1400" b="0" i="0">
                <a:solidFill>
                  <a:srgbClr val="1A1F2E"/>
                </a:solidFill>
                <a:latin typeface="Microsoft YaHei"/>
                <a:ea typeface="Microsoft YaHei"/>
              </a:rPr>
              <a:t>人生得意须尽欢，莫使金樽空对月。</a:t>
            </a:r>
          </a:p>
          <a:p>
            <a:pPr algn="l">
              <a:spcAft>
                <a:spcPts val="400"/>
              </a:spcAft>
            </a:pPr>
            <a:r>
              <a:rPr sz="1400" b="0" i="0">
                <a:solidFill>
                  <a:srgbClr val="1A1F2E"/>
                </a:solidFill>
                <a:latin typeface="Microsoft YaHei"/>
                <a:ea typeface="Microsoft YaHei"/>
              </a:rPr>
              <a:t>天生我材必有用，千金散尽还复来。</a:t>
            </a:r>
          </a:p>
          <a:p>
            <a:pPr algn="l">
              <a:spcAft>
                <a:spcPts val="400"/>
              </a:spcAft>
            </a:pPr>
            <a:r>
              <a:rPr sz="1400" b="0" i="0">
                <a:solidFill>
                  <a:srgbClr val="1A1F2E"/>
                </a:solidFill>
                <a:latin typeface="Microsoft YaHei"/>
                <a:ea typeface="Microsoft YaHei"/>
              </a:rPr>
              <a:t>烹羊宰牛且为乐，会须一饮三百杯。</a:t>
            </a:r>
          </a:p>
          <a:p>
            <a:pPr algn="l">
              <a:spcAft>
                <a:spcPts val="400"/>
              </a:spcAft>
            </a:pPr>
            <a:r>
              <a:rPr sz="1400" b="0" i="0">
                <a:solidFill>
                  <a:srgbClr val="1A1F2E"/>
                </a:solidFill>
                <a:latin typeface="Microsoft YaHei"/>
                <a:ea typeface="Microsoft YaHei"/>
              </a:rPr>
              <a:t>岑夫子，丹丘生，将进酒，杯莫停。</a:t>
            </a:r>
          </a:p>
          <a:p>
            <a:pPr algn="l">
              <a:spcAft>
                <a:spcPts val="400"/>
              </a:spcAft>
            </a:pPr>
            <a:r>
              <a:rPr sz="1400" b="0" i="0">
                <a:solidFill>
                  <a:srgbClr val="1A1F2E"/>
                </a:solidFill>
                <a:latin typeface="Microsoft YaHei"/>
                <a:ea typeface="Microsoft YaHei"/>
              </a:rPr>
              <a:t>与君歌一曲，请君为我倾耳听。</a:t>
            </a:r>
          </a:p>
          <a:p>
            <a:pPr algn="l">
              <a:spcAft>
                <a:spcPts val="400"/>
              </a:spcAft>
            </a:pPr>
            <a:r>
              <a:rPr sz="1400" b="0" i="0">
                <a:solidFill>
                  <a:srgbClr val="1A1F2E"/>
                </a:solidFill>
                <a:latin typeface="Microsoft YaHei"/>
                <a:ea typeface="Microsoft YaHei"/>
              </a:rPr>
              <a:t>钟鼓馔玉不足贵，但愿长醉不复醒。</a:t>
            </a:r>
          </a:p>
          <a:p>
            <a:pPr algn="l">
              <a:spcAft>
                <a:spcPts val="400"/>
              </a:spcAft>
            </a:pPr>
            <a:r>
              <a:rPr sz="1400" b="0" i="0">
                <a:solidFill>
                  <a:srgbClr val="1A1F2E"/>
                </a:solidFill>
                <a:latin typeface="Microsoft YaHei"/>
                <a:ea typeface="Microsoft YaHei"/>
              </a:rPr>
              <a:t>古来圣贤皆寂寞，惟有饮者留其名。</a:t>
            </a:r>
          </a:p>
          <a:p>
            <a:pPr algn="l">
              <a:spcAft>
                <a:spcPts val="400"/>
              </a:spcAft>
            </a:pPr>
            <a:r>
              <a:rPr sz="1400" b="0" i="0">
                <a:solidFill>
                  <a:srgbClr val="1A1F2E"/>
                </a:solidFill>
                <a:latin typeface="Microsoft YaHei"/>
                <a:ea typeface="Microsoft YaHei"/>
              </a:rPr>
              <a:t>陈王昔时宴平乐，斗酒十千恣欢谑。</a:t>
            </a:r>
          </a:p>
          <a:p>
            <a:pPr algn="l">
              <a:spcAft>
                <a:spcPts val="400"/>
              </a:spcAft>
            </a:pPr>
            <a:r>
              <a:rPr sz="1400" b="0" i="0">
                <a:solidFill>
                  <a:srgbClr val="1A1F2E"/>
                </a:solidFill>
                <a:latin typeface="Microsoft YaHei"/>
                <a:ea typeface="Microsoft YaHei"/>
              </a:rPr>
              <a:t>主人何为言少钱，径须沽取对君酌。</a:t>
            </a:r>
          </a:p>
          <a:p>
            <a:pPr algn="l">
              <a:spcAft>
                <a:spcPts val="400"/>
              </a:spcAft>
            </a:pPr>
            <a:r>
              <a:rPr sz="1400" b="0" i="0">
                <a:solidFill>
                  <a:srgbClr val="1A1F2E"/>
                </a:solidFill>
                <a:latin typeface="Microsoft YaHei"/>
                <a:ea typeface="Microsoft YaHei"/>
              </a:rPr>
              <a:t>五花马，千金裘，呼儿将出换美酒，与尔同销万古愁。</a:t>
            </a:r>
          </a:p>
        </p:txBody>
      </p:sp>
      <p:sp>
        <p:nvSpPr>
          <p:cNvPr id="10" name="TextBox 9"/>
          <p:cNvSpPr txBox="1"/>
          <p:nvPr/>
        </p:nvSpPr>
        <p:spPr>
          <a:xfrm>
            <a:off x="6492240" y="1417320"/>
            <a:ext cx="5029200" cy="4389120"/>
          </a:xfrm>
          <a:prstGeom prst="rect">
            <a:avLst/>
          </a:prstGeom>
          <a:noFill/>
        </p:spPr>
        <p:txBody>
          <a:bodyPr wrap="square" anchor="t"/>
          <a:lstStyle/>
          <a:p>
            <a:pPr algn="l">
              <a:spcAft>
                <a:spcPts val="400"/>
              </a:spcAft>
            </a:pPr>
            <a:r>
              <a:rPr sz="1200" b="0" i="0">
                <a:solidFill>
                  <a:srgbClr val="2C3548"/>
                </a:solidFill>
                <a:latin typeface="Microsoft YaHei"/>
                <a:ea typeface="Microsoft YaHei"/>
              </a:rPr>
              <a:t>Have you not seen the Yellow River’s waters come from Heaven,</a:t>
            </a:r>
          </a:p>
          <a:p>
            <a:pPr algn="l">
              <a:spcAft>
                <a:spcPts val="400"/>
              </a:spcAft>
            </a:pPr>
            <a:r>
              <a:rPr sz="1200" b="0" i="0">
                <a:solidFill>
                  <a:srgbClr val="2C3548"/>
                </a:solidFill>
                <a:latin typeface="Microsoft YaHei"/>
                <a:ea typeface="Microsoft YaHei"/>
              </a:rPr>
              <a:t>Rushing to the sea, never to return?</a:t>
            </a:r>
          </a:p>
          <a:p>
            <a:pPr algn="l">
              <a:spcAft>
                <a:spcPts val="400"/>
              </a:spcAft>
            </a:pPr>
            <a:r>
              <a:rPr sz="1200" b="0" i="0">
                <a:solidFill>
                  <a:srgbClr val="2C3548"/>
                </a:solidFill>
                <a:latin typeface="Microsoft YaHei"/>
                <a:ea typeface="Microsoft YaHei"/>
              </a:rPr>
              <a:t>Have you not seen, in bright mirrors of high halls, grieving over white hair—</a:t>
            </a:r>
          </a:p>
          <a:p>
            <a:pPr algn="l">
              <a:spcAft>
                <a:spcPts val="400"/>
              </a:spcAft>
            </a:pPr>
            <a:r>
              <a:rPr sz="1200" b="0" i="0">
                <a:solidFill>
                  <a:srgbClr val="2C3548"/>
                </a:solidFill>
                <a:latin typeface="Microsoft YaHei"/>
                <a:ea typeface="Microsoft YaHei"/>
              </a:rPr>
              <a:t>At dawn like black silk, by evening turned to snow?</a:t>
            </a:r>
          </a:p>
          <a:p>
            <a:pPr algn="l">
              <a:spcAft>
                <a:spcPts val="400"/>
              </a:spcAft>
            </a:pPr>
            <a:r>
              <a:rPr sz="1200" b="0" i="0">
                <a:solidFill>
                  <a:srgbClr val="2C3548"/>
                </a:solidFill>
                <a:latin typeface="Microsoft YaHei"/>
                <a:ea typeface="Microsoft YaHei"/>
              </a:rPr>
              <a:t>When life is glad, we must drain our joy;</a:t>
            </a:r>
          </a:p>
          <a:p>
            <a:pPr algn="l">
              <a:spcAft>
                <a:spcPts val="400"/>
              </a:spcAft>
            </a:pPr>
            <a:r>
              <a:rPr sz="1200" b="0" i="0">
                <a:solidFill>
                  <a:srgbClr val="2C3548"/>
                </a:solidFill>
                <a:latin typeface="Microsoft YaHei"/>
                <a:ea typeface="Microsoft YaHei"/>
              </a:rPr>
              <a:t>Never let the golden cup face the moon in vain.</a:t>
            </a:r>
          </a:p>
          <a:p>
            <a:pPr algn="l">
              <a:spcAft>
                <a:spcPts val="400"/>
              </a:spcAft>
            </a:pPr>
            <a:r>
              <a:rPr sz="1200" b="0" i="0">
                <a:solidFill>
                  <a:srgbClr val="2C3548"/>
                </a:solidFill>
                <a:latin typeface="Microsoft YaHei"/>
                <a:ea typeface="Microsoft YaHei"/>
              </a:rPr>
              <a:t>Heaven made me—my talent must be of use;</a:t>
            </a:r>
          </a:p>
          <a:p>
            <a:pPr algn="l">
              <a:spcAft>
                <a:spcPts val="400"/>
              </a:spcAft>
            </a:pPr>
            <a:r>
              <a:rPr sz="1200" b="0" i="0">
                <a:solidFill>
                  <a:srgbClr val="2C3548"/>
                </a:solidFill>
                <a:latin typeface="Microsoft YaHei"/>
                <a:ea typeface="Microsoft YaHei"/>
              </a:rPr>
              <a:t>A thousand gold pieces spent will come again.</a:t>
            </a:r>
          </a:p>
          <a:p>
            <a:pPr algn="l">
              <a:spcAft>
                <a:spcPts val="400"/>
              </a:spcAft>
            </a:pPr>
            <a:r>
              <a:rPr sz="1200" b="0" i="0">
                <a:solidFill>
                  <a:srgbClr val="2C3548"/>
                </a:solidFill>
                <a:latin typeface="Microsoft YaHei"/>
                <a:ea typeface="Microsoft YaHei"/>
              </a:rPr>
              <a:t>Cook the lamb, butcher the ox—let us make merry;</a:t>
            </a:r>
          </a:p>
          <a:p>
            <a:pPr algn="l">
              <a:spcAft>
                <a:spcPts val="400"/>
              </a:spcAft>
            </a:pPr>
            <a:r>
              <a:rPr sz="1200" b="0" i="0">
                <a:solidFill>
                  <a:srgbClr val="2C3548"/>
                </a:solidFill>
                <a:latin typeface="Microsoft YaHei"/>
                <a:ea typeface="Microsoft YaHei"/>
              </a:rPr>
              <a:t>We must drink three hundred cups at one sitting.</a:t>
            </a:r>
          </a:p>
          <a:p>
            <a:pPr algn="l">
              <a:spcAft>
                <a:spcPts val="400"/>
              </a:spcAft>
            </a:pPr>
            <a:r>
              <a:rPr sz="1200" b="0" i="0">
                <a:solidFill>
                  <a:srgbClr val="2C3548"/>
                </a:solidFill>
                <a:latin typeface="Microsoft YaHei"/>
                <a:ea typeface="Microsoft YaHei"/>
              </a:rPr>
              <a:t>Master Cen, Danqiu my friend—bring in the wine, don’t set the cups down!</a:t>
            </a:r>
          </a:p>
          <a:p>
            <a:pPr algn="l">
              <a:spcAft>
                <a:spcPts val="400"/>
              </a:spcAft>
            </a:pPr>
            <a:r>
              <a:rPr sz="1200" b="0" i="0">
                <a:solidFill>
                  <a:srgbClr val="2C3548"/>
                </a:solidFill>
                <a:latin typeface="Microsoft YaHei"/>
                <a:ea typeface="Microsoft YaHei"/>
              </a:rPr>
              <a:t>I sing you a song; lend me your ear.</a:t>
            </a:r>
          </a:p>
          <a:p>
            <a:pPr algn="l">
              <a:spcAft>
                <a:spcPts val="400"/>
              </a:spcAft>
            </a:pPr>
            <a:r>
              <a:rPr sz="1200" b="0" i="0">
                <a:solidFill>
                  <a:srgbClr val="2C3548"/>
                </a:solidFill>
                <a:latin typeface="Microsoft YaHei"/>
                <a:ea typeface="Microsoft YaHei"/>
              </a:rPr>
              <a:t>Bells, drums, and jade delicacies are not worth treasure;</a:t>
            </a:r>
          </a:p>
          <a:p>
            <a:pPr algn="l">
              <a:spcAft>
                <a:spcPts val="400"/>
              </a:spcAft>
            </a:pPr>
            <a:r>
              <a:rPr sz="1200" b="0" i="0">
                <a:solidFill>
                  <a:srgbClr val="2C3548"/>
                </a:solidFill>
                <a:latin typeface="Microsoft YaHei"/>
                <a:ea typeface="Microsoft YaHei"/>
              </a:rPr>
              <a:t>I only wish to stay forever drunk and never wake.</a:t>
            </a:r>
          </a:p>
          <a:p>
            <a:pPr algn="l">
              <a:spcAft>
                <a:spcPts val="400"/>
              </a:spcAft>
            </a:pPr>
            <a:r>
              <a:rPr sz="1200" b="0" i="0">
                <a:solidFill>
                  <a:srgbClr val="2C3548"/>
                </a:solidFill>
                <a:latin typeface="Microsoft YaHei"/>
                <a:ea typeface="Microsoft YaHei"/>
              </a:rPr>
              <a:t>Sages of old have all been lonely;</a:t>
            </a:r>
          </a:p>
          <a:p>
            <a:pPr algn="l">
              <a:spcAft>
                <a:spcPts val="400"/>
              </a:spcAft>
            </a:pPr>
            <a:r>
              <a:rPr sz="1200" b="0" i="0">
                <a:solidFill>
                  <a:srgbClr val="2C3548"/>
                </a:solidFill>
                <a:latin typeface="Microsoft YaHei"/>
                <a:ea typeface="Microsoft YaHei"/>
              </a:rPr>
              <a:t>Only the drinkers left their names.</a:t>
            </a:r>
          </a:p>
          <a:p>
            <a:pPr algn="l">
              <a:spcAft>
                <a:spcPts val="400"/>
              </a:spcAft>
            </a:pPr>
            <a:r>
              <a:rPr sz="1200" b="0" i="0">
                <a:solidFill>
                  <a:srgbClr val="2C3548"/>
                </a:solidFill>
                <a:latin typeface="Microsoft YaHei"/>
                <a:ea typeface="Microsoft YaHei"/>
              </a:rPr>
              <a:t>Prince Chen once feasted at Pingle,</a:t>
            </a:r>
          </a:p>
          <a:p>
            <a:pPr algn="l">
              <a:spcAft>
                <a:spcPts val="400"/>
              </a:spcAft>
            </a:pPr>
            <a:r>
              <a:rPr sz="1200" b="0" i="0">
                <a:solidFill>
                  <a:srgbClr val="2C3548"/>
                </a:solidFill>
                <a:latin typeface="Microsoft YaHei"/>
                <a:ea typeface="Microsoft YaHei"/>
              </a:rPr>
              <a:t>Ten thousand a dipper, wild in joy and jest.</a:t>
            </a:r>
          </a:p>
          <a:p>
            <a:pPr algn="l">
              <a:spcAft>
                <a:spcPts val="400"/>
              </a:spcAft>
            </a:pPr>
            <a:r>
              <a:rPr sz="1200" b="0" i="0">
                <a:solidFill>
                  <a:srgbClr val="2C3548"/>
                </a:solidFill>
                <a:latin typeface="Microsoft YaHei"/>
                <a:ea typeface="Microsoft YaHei"/>
              </a:rPr>
              <a:t>Host, why speak of little money?</a:t>
            </a:r>
          </a:p>
          <a:p>
            <a:pPr algn="l">
              <a:spcAft>
                <a:spcPts val="400"/>
              </a:spcAft>
            </a:pPr>
            <a:r>
              <a:rPr sz="1200" b="0" i="0">
                <a:solidFill>
                  <a:srgbClr val="2C3548"/>
                </a:solidFill>
                <a:latin typeface="Microsoft YaHei"/>
                <a:ea typeface="Microsoft YaHei"/>
              </a:rPr>
              <a:t>Just buy wine and drink with you.</a:t>
            </a:r>
          </a:p>
          <a:p>
            <a:pPr algn="l">
              <a:spcAft>
                <a:spcPts val="400"/>
              </a:spcAft>
            </a:pPr>
            <a:r>
              <a:rPr sz="1200" b="0" i="0">
                <a:solidFill>
                  <a:srgbClr val="2C3548"/>
                </a:solidFill>
                <a:latin typeface="Microsoft YaHei"/>
                <a:ea typeface="Microsoft YaHei"/>
              </a:rPr>
              <a:t>Piebaald horse, fur coat worth a thousand gold—</a:t>
            </a:r>
          </a:p>
          <a:p>
            <a:pPr algn="l">
              <a:spcAft>
                <a:spcPts val="400"/>
              </a:spcAft>
            </a:pPr>
            <a:r>
              <a:rPr sz="1200" b="0" i="0">
                <a:solidFill>
                  <a:srgbClr val="2C3548"/>
                </a:solidFill>
                <a:latin typeface="Microsoft YaHei"/>
                <a:ea typeface="Microsoft YaHei"/>
              </a:rPr>
              <a:t>Call the boy to take them out and trade for fine wine,</a:t>
            </a:r>
          </a:p>
          <a:p>
            <a:pPr algn="l">
              <a:spcAft>
                <a:spcPts val="400"/>
              </a:spcAft>
            </a:pPr>
            <a:r>
              <a:rPr sz="1200" b="0" i="0">
                <a:solidFill>
                  <a:srgbClr val="2C3548"/>
                </a:solidFill>
                <a:latin typeface="Microsoft YaHei"/>
                <a:ea typeface="Microsoft YaHei"/>
              </a:rPr>
              <a:t>And with you I’ll melt ten thousand ages of sorrow.</a:t>
            </a:r>
          </a:p>
        </p:txBody>
      </p:sp>
      <p:sp>
        <p:nvSpPr>
          <p:cNvPr id="11" name="TextBox 10"/>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将进酒  |  52/83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《将进酒》 · 创作背景 Context</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约作于李白离开长安后与友人欢宴之时。表面劝酒狂欢，实则糅合时光易逝、怀才不遇与及时行乐的复杂情感。诗中点名岑夫子（岑勋）、丹丘生（元丹丘），是真实友朋宴席上的放歌。其豪放基调与深层忧愁并存，最能代表李白的人格与诗风。</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Likely from a banquet with friends Cen Xun and Yuan Danqiu after leaving Chang’an. On the surface a drinking song; underneath, time’s flight, unused talent, and carpe diem. Bold joy and deep sorrow together define Li Bai’s persona.</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将进酒  |  53/83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《将进酒》 · 诗文意义 Meaning</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开篇两个“君不见”以黄河与白发写出时间的不可逆；随即转向纵酒豪饮，“天生我材必有用”是自信的宣言，也是对命运的反拨。后半以古来圣贤寂寞、饮者留名自解，最终愿以名马狐裘换酒，同销万古愁。狂欢是外壳，愁与傲是内核——这正是此诗千古动人的原因。</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Twin “Have you not seen” openings fix irreversible time; then comes defiant drinking—“Heaven made my talent; it must be of use.” Lonely sages versus famed drinkers, and trading horse and fur for wine, melt “ten thousand ages of sorrow.” Revelry is the shell; pride and grief are the core.</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将进酒  |  54/83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144000" cy="365760"/>
          </a:xfrm>
          <a:prstGeom prst="rect">
            <a:avLst/>
          </a:prstGeom>
          <a:noFill/>
        </p:spPr>
        <p:txBody>
          <a:bodyPr wrap="square" anchor="t"/>
          <a:lstStyle/>
          <a:p>
            <a:pPr algn="l">
              <a:spcAft>
                <a:spcPts val="400"/>
              </a:spcAft>
            </a:pPr>
            <a:r>
              <a:rPr sz="1600" b="1" i="0">
                <a:solidFill>
                  <a:srgbClr val="A67C52"/>
                </a:solidFill>
                <a:latin typeface="Microsoft YaHei"/>
                <a:ea typeface="Microsoft YaHei"/>
              </a:rPr>
              <a:t>第 9 篇  /  Poem 9</a:t>
            </a:r>
          </a:p>
        </p:txBody>
      </p:sp>
      <p:sp>
        <p:nvSpPr>
          <p:cNvPr id="5" name="TextBox 4"/>
          <p:cNvSpPr txBox="1"/>
          <p:nvPr/>
        </p:nvSpPr>
        <p:spPr>
          <a:xfrm>
            <a:off x="1097280" y="2377440"/>
            <a:ext cx="10058400" cy="822960"/>
          </a:xfrm>
          <a:prstGeom prst="rect">
            <a:avLst/>
          </a:prstGeom>
          <a:noFill/>
        </p:spPr>
        <p:txBody>
          <a:bodyPr wrap="square" anchor="t"/>
          <a:lstStyle/>
          <a:p>
            <a:pPr algn="l">
              <a:spcAft>
                <a:spcPts val="400"/>
              </a:spcAft>
            </a:pPr>
            <a:r>
              <a:rPr sz="4000" b="1" i="0">
                <a:solidFill>
                  <a:srgbClr val="FFFFFF"/>
                </a:solidFill>
                <a:latin typeface="Microsoft YaHei"/>
                <a:ea typeface="Microsoft YaHei"/>
              </a:rPr>
              <a:t>《清平调（三首）》</a:t>
            </a:r>
          </a:p>
        </p:txBody>
      </p:sp>
      <p:sp>
        <p:nvSpPr>
          <p:cNvPr id="6" name="TextBox 5"/>
          <p:cNvSpPr txBox="1"/>
          <p:nvPr/>
        </p:nvSpPr>
        <p:spPr>
          <a:xfrm>
            <a:off x="1097280" y="3291840"/>
            <a:ext cx="10058400" cy="457200"/>
          </a:xfrm>
          <a:prstGeom prst="rect">
            <a:avLst/>
          </a:prstGeom>
          <a:noFill/>
        </p:spPr>
        <p:txBody>
          <a:bodyPr wrap="square" anchor="t"/>
          <a:lstStyle/>
          <a:p>
            <a:pPr algn="l">
              <a:spcAft>
                <a:spcPts val="400"/>
              </a:spcAft>
            </a:pPr>
            <a:r>
              <a:rPr sz="2000" b="0" i="1">
                <a:solidFill>
                  <a:srgbClr val="E8E0D0"/>
                </a:solidFill>
                <a:latin typeface="Microsoft YaHei"/>
                <a:ea typeface="Microsoft YaHei"/>
              </a:rPr>
              <a:t>Qingping Tunes (Three Lyrics)</a:t>
            </a:r>
          </a:p>
        </p:txBody>
      </p:sp>
      <p:sp>
        <p:nvSpPr>
          <p:cNvPr id="7" name="Rectangle 6"/>
          <p:cNvSpPr/>
          <p:nvPr/>
        </p:nvSpPr>
        <p:spPr>
          <a:xfrm>
            <a:off x="1097280" y="3931920"/>
            <a:ext cx="2011680" cy="54864"/>
          </a:xfrm>
          <a:prstGeom prst="rect">
            <a:avLst/>
          </a:prstGeom>
          <a:solidFill>
            <a:srgbClr val="2A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731520"/>
          </a:xfrm>
          <a:prstGeom prst="rect">
            <a:avLst/>
          </a:prstGeom>
          <a:noFill/>
        </p:spPr>
        <p:txBody>
          <a:bodyPr wrap="square" anchor="t"/>
          <a:lstStyle/>
          <a:p>
            <a:pPr algn="l">
              <a:spcAft>
                <a:spcPts val="400"/>
              </a:spcAft>
            </a:pPr>
            <a:r>
              <a:rPr sz="1400" b="0" i="0">
                <a:solidFill>
                  <a:srgbClr val="F7F3EB"/>
                </a:solidFill>
                <a:latin typeface="Microsoft YaHei"/>
                <a:ea typeface="Microsoft YaHei"/>
              </a:rPr>
              <a:t>七言绝句组诗 / Three seven-character quatrains</a:t>
            </a:r>
          </a:p>
          <a:p>
            <a:pPr algn="l">
              <a:spcAft>
                <a:spcPts val="400"/>
              </a:spcAft>
            </a:pPr>
            <a:r>
              <a:rPr sz="1400" b="0" i="0">
                <a:solidFill>
                  <a:srgbClr val="F7F3EB"/>
                </a:solidFill>
                <a:latin typeface="Microsoft YaHei"/>
                <a:ea typeface="Microsoft YaHei"/>
              </a:rPr>
              <a:t>天宝二年左右（约743年） · 供奉翰林、沉香亭赏牡丹时</a:t>
            </a:r>
          </a:p>
          <a:p>
            <a:pPr algn="l">
              <a:spcAft>
                <a:spcPts val="400"/>
              </a:spcAft>
            </a:pPr>
            <a:r>
              <a:rPr sz="1400" b="0" i="0">
                <a:solidFill>
                  <a:srgbClr val="F7F3EB"/>
                </a:solidFill>
                <a:latin typeface="Microsoft YaHei"/>
                <a:ea typeface="Microsoft YaHei"/>
              </a:rPr>
              <a:t>关键词 Keywords：牡丹 · 贵妃 · 宫廷 · 花人合一</a:t>
            </a:r>
          </a:p>
        </p:txBody>
      </p:sp>
      <p:sp>
        <p:nvSpPr>
          <p:cNvPr id="9" name="TextBox 8"/>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清平调（三首）  |  55/83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《清平调（三首）》 · 原文 Original Chinese</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其一</a:t>
            </a:r>
          </a:p>
          <a:p>
            <a:pPr algn="l">
              <a:spcAft>
                <a:spcPts val="400"/>
              </a:spcAft>
            </a:pPr>
            <a:r>
              <a:rPr sz="1500" b="0" i="0">
                <a:solidFill>
                  <a:srgbClr val="1A1F2E"/>
                </a:solidFill>
                <a:latin typeface="Microsoft YaHei"/>
                <a:ea typeface="Microsoft YaHei"/>
              </a:rPr>
              <a:t>云想衣裳花想容，春风拂槛露华浓。</a:t>
            </a:r>
          </a:p>
          <a:p>
            <a:pPr algn="l">
              <a:spcAft>
                <a:spcPts val="400"/>
              </a:spcAft>
            </a:pPr>
            <a:r>
              <a:rPr sz="1500" b="0" i="0">
                <a:solidFill>
                  <a:srgbClr val="1A1F2E"/>
                </a:solidFill>
                <a:latin typeface="Microsoft YaHei"/>
                <a:ea typeface="Microsoft YaHei"/>
              </a:rPr>
              <a:t>若非群玉山头见，会向瑶台月下逢。</a:t>
            </a:r>
          </a:p>
          <a:p>
            <a:pPr algn="l">
              <a:spcAft>
                <a:spcPts val="400"/>
              </a:spcAft>
            </a:pPr>
            <a:r>
              <a:rPr sz="1500" b="0" i="0">
                <a:solidFill>
                  <a:srgbClr val="1A1F2E"/>
                </a:solidFill>
                <a:latin typeface="Microsoft YaHei"/>
                <a:ea typeface="Microsoft YaHei"/>
              </a:rPr>
              <a:t/>
            </a:r>
          </a:p>
          <a:p>
            <a:pPr algn="l">
              <a:spcAft>
                <a:spcPts val="400"/>
              </a:spcAft>
            </a:pPr>
            <a:r>
              <a:rPr sz="1500" b="0" i="0">
                <a:solidFill>
                  <a:srgbClr val="1A1F2E"/>
                </a:solidFill>
                <a:latin typeface="Microsoft YaHei"/>
                <a:ea typeface="Microsoft YaHei"/>
              </a:rPr>
              <a:t>其二</a:t>
            </a:r>
          </a:p>
          <a:p>
            <a:pPr algn="l">
              <a:spcAft>
                <a:spcPts val="400"/>
              </a:spcAft>
            </a:pPr>
            <a:r>
              <a:rPr sz="1500" b="0" i="0">
                <a:solidFill>
                  <a:srgbClr val="1A1F2E"/>
                </a:solidFill>
                <a:latin typeface="Microsoft YaHei"/>
                <a:ea typeface="Microsoft YaHei"/>
              </a:rPr>
              <a:t>一枝红艳露凝香，云雨巫山枉断肠。</a:t>
            </a:r>
          </a:p>
          <a:p>
            <a:pPr algn="l">
              <a:spcAft>
                <a:spcPts val="400"/>
              </a:spcAft>
            </a:pPr>
            <a:r>
              <a:rPr sz="1500" b="0" i="0">
                <a:solidFill>
                  <a:srgbClr val="1A1F2E"/>
                </a:solidFill>
                <a:latin typeface="Microsoft YaHei"/>
                <a:ea typeface="Microsoft YaHei"/>
              </a:rPr>
              <a:t>借问汉宫谁得似，可怜飞燕倚新妆。</a:t>
            </a:r>
          </a:p>
          <a:p>
            <a:pPr algn="l">
              <a:spcAft>
                <a:spcPts val="400"/>
              </a:spcAft>
            </a:pPr>
            <a:r>
              <a:rPr sz="1500" b="0" i="0">
                <a:solidFill>
                  <a:srgbClr val="1A1F2E"/>
                </a:solidFill>
                <a:latin typeface="Microsoft YaHei"/>
                <a:ea typeface="Microsoft YaHei"/>
              </a:rPr>
              <a:t/>
            </a:r>
          </a:p>
          <a:p>
            <a:pPr algn="l">
              <a:spcAft>
                <a:spcPts val="400"/>
              </a:spcAft>
            </a:pPr>
            <a:r>
              <a:rPr sz="1500" b="0" i="0">
                <a:solidFill>
                  <a:srgbClr val="1A1F2E"/>
                </a:solidFill>
                <a:latin typeface="Microsoft YaHei"/>
                <a:ea typeface="Microsoft YaHei"/>
              </a:rPr>
              <a:t>其三</a:t>
            </a:r>
          </a:p>
          <a:p>
            <a:pPr algn="l">
              <a:spcAft>
                <a:spcPts val="400"/>
              </a:spcAft>
            </a:pPr>
            <a:r>
              <a:rPr sz="1500" b="0" i="0">
                <a:solidFill>
                  <a:srgbClr val="1A1F2E"/>
                </a:solidFill>
                <a:latin typeface="Microsoft YaHei"/>
                <a:ea typeface="Microsoft YaHei"/>
              </a:rPr>
              <a:t>名花倾国两相欢，长得君王带笑看。</a:t>
            </a:r>
          </a:p>
          <a:p>
            <a:pPr algn="l">
              <a:spcAft>
                <a:spcPts val="400"/>
              </a:spcAft>
            </a:pPr>
            <a:r>
              <a:rPr sz="1500" b="0" i="0">
                <a:solidFill>
                  <a:srgbClr val="1A1F2E"/>
                </a:solidFill>
                <a:latin typeface="Microsoft YaHei"/>
                <a:ea typeface="Microsoft YaHei"/>
              </a:rPr>
              <a:t>解释春风无限恨，沉香亭北倚阑干。</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清平调（三首）  |  56/83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Qingping Tunes (Three Lyrics) · 英译 English Translation</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300" b="0" i="0">
                <a:solidFill>
                  <a:srgbClr val="2C3548"/>
                </a:solidFill>
                <a:latin typeface="Microsoft YaHei"/>
                <a:ea typeface="Microsoft YaHei"/>
              </a:rPr>
              <a:t>I</a:t>
            </a:r>
          </a:p>
          <a:p>
            <a:pPr algn="l">
              <a:spcAft>
                <a:spcPts val="400"/>
              </a:spcAft>
            </a:pPr>
            <a:r>
              <a:rPr sz="1300" b="0" i="0">
                <a:solidFill>
                  <a:srgbClr val="2C3548"/>
                </a:solidFill>
                <a:latin typeface="Microsoft YaHei"/>
                <a:ea typeface="Microsoft YaHei"/>
              </a:rPr>
              <a:t>Clouds call to mind her robes, flowers her face;</a:t>
            </a:r>
          </a:p>
          <a:p>
            <a:pPr algn="l">
              <a:spcAft>
                <a:spcPts val="400"/>
              </a:spcAft>
            </a:pPr>
            <a:r>
              <a:rPr sz="1300" b="0" i="0">
                <a:solidFill>
                  <a:srgbClr val="2C3548"/>
                </a:solidFill>
                <a:latin typeface="Microsoft YaHei"/>
                <a:ea typeface="Microsoft YaHei"/>
              </a:rPr>
              <a:t>Spring wind brushes the rail—dew’s glow is rich.</a:t>
            </a:r>
          </a:p>
          <a:p>
            <a:pPr algn="l">
              <a:spcAft>
                <a:spcPts val="400"/>
              </a:spcAft>
            </a:pPr>
            <a:r>
              <a:rPr sz="1300" b="0" i="0">
                <a:solidFill>
                  <a:srgbClr val="2C3548"/>
                </a:solidFill>
                <a:latin typeface="Microsoft YaHei"/>
                <a:ea typeface="Microsoft YaHei"/>
              </a:rPr>
              <a:t>If not glimpsed on Group Jade Mountain’s peak,</a:t>
            </a:r>
          </a:p>
          <a:p>
            <a:pPr algn="l">
              <a:spcAft>
                <a:spcPts val="400"/>
              </a:spcAft>
            </a:pPr>
            <a:r>
              <a:rPr sz="1300" b="0" i="0">
                <a:solidFill>
                  <a:srgbClr val="2C3548"/>
                </a:solidFill>
                <a:latin typeface="Microsoft YaHei"/>
                <a:ea typeface="Microsoft YaHei"/>
              </a:rPr>
              <a:t>She must be met on Jasper Terrace beneath the moon.</a:t>
            </a:r>
          </a:p>
          <a:p>
            <a:pPr algn="l">
              <a:spcAft>
                <a:spcPts val="400"/>
              </a:spcAft>
            </a:pPr>
            <a:r>
              <a:rPr sz="1300" b="0" i="0">
                <a:solidFill>
                  <a:srgbClr val="2C3548"/>
                </a:solidFill>
                <a:latin typeface="Microsoft YaHei"/>
                <a:ea typeface="Microsoft YaHei"/>
              </a:rPr>
              <a:t/>
            </a:r>
          </a:p>
          <a:p>
            <a:pPr algn="l">
              <a:spcAft>
                <a:spcPts val="400"/>
              </a:spcAft>
            </a:pPr>
            <a:r>
              <a:rPr sz="1300" b="0" i="0">
                <a:solidFill>
                  <a:srgbClr val="2C3548"/>
                </a:solidFill>
                <a:latin typeface="Microsoft YaHei"/>
                <a:ea typeface="Microsoft YaHei"/>
              </a:rPr>
              <a:t>II</a:t>
            </a:r>
          </a:p>
          <a:p>
            <a:pPr algn="l">
              <a:spcAft>
                <a:spcPts val="400"/>
              </a:spcAft>
            </a:pPr>
            <a:r>
              <a:rPr sz="1300" b="0" i="0">
                <a:solidFill>
                  <a:srgbClr val="2C3548"/>
                </a:solidFill>
                <a:latin typeface="Microsoft YaHei"/>
                <a:ea typeface="Microsoft YaHei"/>
              </a:rPr>
              <a:t>One spray of red beauty, dew-thick with fragrance;</a:t>
            </a:r>
          </a:p>
          <a:p>
            <a:pPr algn="l">
              <a:spcAft>
                <a:spcPts val="400"/>
              </a:spcAft>
            </a:pPr>
            <a:r>
              <a:rPr sz="1300" b="0" i="0">
                <a:solidFill>
                  <a:srgbClr val="2C3548"/>
                </a:solidFill>
                <a:latin typeface="Microsoft YaHei"/>
                <a:ea typeface="Microsoft YaHei"/>
              </a:rPr>
              <a:t>Wu Mountain’s cloud-and-rain romance grieves in vain.</a:t>
            </a:r>
          </a:p>
          <a:p>
            <a:pPr algn="l">
              <a:spcAft>
                <a:spcPts val="400"/>
              </a:spcAft>
            </a:pPr>
            <a:r>
              <a:rPr sz="1300" b="0" i="0">
                <a:solidFill>
                  <a:srgbClr val="2C3548"/>
                </a:solidFill>
                <a:latin typeface="Microsoft YaHei"/>
                <a:ea typeface="Microsoft YaHei"/>
              </a:rPr>
              <a:t>Ask—who in the Han palace could compare?</a:t>
            </a:r>
          </a:p>
          <a:p>
            <a:pPr algn="l">
              <a:spcAft>
                <a:spcPts val="400"/>
              </a:spcAft>
            </a:pPr>
            <a:r>
              <a:rPr sz="1300" b="0" i="0">
                <a:solidFill>
                  <a:srgbClr val="2C3548"/>
                </a:solidFill>
                <a:latin typeface="Microsoft YaHei"/>
                <a:ea typeface="Microsoft YaHei"/>
              </a:rPr>
              <a:t>Poor Flying Swallow leans on her new makeup.</a:t>
            </a:r>
          </a:p>
          <a:p>
            <a:pPr algn="l">
              <a:spcAft>
                <a:spcPts val="400"/>
              </a:spcAft>
            </a:pPr>
            <a:r>
              <a:rPr sz="1300" b="0" i="0">
                <a:solidFill>
                  <a:srgbClr val="2C3548"/>
                </a:solidFill>
                <a:latin typeface="Microsoft YaHei"/>
                <a:ea typeface="Microsoft YaHei"/>
              </a:rPr>
              <a:t/>
            </a:r>
          </a:p>
          <a:p>
            <a:pPr algn="l">
              <a:spcAft>
                <a:spcPts val="400"/>
              </a:spcAft>
            </a:pPr>
            <a:r>
              <a:rPr sz="1300" b="0" i="0">
                <a:solidFill>
                  <a:srgbClr val="2C3548"/>
                </a:solidFill>
                <a:latin typeface="Microsoft YaHei"/>
                <a:ea typeface="Microsoft YaHei"/>
              </a:rPr>
              <a:t>III</a:t>
            </a:r>
          </a:p>
          <a:p>
            <a:pPr algn="l">
              <a:spcAft>
                <a:spcPts val="400"/>
              </a:spcAft>
            </a:pPr>
            <a:r>
              <a:rPr sz="1300" b="0" i="0">
                <a:solidFill>
                  <a:srgbClr val="2C3548"/>
                </a:solidFill>
                <a:latin typeface="Microsoft YaHei"/>
                <a:ea typeface="Microsoft YaHei"/>
              </a:rPr>
              <a:t>Famous flower and peerless beauty delight each other;</a:t>
            </a:r>
          </a:p>
          <a:p>
            <a:pPr algn="l">
              <a:spcAft>
                <a:spcPts val="400"/>
              </a:spcAft>
            </a:pPr>
            <a:r>
              <a:rPr sz="1300" b="0" i="0">
                <a:solidFill>
                  <a:srgbClr val="2C3548"/>
                </a:solidFill>
                <a:latin typeface="Microsoft YaHei"/>
                <a:ea typeface="Microsoft YaHei"/>
              </a:rPr>
              <a:t>Always they win the sovereign’s smiling gaze.</a:t>
            </a:r>
          </a:p>
          <a:p>
            <a:pPr algn="l">
              <a:spcAft>
                <a:spcPts val="400"/>
              </a:spcAft>
            </a:pPr>
            <a:r>
              <a:rPr sz="1300" b="0" i="0">
                <a:solidFill>
                  <a:srgbClr val="2C3548"/>
                </a:solidFill>
                <a:latin typeface="Microsoft YaHei"/>
                <a:ea typeface="Microsoft YaHei"/>
              </a:rPr>
              <a:t>To dissolve spring wind’s endless regret,</a:t>
            </a:r>
          </a:p>
          <a:p>
            <a:pPr algn="l">
              <a:spcAft>
                <a:spcPts val="400"/>
              </a:spcAft>
            </a:pPr>
            <a:r>
              <a:rPr sz="1300" b="0" i="0">
                <a:solidFill>
                  <a:srgbClr val="2C3548"/>
                </a:solidFill>
                <a:latin typeface="Microsoft YaHei"/>
                <a:ea typeface="Microsoft YaHei"/>
              </a:rPr>
              <a:t>North of Aloes Pavilion she leans on the railing.</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清平调（三首）  |  57/83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《清平调（三首）》 · 中英对照 Bilingual</a:t>
            </a:r>
          </a:p>
        </p:txBody>
      </p:sp>
      <p:sp>
        <p:nvSpPr>
          <p:cNvPr id="5" name="Rectangle 4"/>
          <p:cNvSpPr/>
          <p:nvPr/>
        </p:nvSpPr>
        <p:spPr>
          <a:xfrm>
            <a:off x="457200" y="914400"/>
            <a:ext cx="5394960" cy="502920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09360" y="914400"/>
            <a:ext cx="5394960" cy="5029200"/>
          </a:xfrm>
          <a:prstGeom prst="rect">
            <a:avLst/>
          </a:prstGeom>
          <a:solidFill>
            <a:srgbClr val="EE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中文</a:t>
            </a:r>
          </a:p>
        </p:txBody>
      </p:sp>
      <p:sp>
        <p:nvSpPr>
          <p:cNvPr id="8" name="TextBox 7"/>
          <p:cNvSpPr txBox="1"/>
          <p:nvPr/>
        </p:nvSpPr>
        <p:spPr>
          <a:xfrm>
            <a:off x="649224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English</a:t>
            </a:r>
          </a:p>
        </p:txBody>
      </p:sp>
      <p:sp>
        <p:nvSpPr>
          <p:cNvPr id="9" name="TextBox 8"/>
          <p:cNvSpPr txBox="1"/>
          <p:nvPr/>
        </p:nvSpPr>
        <p:spPr>
          <a:xfrm>
            <a:off x="640080" y="1417320"/>
            <a:ext cx="5029200" cy="4389120"/>
          </a:xfrm>
          <a:prstGeom prst="rect">
            <a:avLst/>
          </a:prstGeom>
          <a:noFill/>
        </p:spPr>
        <p:txBody>
          <a:bodyPr wrap="square" anchor="t"/>
          <a:lstStyle/>
          <a:p>
            <a:pPr algn="l">
              <a:spcAft>
                <a:spcPts val="400"/>
              </a:spcAft>
            </a:pPr>
            <a:r>
              <a:rPr sz="1400" b="0" i="0">
                <a:solidFill>
                  <a:srgbClr val="1A1F2E"/>
                </a:solidFill>
                <a:latin typeface="Microsoft YaHei"/>
                <a:ea typeface="Microsoft YaHei"/>
              </a:rPr>
              <a:t>其一</a:t>
            </a:r>
          </a:p>
          <a:p>
            <a:pPr algn="l">
              <a:spcAft>
                <a:spcPts val="400"/>
              </a:spcAft>
            </a:pPr>
            <a:r>
              <a:rPr sz="1400" b="0" i="0">
                <a:solidFill>
                  <a:srgbClr val="1A1F2E"/>
                </a:solidFill>
                <a:latin typeface="Microsoft YaHei"/>
                <a:ea typeface="Microsoft YaHei"/>
              </a:rPr>
              <a:t>云想衣裳花想容，春风拂槛露华浓。</a:t>
            </a:r>
          </a:p>
          <a:p>
            <a:pPr algn="l">
              <a:spcAft>
                <a:spcPts val="400"/>
              </a:spcAft>
            </a:pPr>
            <a:r>
              <a:rPr sz="1400" b="0" i="0">
                <a:solidFill>
                  <a:srgbClr val="1A1F2E"/>
                </a:solidFill>
                <a:latin typeface="Microsoft YaHei"/>
                <a:ea typeface="Microsoft YaHei"/>
              </a:rPr>
              <a:t>若非群玉山头见，会向瑶台月下逢。</a:t>
            </a:r>
          </a:p>
          <a:p>
            <a:pPr algn="l">
              <a:spcAft>
                <a:spcPts val="400"/>
              </a:spcAft>
            </a:pPr>
            <a:r>
              <a:rPr sz="1400" b="0" i="0">
                <a:solidFill>
                  <a:srgbClr val="1A1F2E"/>
                </a:solidFill>
                <a:latin typeface="Microsoft YaHei"/>
                <a:ea typeface="Microsoft YaHei"/>
              </a:rPr>
              <a:t/>
            </a:r>
          </a:p>
          <a:p>
            <a:pPr algn="l">
              <a:spcAft>
                <a:spcPts val="400"/>
              </a:spcAft>
            </a:pPr>
            <a:r>
              <a:rPr sz="1400" b="0" i="0">
                <a:solidFill>
                  <a:srgbClr val="1A1F2E"/>
                </a:solidFill>
                <a:latin typeface="Microsoft YaHei"/>
                <a:ea typeface="Microsoft YaHei"/>
              </a:rPr>
              <a:t>其二</a:t>
            </a:r>
          </a:p>
          <a:p>
            <a:pPr algn="l">
              <a:spcAft>
                <a:spcPts val="400"/>
              </a:spcAft>
            </a:pPr>
            <a:r>
              <a:rPr sz="1400" b="0" i="0">
                <a:solidFill>
                  <a:srgbClr val="1A1F2E"/>
                </a:solidFill>
                <a:latin typeface="Microsoft YaHei"/>
                <a:ea typeface="Microsoft YaHei"/>
              </a:rPr>
              <a:t>一枝红艳露凝香，云雨巫山枉断肠。</a:t>
            </a:r>
          </a:p>
          <a:p>
            <a:pPr algn="l">
              <a:spcAft>
                <a:spcPts val="400"/>
              </a:spcAft>
            </a:pPr>
            <a:r>
              <a:rPr sz="1400" b="0" i="0">
                <a:solidFill>
                  <a:srgbClr val="1A1F2E"/>
                </a:solidFill>
                <a:latin typeface="Microsoft YaHei"/>
                <a:ea typeface="Microsoft YaHei"/>
              </a:rPr>
              <a:t>借问汉宫谁得似，可怜飞燕倚新妆。</a:t>
            </a:r>
          </a:p>
          <a:p>
            <a:pPr algn="l">
              <a:spcAft>
                <a:spcPts val="400"/>
              </a:spcAft>
            </a:pPr>
            <a:r>
              <a:rPr sz="1400" b="0" i="0">
                <a:solidFill>
                  <a:srgbClr val="1A1F2E"/>
                </a:solidFill>
                <a:latin typeface="Microsoft YaHei"/>
                <a:ea typeface="Microsoft YaHei"/>
              </a:rPr>
              <a:t/>
            </a:r>
          </a:p>
          <a:p>
            <a:pPr algn="l">
              <a:spcAft>
                <a:spcPts val="400"/>
              </a:spcAft>
            </a:pPr>
            <a:r>
              <a:rPr sz="1400" b="0" i="0">
                <a:solidFill>
                  <a:srgbClr val="1A1F2E"/>
                </a:solidFill>
                <a:latin typeface="Microsoft YaHei"/>
                <a:ea typeface="Microsoft YaHei"/>
              </a:rPr>
              <a:t>其三</a:t>
            </a:r>
          </a:p>
          <a:p>
            <a:pPr algn="l">
              <a:spcAft>
                <a:spcPts val="400"/>
              </a:spcAft>
            </a:pPr>
            <a:r>
              <a:rPr sz="1400" b="0" i="0">
                <a:solidFill>
                  <a:srgbClr val="1A1F2E"/>
                </a:solidFill>
                <a:latin typeface="Microsoft YaHei"/>
                <a:ea typeface="Microsoft YaHei"/>
              </a:rPr>
              <a:t>名花倾国两相欢，长得君王带笑看。</a:t>
            </a:r>
          </a:p>
          <a:p>
            <a:pPr algn="l">
              <a:spcAft>
                <a:spcPts val="400"/>
              </a:spcAft>
            </a:pPr>
            <a:r>
              <a:rPr sz="1400" b="0" i="0">
                <a:solidFill>
                  <a:srgbClr val="1A1F2E"/>
                </a:solidFill>
                <a:latin typeface="Microsoft YaHei"/>
                <a:ea typeface="Microsoft YaHei"/>
              </a:rPr>
              <a:t>解释春风无限恨，沉香亭北倚阑干。</a:t>
            </a:r>
          </a:p>
        </p:txBody>
      </p:sp>
      <p:sp>
        <p:nvSpPr>
          <p:cNvPr id="10" name="TextBox 9"/>
          <p:cNvSpPr txBox="1"/>
          <p:nvPr/>
        </p:nvSpPr>
        <p:spPr>
          <a:xfrm>
            <a:off x="6492240" y="1417320"/>
            <a:ext cx="5029200" cy="4389120"/>
          </a:xfrm>
          <a:prstGeom prst="rect">
            <a:avLst/>
          </a:prstGeom>
          <a:noFill/>
        </p:spPr>
        <p:txBody>
          <a:bodyPr wrap="square" anchor="t"/>
          <a:lstStyle/>
          <a:p>
            <a:pPr algn="l">
              <a:spcAft>
                <a:spcPts val="400"/>
              </a:spcAft>
            </a:pPr>
            <a:r>
              <a:rPr sz="1200" b="0" i="0">
                <a:solidFill>
                  <a:srgbClr val="2C3548"/>
                </a:solidFill>
                <a:latin typeface="Microsoft YaHei"/>
                <a:ea typeface="Microsoft YaHei"/>
              </a:rPr>
              <a:t>I</a:t>
            </a:r>
          </a:p>
          <a:p>
            <a:pPr algn="l">
              <a:spcAft>
                <a:spcPts val="400"/>
              </a:spcAft>
            </a:pPr>
            <a:r>
              <a:rPr sz="1200" b="0" i="0">
                <a:solidFill>
                  <a:srgbClr val="2C3548"/>
                </a:solidFill>
                <a:latin typeface="Microsoft YaHei"/>
                <a:ea typeface="Microsoft YaHei"/>
              </a:rPr>
              <a:t>Clouds call to mind her robes, flowers her face;</a:t>
            </a:r>
          </a:p>
          <a:p>
            <a:pPr algn="l">
              <a:spcAft>
                <a:spcPts val="400"/>
              </a:spcAft>
            </a:pPr>
            <a:r>
              <a:rPr sz="1200" b="0" i="0">
                <a:solidFill>
                  <a:srgbClr val="2C3548"/>
                </a:solidFill>
                <a:latin typeface="Microsoft YaHei"/>
                <a:ea typeface="Microsoft YaHei"/>
              </a:rPr>
              <a:t>Spring wind brushes the rail—dew’s glow is rich.</a:t>
            </a:r>
          </a:p>
          <a:p>
            <a:pPr algn="l">
              <a:spcAft>
                <a:spcPts val="400"/>
              </a:spcAft>
            </a:pPr>
            <a:r>
              <a:rPr sz="1200" b="0" i="0">
                <a:solidFill>
                  <a:srgbClr val="2C3548"/>
                </a:solidFill>
                <a:latin typeface="Microsoft YaHei"/>
                <a:ea typeface="Microsoft YaHei"/>
              </a:rPr>
              <a:t>If not glimpsed on Group Jade Mountain’s peak,</a:t>
            </a:r>
          </a:p>
          <a:p>
            <a:pPr algn="l">
              <a:spcAft>
                <a:spcPts val="400"/>
              </a:spcAft>
            </a:pPr>
            <a:r>
              <a:rPr sz="1200" b="0" i="0">
                <a:solidFill>
                  <a:srgbClr val="2C3548"/>
                </a:solidFill>
                <a:latin typeface="Microsoft YaHei"/>
                <a:ea typeface="Microsoft YaHei"/>
              </a:rPr>
              <a:t>She must be met on Jasper Terrace beneath the moon.</a:t>
            </a:r>
          </a:p>
          <a:p>
            <a:pPr algn="l">
              <a:spcAft>
                <a:spcPts val="400"/>
              </a:spcAft>
            </a:pPr>
            <a:r>
              <a:rPr sz="1200" b="0" i="0">
                <a:solidFill>
                  <a:srgbClr val="2C3548"/>
                </a:solidFill>
                <a:latin typeface="Microsoft YaHei"/>
                <a:ea typeface="Microsoft YaHei"/>
              </a:rPr>
              <a:t/>
            </a:r>
          </a:p>
          <a:p>
            <a:pPr algn="l">
              <a:spcAft>
                <a:spcPts val="400"/>
              </a:spcAft>
            </a:pPr>
            <a:r>
              <a:rPr sz="1200" b="0" i="0">
                <a:solidFill>
                  <a:srgbClr val="2C3548"/>
                </a:solidFill>
                <a:latin typeface="Microsoft YaHei"/>
                <a:ea typeface="Microsoft YaHei"/>
              </a:rPr>
              <a:t>II</a:t>
            </a:r>
          </a:p>
          <a:p>
            <a:pPr algn="l">
              <a:spcAft>
                <a:spcPts val="400"/>
              </a:spcAft>
            </a:pPr>
            <a:r>
              <a:rPr sz="1200" b="0" i="0">
                <a:solidFill>
                  <a:srgbClr val="2C3548"/>
                </a:solidFill>
                <a:latin typeface="Microsoft YaHei"/>
                <a:ea typeface="Microsoft YaHei"/>
              </a:rPr>
              <a:t>One spray of red beauty, dew-thick with fragrance;</a:t>
            </a:r>
          </a:p>
          <a:p>
            <a:pPr algn="l">
              <a:spcAft>
                <a:spcPts val="400"/>
              </a:spcAft>
            </a:pPr>
            <a:r>
              <a:rPr sz="1200" b="0" i="0">
                <a:solidFill>
                  <a:srgbClr val="2C3548"/>
                </a:solidFill>
                <a:latin typeface="Microsoft YaHei"/>
                <a:ea typeface="Microsoft YaHei"/>
              </a:rPr>
              <a:t>Wu Mountain’s cloud-and-rain romance grieves in vain.</a:t>
            </a:r>
          </a:p>
          <a:p>
            <a:pPr algn="l">
              <a:spcAft>
                <a:spcPts val="400"/>
              </a:spcAft>
            </a:pPr>
            <a:r>
              <a:rPr sz="1200" b="0" i="0">
                <a:solidFill>
                  <a:srgbClr val="2C3548"/>
                </a:solidFill>
                <a:latin typeface="Microsoft YaHei"/>
                <a:ea typeface="Microsoft YaHei"/>
              </a:rPr>
              <a:t>Ask—who in the Han palace could compare?</a:t>
            </a:r>
          </a:p>
          <a:p>
            <a:pPr algn="l">
              <a:spcAft>
                <a:spcPts val="400"/>
              </a:spcAft>
            </a:pPr>
            <a:r>
              <a:rPr sz="1200" b="0" i="0">
                <a:solidFill>
                  <a:srgbClr val="2C3548"/>
                </a:solidFill>
                <a:latin typeface="Microsoft YaHei"/>
                <a:ea typeface="Microsoft YaHei"/>
              </a:rPr>
              <a:t>Poor Flying Swallow leans on her new makeup.</a:t>
            </a:r>
          </a:p>
          <a:p>
            <a:pPr algn="l">
              <a:spcAft>
                <a:spcPts val="400"/>
              </a:spcAft>
            </a:pPr>
            <a:r>
              <a:rPr sz="1200" b="0" i="0">
                <a:solidFill>
                  <a:srgbClr val="2C3548"/>
                </a:solidFill>
                <a:latin typeface="Microsoft YaHei"/>
                <a:ea typeface="Microsoft YaHei"/>
              </a:rPr>
              <a:t/>
            </a:r>
          </a:p>
          <a:p>
            <a:pPr algn="l">
              <a:spcAft>
                <a:spcPts val="400"/>
              </a:spcAft>
            </a:pPr>
            <a:r>
              <a:rPr sz="1200" b="0" i="0">
                <a:solidFill>
                  <a:srgbClr val="2C3548"/>
                </a:solidFill>
                <a:latin typeface="Microsoft YaHei"/>
                <a:ea typeface="Microsoft YaHei"/>
              </a:rPr>
              <a:t>III</a:t>
            </a:r>
          </a:p>
          <a:p>
            <a:pPr algn="l">
              <a:spcAft>
                <a:spcPts val="400"/>
              </a:spcAft>
            </a:pPr>
            <a:r>
              <a:rPr sz="1200" b="0" i="0">
                <a:solidFill>
                  <a:srgbClr val="2C3548"/>
                </a:solidFill>
                <a:latin typeface="Microsoft YaHei"/>
                <a:ea typeface="Microsoft YaHei"/>
              </a:rPr>
              <a:t>Famous flower and peerless beauty delight each other;</a:t>
            </a:r>
          </a:p>
          <a:p>
            <a:pPr algn="l">
              <a:spcAft>
                <a:spcPts val="400"/>
              </a:spcAft>
            </a:pPr>
            <a:r>
              <a:rPr sz="1200" b="0" i="0">
                <a:solidFill>
                  <a:srgbClr val="2C3548"/>
                </a:solidFill>
                <a:latin typeface="Microsoft YaHei"/>
                <a:ea typeface="Microsoft YaHei"/>
              </a:rPr>
              <a:t>Always they win the sovereign’s smiling gaze.</a:t>
            </a:r>
          </a:p>
          <a:p>
            <a:pPr algn="l">
              <a:spcAft>
                <a:spcPts val="400"/>
              </a:spcAft>
            </a:pPr>
            <a:r>
              <a:rPr sz="1200" b="0" i="0">
                <a:solidFill>
                  <a:srgbClr val="2C3548"/>
                </a:solidFill>
                <a:latin typeface="Microsoft YaHei"/>
                <a:ea typeface="Microsoft YaHei"/>
              </a:rPr>
              <a:t>To dissolve spring wind’s endless regret,</a:t>
            </a:r>
          </a:p>
          <a:p>
            <a:pPr algn="l">
              <a:spcAft>
                <a:spcPts val="400"/>
              </a:spcAft>
            </a:pPr>
            <a:r>
              <a:rPr sz="1200" b="0" i="0">
                <a:solidFill>
                  <a:srgbClr val="2C3548"/>
                </a:solidFill>
                <a:latin typeface="Microsoft YaHei"/>
                <a:ea typeface="Microsoft YaHei"/>
              </a:rPr>
              <a:t>North of Aloes Pavilion she leans on the railing.</a:t>
            </a:r>
          </a:p>
        </p:txBody>
      </p:sp>
      <p:sp>
        <p:nvSpPr>
          <p:cNvPr id="11" name="TextBox 10"/>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清平调（三首）  |  58/83</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《清平调（三首）》 · 创作背景 Context</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据记载，唐玄宗与杨贵妃在兴庆宫沉香亭赏牡丹，命李白作新词，李白醉中成《清平调》三首，由李龟年演唱。诗以花喻人，咏牡丹兼咏贵妃，辞采华美，是李白宫廷应制之作的巅峰。后人或谓其二以赵飞燕作比有讽意，亦有人认为纯属颂美。无论何种解读，三诗皆体现李白才思敏捷与意象之清丽。</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At Aloes Pavilion in Xingqing Palace, Xuanzong and Yang Guifei viewed peonies; Li Bai, reportedly tipsy, wrote three Qingping lyrics for Li Guinian to sing. Flower and beauty mirror each other. Later readers debate praise versus veiled irony (Zhao Feiyan); the craft remains exquisite court poetry.</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清平调（三首）  |  59/83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《清平调（三首）》 · 诗文意义 Meaning</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第一首以云、花、仙山写贵妃之绝世风姿；第二首以红艳凝香压倒巫山云雨、汉宫飞燕，极尽推崇；第三首点明“名花倾国”同承君恩，收于沉香亭北倚阑之景。花与人、仙与凡、颂与美交织，形成盛唐宫廷美学的诗意瞬间。</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I: clouds, flowers, and immortal mountains sketch peerless grace. II: peony fragrance outshines mythic romance and Han beauty Zhao Feiyan. III: flower and “ruinous beauty” share the emperor’s smile at Aloes Pavilion—a crystal of High Tang court aesthetics.</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清平调（三首）  |  60/83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144000" cy="365760"/>
          </a:xfrm>
          <a:prstGeom prst="rect">
            <a:avLst/>
          </a:prstGeom>
          <a:noFill/>
        </p:spPr>
        <p:txBody>
          <a:bodyPr wrap="square" anchor="t"/>
          <a:lstStyle/>
          <a:p>
            <a:pPr algn="l">
              <a:spcAft>
                <a:spcPts val="400"/>
              </a:spcAft>
            </a:pPr>
            <a:r>
              <a:rPr sz="1600" b="1" i="0">
                <a:solidFill>
                  <a:srgbClr val="A67C52"/>
                </a:solidFill>
                <a:latin typeface="Microsoft YaHei"/>
                <a:ea typeface="Microsoft YaHei"/>
              </a:rPr>
              <a:t>第 10 篇  /  Poem 10</a:t>
            </a:r>
          </a:p>
        </p:txBody>
      </p:sp>
      <p:sp>
        <p:nvSpPr>
          <p:cNvPr id="5" name="TextBox 4"/>
          <p:cNvSpPr txBox="1"/>
          <p:nvPr/>
        </p:nvSpPr>
        <p:spPr>
          <a:xfrm>
            <a:off x="1097280" y="2377440"/>
            <a:ext cx="10058400" cy="822960"/>
          </a:xfrm>
          <a:prstGeom prst="rect">
            <a:avLst/>
          </a:prstGeom>
          <a:noFill/>
        </p:spPr>
        <p:txBody>
          <a:bodyPr wrap="square" anchor="t"/>
          <a:lstStyle/>
          <a:p>
            <a:pPr algn="l">
              <a:spcAft>
                <a:spcPts val="400"/>
              </a:spcAft>
            </a:pPr>
            <a:r>
              <a:rPr sz="4000" b="1" i="0">
                <a:solidFill>
                  <a:srgbClr val="FFFFFF"/>
                </a:solidFill>
                <a:latin typeface="Microsoft YaHei"/>
                <a:ea typeface="Microsoft YaHei"/>
              </a:rPr>
              <a:t>《梦游天姥吟留别》</a:t>
            </a:r>
          </a:p>
        </p:txBody>
      </p:sp>
      <p:sp>
        <p:nvSpPr>
          <p:cNvPr id="6" name="TextBox 5"/>
          <p:cNvSpPr txBox="1"/>
          <p:nvPr/>
        </p:nvSpPr>
        <p:spPr>
          <a:xfrm>
            <a:off x="1097280" y="3291840"/>
            <a:ext cx="10058400" cy="457200"/>
          </a:xfrm>
          <a:prstGeom prst="rect">
            <a:avLst/>
          </a:prstGeom>
          <a:noFill/>
        </p:spPr>
        <p:txBody>
          <a:bodyPr wrap="square" anchor="t"/>
          <a:lstStyle/>
          <a:p>
            <a:pPr algn="l">
              <a:spcAft>
                <a:spcPts val="400"/>
              </a:spcAft>
            </a:pPr>
            <a:r>
              <a:rPr sz="2000" b="0" i="1">
                <a:solidFill>
                  <a:srgbClr val="E8E0D0"/>
                </a:solidFill>
                <a:latin typeface="Microsoft YaHei"/>
                <a:ea typeface="Microsoft YaHei"/>
              </a:rPr>
              <a:t>Dream Journey to Tianmu: A Farewell Song</a:t>
            </a:r>
          </a:p>
        </p:txBody>
      </p:sp>
      <p:sp>
        <p:nvSpPr>
          <p:cNvPr id="7" name="Rectangle 6"/>
          <p:cNvSpPr/>
          <p:nvPr/>
        </p:nvSpPr>
        <p:spPr>
          <a:xfrm>
            <a:off x="1097280" y="3931920"/>
            <a:ext cx="2011680" cy="54864"/>
          </a:xfrm>
          <a:prstGeom prst="rect">
            <a:avLst/>
          </a:prstGeom>
          <a:solidFill>
            <a:srgbClr val="2A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731520"/>
          </a:xfrm>
          <a:prstGeom prst="rect">
            <a:avLst/>
          </a:prstGeom>
          <a:noFill/>
        </p:spPr>
        <p:txBody>
          <a:bodyPr wrap="square" anchor="t"/>
          <a:lstStyle/>
          <a:p>
            <a:pPr algn="l">
              <a:spcAft>
                <a:spcPts val="400"/>
              </a:spcAft>
            </a:pPr>
            <a:r>
              <a:rPr sz="1400" b="0" i="0">
                <a:solidFill>
                  <a:srgbClr val="F7F3EB"/>
                </a:solidFill>
                <a:latin typeface="Microsoft YaHei"/>
                <a:ea typeface="Microsoft YaHei"/>
              </a:rPr>
              <a:t>杂言歌行 / Irregular song-poem</a:t>
            </a:r>
          </a:p>
          <a:p>
            <a:pPr algn="l">
              <a:spcAft>
                <a:spcPts val="400"/>
              </a:spcAft>
            </a:pPr>
            <a:r>
              <a:rPr sz="1400" b="0" i="0">
                <a:solidFill>
                  <a:srgbClr val="F7F3EB"/>
                </a:solidFill>
                <a:latin typeface="Microsoft YaHei"/>
                <a:ea typeface="Microsoft YaHei"/>
              </a:rPr>
              <a:t>天宝四载（745年） · 将离东鲁南下吴越时</a:t>
            </a:r>
          </a:p>
          <a:p>
            <a:pPr algn="l">
              <a:spcAft>
                <a:spcPts val="400"/>
              </a:spcAft>
            </a:pPr>
            <a:r>
              <a:rPr sz="1400" b="0" i="0">
                <a:solidFill>
                  <a:srgbClr val="F7F3EB"/>
                </a:solidFill>
                <a:latin typeface="Microsoft YaHei"/>
                <a:ea typeface="Microsoft YaHei"/>
              </a:rPr>
              <a:t>关键词 Keywords：梦游 · 游仙 · 傲骨 · 留别</a:t>
            </a:r>
          </a:p>
        </p:txBody>
      </p:sp>
      <p:sp>
        <p:nvSpPr>
          <p:cNvPr id="9" name="TextBox 8"/>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梦游天姥吟留别  |  61/83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《梦游天姥吟留别》 · 原文节选 Excerpt</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海客谈瀛洲，烟涛微茫信难求；</a:t>
            </a:r>
          </a:p>
          <a:p>
            <a:pPr algn="l">
              <a:spcAft>
                <a:spcPts val="400"/>
              </a:spcAft>
            </a:pPr>
            <a:r>
              <a:rPr sz="1500" b="0" i="0">
                <a:solidFill>
                  <a:srgbClr val="1A1F2E"/>
                </a:solidFill>
                <a:latin typeface="Microsoft YaHei"/>
                <a:ea typeface="Microsoft YaHei"/>
              </a:rPr>
              <a:t>越人语天姥，云霞明灭或可睹。</a:t>
            </a:r>
          </a:p>
          <a:p>
            <a:pPr algn="l">
              <a:spcAft>
                <a:spcPts val="400"/>
              </a:spcAft>
            </a:pPr>
            <a:r>
              <a:rPr sz="1500" b="0" i="0">
                <a:solidFill>
                  <a:srgbClr val="1A1F2E"/>
                </a:solidFill>
                <a:latin typeface="Microsoft YaHei"/>
                <a:ea typeface="Microsoft YaHei"/>
              </a:rPr>
              <a:t>天姥连天向天横，势拔五岳掩赤城。</a:t>
            </a:r>
          </a:p>
          <a:p>
            <a:pPr algn="l">
              <a:spcAft>
                <a:spcPts val="400"/>
              </a:spcAft>
            </a:pPr>
            <a:r>
              <a:rPr sz="1500" b="0" i="0">
                <a:solidFill>
                  <a:srgbClr val="1A1F2E"/>
                </a:solidFill>
                <a:latin typeface="Microsoft YaHei"/>
                <a:ea typeface="Microsoft YaHei"/>
              </a:rPr>
              <a:t>……</a:t>
            </a:r>
          </a:p>
          <a:p>
            <a:pPr algn="l">
              <a:spcAft>
                <a:spcPts val="400"/>
              </a:spcAft>
            </a:pPr>
            <a:r>
              <a:rPr sz="1500" b="0" i="0">
                <a:solidFill>
                  <a:srgbClr val="1A1F2E"/>
                </a:solidFill>
                <a:latin typeface="Microsoft YaHei"/>
                <a:ea typeface="Microsoft YaHei"/>
              </a:rPr>
              <a:t>霓为衣兮风为马，云之君兮纷纷而来下。</a:t>
            </a:r>
          </a:p>
          <a:p>
            <a:pPr algn="l">
              <a:spcAft>
                <a:spcPts val="400"/>
              </a:spcAft>
            </a:pPr>
            <a:r>
              <a:rPr sz="1500" b="0" i="0">
                <a:solidFill>
                  <a:srgbClr val="1A1F2E"/>
                </a:solidFill>
                <a:latin typeface="Microsoft YaHei"/>
                <a:ea typeface="Microsoft YaHei"/>
              </a:rPr>
              <a:t>虎鼓瑟兮鸾回车，仙之人兮列如麻。</a:t>
            </a:r>
          </a:p>
          <a:p>
            <a:pPr algn="l">
              <a:spcAft>
                <a:spcPts val="400"/>
              </a:spcAft>
            </a:pPr>
            <a:r>
              <a:rPr sz="1500" b="0" i="0">
                <a:solidFill>
                  <a:srgbClr val="1A1F2E"/>
                </a:solidFill>
                <a:latin typeface="Microsoft YaHei"/>
                <a:ea typeface="Microsoft YaHei"/>
              </a:rPr>
              <a:t>忽魂悸以魄动，恍惊起而长嗟。</a:t>
            </a:r>
          </a:p>
          <a:p>
            <a:pPr algn="l">
              <a:spcAft>
                <a:spcPts val="400"/>
              </a:spcAft>
            </a:pPr>
            <a:r>
              <a:rPr sz="1500" b="0" i="0">
                <a:solidFill>
                  <a:srgbClr val="1A1F2E"/>
                </a:solidFill>
                <a:latin typeface="Microsoft YaHei"/>
                <a:ea typeface="Microsoft YaHei"/>
              </a:rPr>
              <a:t>惟觉时之枕席，失向来之烟霞。</a:t>
            </a:r>
          </a:p>
          <a:p>
            <a:pPr algn="l">
              <a:spcAft>
                <a:spcPts val="400"/>
              </a:spcAft>
            </a:pPr>
            <a:r>
              <a:rPr sz="1500" b="0" i="0">
                <a:solidFill>
                  <a:srgbClr val="1A1F2E"/>
                </a:solidFill>
                <a:latin typeface="Microsoft YaHei"/>
                <a:ea typeface="Microsoft YaHei"/>
              </a:rPr>
              <a:t>世间行乐亦如此，古来万事东流水。</a:t>
            </a:r>
          </a:p>
          <a:p>
            <a:pPr algn="l">
              <a:spcAft>
                <a:spcPts val="400"/>
              </a:spcAft>
            </a:pPr>
            <a:r>
              <a:rPr sz="1500" b="0" i="0">
                <a:solidFill>
                  <a:srgbClr val="1A1F2E"/>
                </a:solidFill>
                <a:latin typeface="Microsoft YaHei"/>
                <a:ea typeface="Microsoft YaHei"/>
              </a:rPr>
              <a:t>……</a:t>
            </a:r>
          </a:p>
          <a:p>
            <a:pPr algn="l">
              <a:spcAft>
                <a:spcPts val="400"/>
              </a:spcAft>
            </a:pPr>
            <a:r>
              <a:rPr sz="1500" b="0" i="0">
                <a:solidFill>
                  <a:srgbClr val="1A1F2E"/>
                </a:solidFill>
                <a:latin typeface="Microsoft YaHei"/>
                <a:ea typeface="Microsoft YaHei"/>
              </a:rPr>
              <a:t>安能摧眉折腰事权贵，使我不得开心颜！</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梦游天姥吟留别  |  62/83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Dream Journey to Tianmu: A Farewell Song · 英译节选 Excerpt</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300" b="0" i="0">
                <a:solidFill>
                  <a:srgbClr val="2C3548"/>
                </a:solidFill>
                <a:latin typeface="Microsoft YaHei"/>
                <a:ea typeface="Microsoft YaHei"/>
              </a:rPr>
              <a:t>Seafarers speak of Yingzhou—misty waves, hard to seek;</a:t>
            </a:r>
          </a:p>
          <a:p>
            <a:pPr algn="l">
              <a:spcAft>
                <a:spcPts val="400"/>
              </a:spcAft>
            </a:pPr>
            <a:r>
              <a:rPr sz="1300" b="0" i="0">
                <a:solidFill>
                  <a:srgbClr val="2C3548"/>
                </a:solidFill>
                <a:latin typeface="Microsoft YaHei"/>
                <a:ea typeface="Microsoft YaHei"/>
              </a:rPr>
              <a:t>Yue folk tell of Tianmu—clouds that may be glimpsed.</a:t>
            </a:r>
          </a:p>
          <a:p>
            <a:pPr algn="l">
              <a:spcAft>
                <a:spcPts val="400"/>
              </a:spcAft>
            </a:pPr>
            <a:r>
              <a:rPr sz="1300" b="0" i="0">
                <a:solidFill>
                  <a:srgbClr val="2C3548"/>
                </a:solidFill>
                <a:latin typeface="Microsoft YaHei"/>
                <a:ea typeface="Microsoft YaHei"/>
              </a:rPr>
              <a:t>Tianmu stretches across the sky,</a:t>
            </a:r>
          </a:p>
          <a:p>
            <a:pPr algn="l">
              <a:spcAft>
                <a:spcPts val="400"/>
              </a:spcAft>
            </a:pPr>
            <a:r>
              <a:rPr sz="1300" b="0" i="0">
                <a:solidFill>
                  <a:srgbClr val="2C3548"/>
                </a:solidFill>
                <a:latin typeface="Microsoft YaHei"/>
                <a:ea typeface="Microsoft YaHei"/>
              </a:rPr>
              <a:t>Towering over the Five Peaks, eclipsing Red Wall.</a:t>
            </a:r>
          </a:p>
          <a:p>
            <a:pPr algn="l">
              <a:spcAft>
                <a:spcPts val="400"/>
              </a:spcAft>
            </a:pPr>
            <a:r>
              <a:rPr sz="1300" b="0" i="0">
                <a:solidFill>
                  <a:srgbClr val="2C3548"/>
                </a:solidFill>
                <a:latin typeface="Microsoft YaHei"/>
                <a:ea typeface="Microsoft YaHei"/>
              </a:rPr>
              <a:t>…</a:t>
            </a:r>
          </a:p>
          <a:p>
            <a:pPr algn="l">
              <a:spcAft>
                <a:spcPts val="400"/>
              </a:spcAft>
            </a:pPr>
            <a:r>
              <a:rPr sz="1300" b="0" i="0">
                <a:solidFill>
                  <a:srgbClr val="2C3548"/>
                </a:solidFill>
                <a:latin typeface="Microsoft YaHei"/>
                <a:ea typeface="Microsoft YaHei"/>
              </a:rPr>
              <a:t>Rainbows for robes, wind for horses—</a:t>
            </a:r>
          </a:p>
          <a:p>
            <a:pPr algn="l">
              <a:spcAft>
                <a:spcPts val="400"/>
              </a:spcAft>
            </a:pPr>
            <a:r>
              <a:rPr sz="1300" b="0" i="0">
                <a:solidFill>
                  <a:srgbClr val="2C3548"/>
                </a:solidFill>
                <a:latin typeface="Microsoft YaHei"/>
                <a:ea typeface="Microsoft YaHei"/>
              </a:rPr>
              <a:t>Cloud Lords descend in throngs.</a:t>
            </a:r>
          </a:p>
          <a:p>
            <a:pPr algn="l">
              <a:spcAft>
                <a:spcPts val="400"/>
              </a:spcAft>
            </a:pPr>
            <a:r>
              <a:rPr sz="1300" b="0" i="0">
                <a:solidFill>
                  <a:srgbClr val="2C3548"/>
                </a:solidFill>
                <a:latin typeface="Microsoft YaHei"/>
                <a:ea typeface="Microsoft YaHei"/>
              </a:rPr>
              <a:t>Tigers drum zithers, phoenixes turn carriages;</a:t>
            </a:r>
          </a:p>
          <a:p>
            <a:pPr algn="l">
              <a:spcAft>
                <a:spcPts val="400"/>
              </a:spcAft>
            </a:pPr>
            <a:r>
              <a:rPr sz="1300" b="0" i="0">
                <a:solidFill>
                  <a:srgbClr val="2C3548"/>
                </a:solidFill>
                <a:latin typeface="Microsoft YaHei"/>
                <a:ea typeface="Microsoft YaHei"/>
              </a:rPr>
              <a:t>Immortals stand thick as hemp.</a:t>
            </a:r>
          </a:p>
          <a:p>
            <a:pPr algn="l">
              <a:spcAft>
                <a:spcPts val="400"/>
              </a:spcAft>
            </a:pPr>
            <a:r>
              <a:rPr sz="1300" b="0" i="0">
                <a:solidFill>
                  <a:srgbClr val="2C3548"/>
                </a:solidFill>
                <a:latin typeface="Microsoft YaHei"/>
                <a:ea typeface="Microsoft YaHei"/>
              </a:rPr>
              <a:t>Suddenly the soul shudders—I start awake with a long sigh.</a:t>
            </a:r>
          </a:p>
          <a:p>
            <a:pPr algn="l">
              <a:spcAft>
                <a:spcPts val="400"/>
              </a:spcAft>
            </a:pPr>
            <a:r>
              <a:rPr sz="1300" b="0" i="0">
                <a:solidFill>
                  <a:srgbClr val="2C3548"/>
                </a:solidFill>
                <a:latin typeface="Microsoft YaHei"/>
                <a:ea typeface="Microsoft YaHei"/>
              </a:rPr>
              <a:t>Only pillow and mat remain; the mists are gone.</a:t>
            </a:r>
          </a:p>
          <a:p>
            <a:pPr algn="l">
              <a:spcAft>
                <a:spcPts val="400"/>
              </a:spcAft>
            </a:pPr>
            <a:r>
              <a:rPr sz="1300" b="0" i="0">
                <a:solidFill>
                  <a:srgbClr val="2C3548"/>
                </a:solidFill>
                <a:latin typeface="Microsoft YaHei"/>
                <a:ea typeface="Microsoft YaHei"/>
              </a:rPr>
              <a:t>Worldly joys are like this; since old times all things flow east.</a:t>
            </a:r>
          </a:p>
          <a:p>
            <a:pPr algn="l">
              <a:spcAft>
                <a:spcPts val="400"/>
              </a:spcAft>
            </a:pPr>
            <a:r>
              <a:rPr sz="1300" b="0" i="0">
                <a:solidFill>
                  <a:srgbClr val="2C3548"/>
                </a:solidFill>
                <a:latin typeface="Microsoft YaHei"/>
                <a:ea typeface="Microsoft YaHei"/>
              </a:rPr>
              <a:t>…</a:t>
            </a:r>
          </a:p>
          <a:p>
            <a:pPr algn="l">
              <a:spcAft>
                <a:spcPts val="400"/>
              </a:spcAft>
            </a:pPr>
            <a:r>
              <a:rPr sz="1300" b="0" i="0">
                <a:solidFill>
                  <a:srgbClr val="2C3548"/>
                </a:solidFill>
                <a:latin typeface="Microsoft YaHei"/>
                <a:ea typeface="Microsoft YaHei"/>
              </a:rPr>
              <a:t>How can I bow and scrape to the powerful,</a:t>
            </a:r>
          </a:p>
          <a:p>
            <a:pPr algn="l">
              <a:spcAft>
                <a:spcPts val="400"/>
              </a:spcAft>
            </a:pPr>
            <a:r>
              <a:rPr sz="1300" b="0" i="0">
                <a:solidFill>
                  <a:srgbClr val="2C3548"/>
                </a:solidFill>
                <a:latin typeface="Microsoft YaHei"/>
                <a:ea typeface="Microsoft YaHei"/>
              </a:rPr>
              <a:t>And not keep an open, joyful face!</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梦游天姥吟留别  |  63/83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《梦游天姥吟留别》 · 全文原文 Full Chinese</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海客谈瀛洲，烟涛微茫信难求；越人语天姥，云霞明灭或可睹。</a:t>
            </a:r>
          </a:p>
          <a:p>
            <a:pPr algn="l">
              <a:spcAft>
                <a:spcPts val="400"/>
              </a:spcAft>
            </a:pPr>
            <a:r>
              <a:rPr sz="1500" b="0" i="0">
                <a:solidFill>
                  <a:srgbClr val="1A1F2E"/>
                </a:solidFill>
                <a:latin typeface="Microsoft YaHei"/>
                <a:ea typeface="Microsoft YaHei"/>
              </a:rPr>
              <a:t>天姥连天向天横，势拔五岳掩赤城。天台四万八千丈，对此欲倒东南倾。</a:t>
            </a:r>
          </a:p>
          <a:p>
            <a:pPr algn="l">
              <a:spcAft>
                <a:spcPts val="400"/>
              </a:spcAft>
            </a:pPr>
            <a:r>
              <a:rPr sz="1500" b="0" i="0">
                <a:solidFill>
                  <a:srgbClr val="1A1F2E"/>
                </a:solidFill>
                <a:latin typeface="Microsoft YaHei"/>
                <a:ea typeface="Microsoft YaHei"/>
              </a:rPr>
              <a:t>我欲因之梦吴越，一夜飞度镜湖月。湖月照我影，送我至剡溪。</a:t>
            </a:r>
          </a:p>
          <a:p>
            <a:pPr algn="l">
              <a:spcAft>
                <a:spcPts val="400"/>
              </a:spcAft>
            </a:pPr>
            <a:r>
              <a:rPr sz="1500" b="0" i="0">
                <a:solidFill>
                  <a:srgbClr val="1A1F2E"/>
                </a:solidFill>
                <a:latin typeface="Microsoft YaHei"/>
                <a:ea typeface="Microsoft YaHei"/>
              </a:rPr>
              <a:t>谢公宿处今尚在，渌水荡漾清猿啼。脚著谢公屐，身登青云梯。</a:t>
            </a:r>
          </a:p>
          <a:p>
            <a:pPr algn="l">
              <a:spcAft>
                <a:spcPts val="400"/>
              </a:spcAft>
            </a:pPr>
            <a:r>
              <a:rPr sz="1500" b="0" i="0">
                <a:solidFill>
                  <a:srgbClr val="1A1F2E"/>
                </a:solidFill>
                <a:latin typeface="Microsoft YaHei"/>
                <a:ea typeface="Microsoft YaHei"/>
              </a:rPr>
              <a:t>半壁见海日，空中闻天鸡。千岩万转路不定，迷花倚石忽已暝。</a:t>
            </a:r>
          </a:p>
          <a:p>
            <a:pPr algn="l">
              <a:spcAft>
                <a:spcPts val="400"/>
              </a:spcAft>
            </a:pPr>
            <a:r>
              <a:rPr sz="1500" b="0" i="0">
                <a:solidFill>
                  <a:srgbClr val="1A1F2E"/>
                </a:solidFill>
                <a:latin typeface="Microsoft YaHei"/>
                <a:ea typeface="Microsoft YaHei"/>
              </a:rPr>
              <a:t>熊咆龙吟殷岩泉，栗深林兮惊层巅。云青青兮欲雨，水澹澹兮生烟。</a:t>
            </a:r>
          </a:p>
          <a:p>
            <a:pPr algn="l">
              <a:spcAft>
                <a:spcPts val="400"/>
              </a:spcAft>
            </a:pPr>
            <a:r>
              <a:rPr sz="1500" b="0" i="0">
                <a:solidFill>
                  <a:srgbClr val="1A1F2E"/>
                </a:solidFill>
                <a:latin typeface="Microsoft YaHei"/>
                <a:ea typeface="Microsoft YaHei"/>
              </a:rPr>
              <a:t>列缺霹雳，丘峦崩摧。洞天石扉，訇然中开。</a:t>
            </a:r>
          </a:p>
          <a:p>
            <a:pPr algn="l">
              <a:spcAft>
                <a:spcPts val="400"/>
              </a:spcAft>
            </a:pPr>
            <a:r>
              <a:rPr sz="1500" b="0" i="0">
                <a:solidFill>
                  <a:srgbClr val="1A1F2E"/>
                </a:solidFill>
                <a:latin typeface="Microsoft YaHei"/>
                <a:ea typeface="Microsoft YaHei"/>
              </a:rPr>
              <a:t>青冥浩荡不见底，日月照耀金银台。霓为衣兮风为马，云之君兮纷纷而来下。</a:t>
            </a:r>
          </a:p>
          <a:p>
            <a:pPr algn="l">
              <a:spcAft>
                <a:spcPts val="400"/>
              </a:spcAft>
            </a:pPr>
            <a:r>
              <a:rPr sz="1500" b="0" i="0">
                <a:solidFill>
                  <a:srgbClr val="1A1F2E"/>
                </a:solidFill>
                <a:latin typeface="Microsoft YaHei"/>
                <a:ea typeface="Microsoft YaHei"/>
              </a:rPr>
              <a:t>虎鼓瑟兮鸾回车，仙之人兮列如麻。忽魂悸以魄动，恍惊起而长嗟。</a:t>
            </a:r>
          </a:p>
          <a:p>
            <a:pPr algn="l">
              <a:spcAft>
                <a:spcPts val="400"/>
              </a:spcAft>
            </a:pPr>
            <a:r>
              <a:rPr sz="1500" b="0" i="0">
                <a:solidFill>
                  <a:srgbClr val="1A1F2E"/>
                </a:solidFill>
                <a:latin typeface="Microsoft YaHei"/>
                <a:ea typeface="Microsoft YaHei"/>
              </a:rPr>
              <a:t>惟觉时之枕席，失向来之烟霞。世间行乐亦如此，古来万事东流水。</a:t>
            </a:r>
          </a:p>
          <a:p>
            <a:pPr algn="l">
              <a:spcAft>
                <a:spcPts val="400"/>
              </a:spcAft>
            </a:pPr>
            <a:r>
              <a:rPr sz="1500" b="0" i="0">
                <a:solidFill>
                  <a:srgbClr val="1A1F2E"/>
                </a:solidFill>
                <a:latin typeface="Microsoft YaHei"/>
                <a:ea typeface="Microsoft YaHei"/>
              </a:rPr>
              <a:t>别君去兮何时还？且放白鹿青崖间，须行即骑访名山。</a:t>
            </a:r>
          </a:p>
          <a:p>
            <a:pPr algn="l">
              <a:spcAft>
                <a:spcPts val="400"/>
              </a:spcAft>
            </a:pPr>
            <a:r>
              <a:rPr sz="1500" b="0" i="0">
                <a:solidFill>
                  <a:srgbClr val="1A1F2E"/>
                </a:solidFill>
                <a:latin typeface="Microsoft YaHei"/>
                <a:ea typeface="Microsoft YaHei"/>
              </a:rPr>
              <a:t>安能摧眉折腰事权贵，使我不得开心颜！</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梦游天姥吟留别  |  64/83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Dream Journey to Tianmu: A Farewell Song · 全文英译 Full English</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600" b="0" i="0">
                <a:solidFill>
                  <a:srgbClr val="2C3548"/>
                </a:solidFill>
                <a:latin typeface="Microsoft YaHei"/>
                <a:ea typeface="Microsoft YaHei"/>
              </a:rPr>
              <a:t>Seafarers speak of Yingzhou—misty waves, hard to seek; Yue folk tell of Tianmu—clouds that may be glimpsed.</a:t>
            </a:r>
          </a:p>
          <a:p>
            <a:pPr algn="l">
              <a:spcAft>
                <a:spcPts val="400"/>
              </a:spcAft>
            </a:pPr>
            <a:r>
              <a:rPr sz="1600" b="0" i="0">
                <a:solidFill>
                  <a:srgbClr val="2C3548"/>
                </a:solidFill>
                <a:latin typeface="Microsoft YaHei"/>
                <a:ea typeface="Microsoft YaHei"/>
              </a:rPr>
              <a:t>Tianmu stretches across the sky, towering over the Five Peaks, eclipsing Red Wall. Tiantai’s forty-eight thousand zhang would topple southeast before it.</a:t>
            </a:r>
          </a:p>
          <a:p>
            <a:pPr algn="l">
              <a:spcAft>
                <a:spcPts val="400"/>
              </a:spcAft>
            </a:pPr>
            <a:r>
              <a:rPr sz="1600" b="0" i="0">
                <a:solidFill>
                  <a:srgbClr val="2C3548"/>
                </a:solidFill>
                <a:latin typeface="Microsoft YaHei"/>
                <a:ea typeface="Microsoft YaHei"/>
              </a:rPr>
              <a:t>I would dream my way to Wu-Yue—one night I fly across Mirror Lake’s moon. The lake moon lights my shadow to Shan Stream.</a:t>
            </a:r>
          </a:p>
          <a:p>
            <a:pPr algn="l">
              <a:spcAft>
                <a:spcPts val="400"/>
              </a:spcAft>
            </a:pPr>
            <a:r>
              <a:rPr sz="1600" b="0" i="0">
                <a:solidFill>
                  <a:srgbClr val="2C3548"/>
                </a:solidFill>
                <a:latin typeface="Microsoft YaHei"/>
                <a:ea typeface="Microsoft YaHei"/>
              </a:rPr>
              <a:t>Xie’s lodging still remains; clear water ripples, gibbons cry. In Xie’s clogs I climb the cloud ladder.</a:t>
            </a:r>
          </a:p>
          <a:p>
            <a:pPr algn="l">
              <a:spcAft>
                <a:spcPts val="400"/>
              </a:spcAft>
            </a:pPr>
            <a:r>
              <a:rPr sz="1600" b="0" i="0">
                <a:solidFill>
                  <a:srgbClr val="2C3548"/>
                </a:solidFill>
                <a:latin typeface="Microsoft YaHei"/>
                <a:ea typeface="Microsoft YaHei"/>
              </a:rPr>
              <a:t>Halfway up I see the sea sun; in midair I hear the heavenly cock. A thousand cliffs, ten thousand turns—lost among flowers, evening falls.</a:t>
            </a:r>
          </a:p>
          <a:p>
            <a:pPr algn="l">
              <a:spcAft>
                <a:spcPts val="400"/>
              </a:spcAft>
            </a:pPr>
            <a:r>
              <a:rPr sz="1600" b="0" i="0">
                <a:solidFill>
                  <a:srgbClr val="2C3548"/>
                </a:solidFill>
                <a:latin typeface="Microsoft YaHei"/>
                <a:ea typeface="Microsoft YaHei"/>
              </a:rPr>
              <a:t>Bears roar, dragons chant through rocky springs; deep woods tremble, layered peaks startle. Clouds darken toward rain; waters grow mist.</a:t>
            </a:r>
          </a:p>
          <a:p>
            <a:pPr algn="l">
              <a:spcAft>
                <a:spcPts val="400"/>
              </a:spcAft>
            </a:pPr>
            <a:r>
              <a:rPr sz="1600" b="0" i="0">
                <a:solidFill>
                  <a:srgbClr val="2C3548"/>
                </a:solidFill>
                <a:latin typeface="Microsoft YaHei"/>
                <a:ea typeface="Microsoft YaHei"/>
              </a:rPr>
              <a:t>Lightning splits; hills collapse. Stone doors of the grotto-heaven boom open.</a:t>
            </a:r>
          </a:p>
          <a:p>
            <a:pPr algn="l">
              <a:spcAft>
                <a:spcPts val="400"/>
              </a:spcAft>
            </a:pPr>
            <a:r>
              <a:rPr sz="1600" b="0" i="0">
                <a:solidFill>
                  <a:srgbClr val="2C3548"/>
                </a:solidFill>
                <a:latin typeface="Microsoft YaHei"/>
                <a:ea typeface="Microsoft YaHei"/>
              </a:rPr>
              <a:t>Blue void without bottom; sun and moon light gold-and-silver terraces. Rainbows for robes, wind for horses—Cloud Lords descend in throngs.</a:t>
            </a:r>
          </a:p>
          <a:p>
            <a:pPr algn="l">
              <a:spcAft>
                <a:spcPts val="400"/>
              </a:spcAft>
            </a:pPr>
            <a:r>
              <a:rPr sz="1600" b="0" i="0">
                <a:solidFill>
                  <a:srgbClr val="2C3548"/>
                </a:solidFill>
                <a:latin typeface="Microsoft YaHei"/>
                <a:ea typeface="Microsoft YaHei"/>
              </a:rPr>
              <a:t>Tigers drum zithers, phoenixes turn carriages; immortals stand thick as hemp. Suddenly the soul shudders—I start awake with a long sigh.</a:t>
            </a:r>
          </a:p>
          <a:p>
            <a:pPr algn="l">
              <a:spcAft>
                <a:spcPts val="400"/>
              </a:spcAft>
            </a:pPr>
            <a:r>
              <a:rPr sz="1600" b="0" i="0">
                <a:solidFill>
                  <a:srgbClr val="2C3548"/>
                </a:solidFill>
                <a:latin typeface="Microsoft YaHei"/>
                <a:ea typeface="Microsoft YaHei"/>
              </a:rPr>
              <a:t>Only pillow and mat remain; the mists are gone. Worldly joys are like this; since old times all things flow east.</a:t>
            </a:r>
          </a:p>
          <a:p>
            <a:pPr algn="l">
              <a:spcAft>
                <a:spcPts val="400"/>
              </a:spcAft>
            </a:pPr>
            <a:r>
              <a:rPr sz="1600" b="0" i="0">
                <a:solidFill>
                  <a:srgbClr val="2C3548"/>
                </a:solidFill>
                <a:latin typeface="Microsoft YaHei"/>
                <a:ea typeface="Microsoft YaHei"/>
              </a:rPr>
              <a:t>When shall I return after leaving you? I’ll free a white deer on green cliffs, and when I go, ride it to famous mountains.</a:t>
            </a:r>
          </a:p>
          <a:p>
            <a:pPr algn="l">
              <a:spcAft>
                <a:spcPts val="400"/>
              </a:spcAft>
            </a:pPr>
            <a:r>
              <a:rPr sz="1600" b="0" i="0">
                <a:solidFill>
                  <a:srgbClr val="2C3548"/>
                </a:solidFill>
                <a:latin typeface="Microsoft YaHei"/>
                <a:ea typeface="Microsoft YaHei"/>
              </a:rPr>
              <a:t>How can I bow and scrape to the powerful, and not keep an open, joyful face!</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梦游天姥吟留别  |  65/83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《梦游天姥吟留别》 · 创作背景 Context</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李白被赐金放还后，在东鲁一带盘桓，天宝四载准备南下吴越，以此诗向友人告别。全篇以梦游天姥山为核心，将山水、游仙与政治态度熔于一炉。末句“安能摧眉折腰事权贵”是诗人傲岸人格的最强宣言，也是理解其离开长安后心境的钥匙。</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After leaving court, while preparing to leave eastern Lu for Wu-Yue (745), Li Bai wrote this farewell. A dream journey to Mount Tianmu fuses landscape, immortal fantasy, and politics. The final refusal to bow to the powerful is his clearest statement of independence.</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梦游天姥吟留别  |  66/83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《梦游天姥吟留别》 · 诗文意义 Meaning</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诗分三段：向往天姥—梦入仙境—梦醒抒怀。仙境越绚烂，梦醒越虚空，从而引出“世间行乐亦如此”的觉悟；最终以访名山、拒权贵收束，完成从幻境到人格抉择的升华。浪漫想象服务于现实态度，是李白“诗与人合一”的典范。</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Three movements: longing for Tianmu, dream paradise, waking reflection. The brighter the immortal scene, the emptier the waking—hence “worldly joys are like this.” Visiting mountains and rejecting power complete the arc from fantasy to moral choice.</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梦游天姥吟留别  |  67/83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144000" cy="365760"/>
          </a:xfrm>
          <a:prstGeom prst="rect">
            <a:avLst/>
          </a:prstGeom>
          <a:noFill/>
        </p:spPr>
        <p:txBody>
          <a:bodyPr wrap="square" anchor="t"/>
          <a:lstStyle/>
          <a:p>
            <a:pPr algn="l">
              <a:spcAft>
                <a:spcPts val="400"/>
              </a:spcAft>
            </a:pPr>
            <a:r>
              <a:rPr sz="1600" b="1" i="0">
                <a:solidFill>
                  <a:srgbClr val="A67C52"/>
                </a:solidFill>
                <a:latin typeface="Microsoft YaHei"/>
                <a:ea typeface="Microsoft YaHei"/>
              </a:rPr>
              <a:t>第 11 篇  /  Poem 11</a:t>
            </a:r>
          </a:p>
        </p:txBody>
      </p:sp>
      <p:sp>
        <p:nvSpPr>
          <p:cNvPr id="5" name="TextBox 4"/>
          <p:cNvSpPr txBox="1"/>
          <p:nvPr/>
        </p:nvSpPr>
        <p:spPr>
          <a:xfrm>
            <a:off x="1097280" y="2377440"/>
            <a:ext cx="10058400" cy="822960"/>
          </a:xfrm>
          <a:prstGeom prst="rect">
            <a:avLst/>
          </a:prstGeom>
          <a:noFill/>
        </p:spPr>
        <p:txBody>
          <a:bodyPr wrap="square" anchor="t"/>
          <a:lstStyle/>
          <a:p>
            <a:pPr algn="l">
              <a:spcAft>
                <a:spcPts val="400"/>
              </a:spcAft>
            </a:pPr>
            <a:r>
              <a:rPr sz="4000" b="1" i="0">
                <a:solidFill>
                  <a:srgbClr val="FFFFFF"/>
                </a:solidFill>
                <a:latin typeface="Microsoft YaHei"/>
                <a:ea typeface="Microsoft YaHei"/>
              </a:rPr>
              <a:t>《早发白帝城》</a:t>
            </a:r>
          </a:p>
        </p:txBody>
      </p:sp>
      <p:sp>
        <p:nvSpPr>
          <p:cNvPr id="6" name="TextBox 5"/>
          <p:cNvSpPr txBox="1"/>
          <p:nvPr/>
        </p:nvSpPr>
        <p:spPr>
          <a:xfrm>
            <a:off x="1097280" y="3291840"/>
            <a:ext cx="10058400" cy="457200"/>
          </a:xfrm>
          <a:prstGeom prst="rect">
            <a:avLst/>
          </a:prstGeom>
          <a:noFill/>
        </p:spPr>
        <p:txBody>
          <a:bodyPr wrap="square" anchor="t"/>
          <a:lstStyle/>
          <a:p>
            <a:pPr algn="l">
              <a:spcAft>
                <a:spcPts val="400"/>
              </a:spcAft>
            </a:pPr>
            <a:r>
              <a:rPr sz="2000" b="0" i="1">
                <a:solidFill>
                  <a:srgbClr val="E8E0D0"/>
                </a:solidFill>
                <a:latin typeface="Microsoft YaHei"/>
                <a:ea typeface="Microsoft YaHei"/>
              </a:rPr>
              <a:t>Departing Baidi City at Dawn</a:t>
            </a:r>
          </a:p>
        </p:txBody>
      </p:sp>
      <p:sp>
        <p:nvSpPr>
          <p:cNvPr id="7" name="Rectangle 6"/>
          <p:cNvSpPr/>
          <p:nvPr/>
        </p:nvSpPr>
        <p:spPr>
          <a:xfrm>
            <a:off x="1097280" y="3931920"/>
            <a:ext cx="2011680" cy="54864"/>
          </a:xfrm>
          <a:prstGeom prst="rect">
            <a:avLst/>
          </a:prstGeom>
          <a:solidFill>
            <a:srgbClr val="2A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731520"/>
          </a:xfrm>
          <a:prstGeom prst="rect">
            <a:avLst/>
          </a:prstGeom>
          <a:noFill/>
        </p:spPr>
        <p:txBody>
          <a:bodyPr wrap="square" anchor="t"/>
          <a:lstStyle/>
          <a:p>
            <a:pPr algn="l">
              <a:spcAft>
                <a:spcPts val="400"/>
              </a:spcAft>
            </a:pPr>
            <a:r>
              <a:rPr sz="1400" b="0" i="0">
                <a:solidFill>
                  <a:srgbClr val="F7F3EB"/>
                </a:solidFill>
                <a:latin typeface="Microsoft YaHei"/>
                <a:ea typeface="Microsoft YaHei"/>
              </a:rPr>
              <a:t>七言绝句 / Seven-character quatrain</a:t>
            </a:r>
          </a:p>
          <a:p>
            <a:pPr algn="l">
              <a:spcAft>
                <a:spcPts val="400"/>
              </a:spcAft>
            </a:pPr>
            <a:r>
              <a:rPr sz="1400" b="0" i="0">
                <a:solidFill>
                  <a:srgbClr val="F7F3EB"/>
                </a:solidFill>
                <a:latin typeface="Microsoft YaHei"/>
                <a:ea typeface="Microsoft YaHei"/>
              </a:rPr>
              <a:t>乾元二年（759年） · 流放夜郎途中遇赦东归</a:t>
            </a:r>
          </a:p>
          <a:p>
            <a:pPr algn="l">
              <a:spcAft>
                <a:spcPts val="400"/>
              </a:spcAft>
            </a:pPr>
            <a:r>
              <a:rPr sz="1400" b="0" i="0">
                <a:solidFill>
                  <a:srgbClr val="F7F3EB"/>
                </a:solidFill>
                <a:latin typeface="Microsoft YaHei"/>
                <a:ea typeface="Microsoft YaHei"/>
              </a:rPr>
              <a:t>关键词 Keywords：遇赦 · 轻舟 · 迅疾 · 欢畅</a:t>
            </a:r>
          </a:p>
        </p:txBody>
      </p:sp>
      <p:sp>
        <p:nvSpPr>
          <p:cNvPr id="9" name="TextBox 8"/>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早发白帝城  |  68/83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《早发白帝城》 · 原文 Original Chinese</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800" b="0" i="0">
                <a:solidFill>
                  <a:srgbClr val="1A1F2E"/>
                </a:solidFill>
                <a:latin typeface="Microsoft YaHei"/>
                <a:ea typeface="Microsoft YaHei"/>
              </a:rPr>
              <a:t>朝辞白帝彩云间，千里江陵一日还。</a:t>
            </a:r>
          </a:p>
          <a:p>
            <a:pPr algn="l">
              <a:spcAft>
                <a:spcPts val="400"/>
              </a:spcAft>
            </a:pPr>
            <a:r>
              <a:rPr sz="1800" b="0" i="0">
                <a:solidFill>
                  <a:srgbClr val="1A1F2E"/>
                </a:solidFill>
                <a:latin typeface="Microsoft YaHei"/>
                <a:ea typeface="Microsoft YaHei"/>
              </a:rPr>
              <a:t>两岸猿声啼不住，轻舟已过万重山。</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早发白帝城  |  69/83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Departing Baidi City at Dawn · 英译 English Translation</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600" b="0" i="0">
                <a:solidFill>
                  <a:srgbClr val="2C3548"/>
                </a:solidFill>
                <a:latin typeface="Microsoft YaHei"/>
                <a:ea typeface="Microsoft YaHei"/>
              </a:rPr>
              <a:t>At dawn I leave Baidi among colored clouds;</a:t>
            </a:r>
          </a:p>
          <a:p>
            <a:pPr algn="l">
              <a:spcAft>
                <a:spcPts val="400"/>
              </a:spcAft>
            </a:pPr>
            <a:r>
              <a:rPr sz="1600" b="0" i="0">
                <a:solidFill>
                  <a:srgbClr val="2C3548"/>
                </a:solidFill>
                <a:latin typeface="Microsoft YaHei"/>
                <a:ea typeface="Microsoft YaHei"/>
              </a:rPr>
              <a:t>A thousand li to Jiangling—back in a single day.</a:t>
            </a:r>
          </a:p>
          <a:p>
            <a:pPr algn="l">
              <a:spcAft>
                <a:spcPts val="400"/>
              </a:spcAft>
            </a:pPr>
            <a:r>
              <a:rPr sz="1600" b="0" i="0">
                <a:solidFill>
                  <a:srgbClr val="2C3548"/>
                </a:solidFill>
                <a:latin typeface="Microsoft YaHei"/>
                <a:ea typeface="Microsoft YaHei"/>
              </a:rPr>
              <a:t>From both banks, gibbons cry without pause;</a:t>
            </a:r>
          </a:p>
          <a:p>
            <a:pPr algn="l">
              <a:spcAft>
                <a:spcPts val="400"/>
              </a:spcAft>
            </a:pPr>
            <a:r>
              <a:rPr sz="1600" b="0" i="0">
                <a:solidFill>
                  <a:srgbClr val="2C3548"/>
                </a:solidFill>
                <a:latin typeface="Microsoft YaHei"/>
                <a:ea typeface="Microsoft YaHei"/>
              </a:rPr>
              <a:t>My light boat has already passed ten thousand folded mountains.</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早发白帝城  |  70/83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《早发白帝城》 · 中英对照 Bilingual</a:t>
            </a:r>
          </a:p>
        </p:txBody>
      </p:sp>
      <p:sp>
        <p:nvSpPr>
          <p:cNvPr id="5" name="Rectangle 4"/>
          <p:cNvSpPr/>
          <p:nvPr/>
        </p:nvSpPr>
        <p:spPr>
          <a:xfrm>
            <a:off x="457200" y="914400"/>
            <a:ext cx="5394960" cy="502920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09360" y="914400"/>
            <a:ext cx="5394960" cy="5029200"/>
          </a:xfrm>
          <a:prstGeom prst="rect">
            <a:avLst/>
          </a:prstGeom>
          <a:solidFill>
            <a:srgbClr val="EE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中文</a:t>
            </a:r>
          </a:p>
        </p:txBody>
      </p:sp>
      <p:sp>
        <p:nvSpPr>
          <p:cNvPr id="8" name="TextBox 7"/>
          <p:cNvSpPr txBox="1"/>
          <p:nvPr/>
        </p:nvSpPr>
        <p:spPr>
          <a:xfrm>
            <a:off x="6492240" y="1051560"/>
            <a:ext cx="5029200" cy="320040"/>
          </a:xfrm>
          <a:prstGeom prst="rect">
            <a:avLst/>
          </a:prstGeom>
          <a:noFill/>
        </p:spPr>
        <p:txBody>
          <a:bodyPr wrap="square" anchor="t"/>
          <a:lstStyle/>
          <a:p>
            <a:pPr algn="l">
              <a:spcAft>
                <a:spcPts val="400"/>
              </a:spcAft>
            </a:pPr>
            <a:r>
              <a:rPr sz="1200" b="1" i="0">
                <a:solidFill>
                  <a:srgbClr val="1E5A5A"/>
                </a:solidFill>
                <a:latin typeface="Microsoft YaHei"/>
                <a:ea typeface="Microsoft YaHei"/>
              </a:rPr>
              <a:t>English</a:t>
            </a:r>
          </a:p>
        </p:txBody>
      </p:sp>
      <p:sp>
        <p:nvSpPr>
          <p:cNvPr id="9" name="TextBox 8"/>
          <p:cNvSpPr txBox="1"/>
          <p:nvPr/>
        </p:nvSpPr>
        <p:spPr>
          <a:xfrm>
            <a:off x="640080" y="1417320"/>
            <a:ext cx="5029200" cy="4389120"/>
          </a:xfrm>
          <a:prstGeom prst="rect">
            <a:avLst/>
          </a:prstGeom>
          <a:noFill/>
        </p:spPr>
        <p:txBody>
          <a:bodyPr wrap="square" anchor="t"/>
          <a:lstStyle/>
          <a:p>
            <a:pPr algn="l">
              <a:spcAft>
                <a:spcPts val="400"/>
              </a:spcAft>
            </a:pPr>
            <a:r>
              <a:rPr sz="1600" b="0" i="0">
                <a:solidFill>
                  <a:srgbClr val="1A1F2E"/>
                </a:solidFill>
                <a:latin typeface="Microsoft YaHei"/>
                <a:ea typeface="Microsoft YaHei"/>
              </a:rPr>
              <a:t>朝辞白帝彩云间，千里江陵一日还。</a:t>
            </a:r>
          </a:p>
          <a:p>
            <a:pPr algn="l">
              <a:spcAft>
                <a:spcPts val="400"/>
              </a:spcAft>
            </a:pPr>
            <a:r>
              <a:rPr sz="1600" b="0" i="0">
                <a:solidFill>
                  <a:srgbClr val="1A1F2E"/>
                </a:solidFill>
                <a:latin typeface="Microsoft YaHei"/>
                <a:ea typeface="Microsoft YaHei"/>
              </a:rPr>
              <a:t>两岸猿声啼不住，轻舟已过万重山。</a:t>
            </a:r>
          </a:p>
        </p:txBody>
      </p:sp>
      <p:sp>
        <p:nvSpPr>
          <p:cNvPr id="10" name="TextBox 9"/>
          <p:cNvSpPr txBox="1"/>
          <p:nvPr/>
        </p:nvSpPr>
        <p:spPr>
          <a:xfrm>
            <a:off x="6492240" y="1417320"/>
            <a:ext cx="5029200" cy="4389120"/>
          </a:xfrm>
          <a:prstGeom prst="rect">
            <a:avLst/>
          </a:prstGeom>
          <a:noFill/>
        </p:spPr>
        <p:txBody>
          <a:bodyPr wrap="square" anchor="t"/>
          <a:lstStyle/>
          <a:p>
            <a:pPr algn="l">
              <a:spcAft>
                <a:spcPts val="400"/>
              </a:spcAft>
            </a:pPr>
            <a:r>
              <a:rPr sz="1300" b="0" i="0">
                <a:solidFill>
                  <a:srgbClr val="2C3548"/>
                </a:solidFill>
                <a:latin typeface="Microsoft YaHei"/>
                <a:ea typeface="Microsoft YaHei"/>
              </a:rPr>
              <a:t>At dawn I leave Baidi among colored clouds;</a:t>
            </a:r>
          </a:p>
          <a:p>
            <a:pPr algn="l">
              <a:spcAft>
                <a:spcPts val="400"/>
              </a:spcAft>
            </a:pPr>
            <a:r>
              <a:rPr sz="1300" b="0" i="0">
                <a:solidFill>
                  <a:srgbClr val="2C3548"/>
                </a:solidFill>
                <a:latin typeface="Microsoft YaHei"/>
                <a:ea typeface="Microsoft YaHei"/>
              </a:rPr>
              <a:t>A thousand li to Jiangling—back in a single day.</a:t>
            </a:r>
          </a:p>
          <a:p>
            <a:pPr algn="l">
              <a:spcAft>
                <a:spcPts val="400"/>
              </a:spcAft>
            </a:pPr>
            <a:r>
              <a:rPr sz="1300" b="0" i="0">
                <a:solidFill>
                  <a:srgbClr val="2C3548"/>
                </a:solidFill>
                <a:latin typeface="Microsoft YaHei"/>
                <a:ea typeface="Microsoft YaHei"/>
              </a:rPr>
              <a:t>From both banks, gibbons cry without pause;</a:t>
            </a:r>
          </a:p>
          <a:p>
            <a:pPr algn="l">
              <a:spcAft>
                <a:spcPts val="400"/>
              </a:spcAft>
            </a:pPr>
            <a:r>
              <a:rPr sz="1300" b="0" i="0">
                <a:solidFill>
                  <a:srgbClr val="2C3548"/>
                </a:solidFill>
                <a:latin typeface="Microsoft YaHei"/>
                <a:ea typeface="Microsoft YaHei"/>
              </a:rPr>
              <a:t>My light boat has already passed ten thousand folded mountains.</a:t>
            </a:r>
          </a:p>
        </p:txBody>
      </p:sp>
      <p:sp>
        <p:nvSpPr>
          <p:cNvPr id="11" name="TextBox 10"/>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早发白帝城  |  71/83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《早发白帝城》 · 创作背景 Context</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安史之乱后，李白因永王李璘事件获罪，被流放夜郎。行至白帝城（今重庆奉节）附近时遇大赦，遂放舟东下江陵。历经死地而重生，心情无比畅快，于是写下这首千古传诵的七绝。诗中的“快”，既是船行之快，更是心情之快。</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After the An Lushan Rebellion, Li Bai was exiled to Yelang for involvement with Prince Yong. Near Baidi City he received a pardon and raced downriver toward Jiangling. Speed of boat and of relieved spirit fuse in this famous quatrain.</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早发白帝城  |  72/83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《早发白帝城》 · 诗文意义 Meaning</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首句写白帝之高、晨云之丽；次句以“千里”“一日”的时空压缩写江流迅疾；三四句以猿声未绝、轻舟已过的对比，把听觉的绵延与空间的飞跃叠合。全诗明快跳脱，是绝境逢生后的精神解放之歌，也是李白晚年诗风明朗一面的代表。</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Height and colored dawn; then “a thousand li in one day” compresses space-time. Gibbons still cry as the boat has already cleared countless ranges—lingering sound against flashing distance. A song of release after near-ruin.</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早发白帝城  |  73/83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144000" cy="365760"/>
          </a:xfrm>
          <a:prstGeom prst="rect">
            <a:avLst/>
          </a:prstGeom>
          <a:noFill/>
        </p:spPr>
        <p:txBody>
          <a:bodyPr wrap="square" anchor="t"/>
          <a:lstStyle/>
          <a:p>
            <a:pPr algn="l">
              <a:spcAft>
                <a:spcPts val="400"/>
              </a:spcAft>
            </a:pPr>
            <a:r>
              <a:rPr sz="1600" b="1" i="0">
                <a:solidFill>
                  <a:srgbClr val="A67C52"/>
                </a:solidFill>
                <a:latin typeface="Microsoft YaHei"/>
                <a:ea typeface="Microsoft YaHei"/>
              </a:rPr>
              <a:t>第 12 篇  /  Poem 12</a:t>
            </a:r>
          </a:p>
        </p:txBody>
      </p:sp>
      <p:sp>
        <p:nvSpPr>
          <p:cNvPr id="5" name="TextBox 4"/>
          <p:cNvSpPr txBox="1"/>
          <p:nvPr/>
        </p:nvSpPr>
        <p:spPr>
          <a:xfrm>
            <a:off x="1097280" y="2377440"/>
            <a:ext cx="10058400" cy="822960"/>
          </a:xfrm>
          <a:prstGeom prst="rect">
            <a:avLst/>
          </a:prstGeom>
          <a:noFill/>
        </p:spPr>
        <p:txBody>
          <a:bodyPr wrap="square" anchor="t"/>
          <a:lstStyle/>
          <a:p>
            <a:pPr algn="l">
              <a:spcAft>
                <a:spcPts val="400"/>
              </a:spcAft>
            </a:pPr>
            <a:r>
              <a:rPr sz="4000" b="1" i="0">
                <a:solidFill>
                  <a:srgbClr val="FFFFFF"/>
                </a:solidFill>
                <a:latin typeface="Microsoft YaHei"/>
                <a:ea typeface="Microsoft YaHei"/>
              </a:rPr>
              <a:t>《庐山谣寄卢侍御虚舟》</a:t>
            </a:r>
          </a:p>
        </p:txBody>
      </p:sp>
      <p:sp>
        <p:nvSpPr>
          <p:cNvPr id="6" name="TextBox 5"/>
          <p:cNvSpPr txBox="1"/>
          <p:nvPr/>
        </p:nvSpPr>
        <p:spPr>
          <a:xfrm>
            <a:off x="1097280" y="3291840"/>
            <a:ext cx="10058400" cy="457200"/>
          </a:xfrm>
          <a:prstGeom prst="rect">
            <a:avLst/>
          </a:prstGeom>
          <a:noFill/>
        </p:spPr>
        <p:txBody>
          <a:bodyPr wrap="square" anchor="t"/>
          <a:lstStyle/>
          <a:p>
            <a:pPr algn="l">
              <a:spcAft>
                <a:spcPts val="400"/>
              </a:spcAft>
            </a:pPr>
            <a:r>
              <a:rPr sz="2000" b="0" i="1">
                <a:solidFill>
                  <a:srgbClr val="E8E0D0"/>
                </a:solidFill>
                <a:latin typeface="Microsoft YaHei"/>
                <a:ea typeface="Microsoft YaHei"/>
              </a:rPr>
              <a:t>Ballad of Mount Lu, Sent to Censor Lu Xuzhou</a:t>
            </a:r>
          </a:p>
        </p:txBody>
      </p:sp>
      <p:sp>
        <p:nvSpPr>
          <p:cNvPr id="7" name="Rectangle 6"/>
          <p:cNvSpPr/>
          <p:nvPr/>
        </p:nvSpPr>
        <p:spPr>
          <a:xfrm>
            <a:off x="1097280" y="3931920"/>
            <a:ext cx="2011680" cy="54864"/>
          </a:xfrm>
          <a:prstGeom prst="rect">
            <a:avLst/>
          </a:prstGeom>
          <a:solidFill>
            <a:srgbClr val="2A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731520"/>
          </a:xfrm>
          <a:prstGeom prst="rect">
            <a:avLst/>
          </a:prstGeom>
          <a:noFill/>
        </p:spPr>
        <p:txBody>
          <a:bodyPr wrap="square" anchor="t"/>
          <a:lstStyle/>
          <a:p>
            <a:pPr algn="l">
              <a:spcAft>
                <a:spcPts val="400"/>
              </a:spcAft>
            </a:pPr>
            <a:r>
              <a:rPr sz="1400" b="0" i="0">
                <a:solidFill>
                  <a:srgbClr val="F7F3EB"/>
                </a:solidFill>
                <a:latin typeface="Microsoft YaHei"/>
                <a:ea typeface="Microsoft YaHei"/>
              </a:rPr>
              <a:t>杂言歌行 / Irregular song-poem</a:t>
            </a:r>
          </a:p>
          <a:p>
            <a:pPr algn="l">
              <a:spcAft>
                <a:spcPts val="400"/>
              </a:spcAft>
            </a:pPr>
            <a:r>
              <a:rPr sz="1400" b="0" i="0">
                <a:solidFill>
                  <a:srgbClr val="F7F3EB"/>
                </a:solidFill>
                <a:latin typeface="Microsoft YaHei"/>
                <a:ea typeface="Microsoft YaHei"/>
              </a:rPr>
              <a:t>上元元年（760年）左右 · 晚年游庐山时</a:t>
            </a:r>
          </a:p>
          <a:p>
            <a:pPr algn="l">
              <a:spcAft>
                <a:spcPts val="400"/>
              </a:spcAft>
            </a:pPr>
            <a:r>
              <a:rPr sz="1400" b="0" i="0">
                <a:solidFill>
                  <a:srgbClr val="F7F3EB"/>
                </a:solidFill>
                <a:latin typeface="Microsoft YaHei"/>
                <a:ea typeface="Microsoft YaHei"/>
              </a:rPr>
              <a:t>关键词 Keywords：庐山 · 楚狂 · 求仙 · 晚年</a:t>
            </a:r>
          </a:p>
        </p:txBody>
      </p:sp>
      <p:sp>
        <p:nvSpPr>
          <p:cNvPr id="9" name="TextBox 8"/>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庐山谣寄卢侍御虚舟  |  74/83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《庐山谣寄卢侍御虚舟》 · 原文节选 Excerpt</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800" b="0" i="0">
                <a:solidFill>
                  <a:srgbClr val="1A1F2E"/>
                </a:solidFill>
                <a:latin typeface="Microsoft YaHei"/>
                <a:ea typeface="Microsoft YaHei"/>
              </a:rPr>
              <a:t>我本楚狂人，凤歌笑孔丘。</a:t>
            </a:r>
          </a:p>
          <a:p>
            <a:pPr algn="l">
              <a:spcAft>
                <a:spcPts val="400"/>
              </a:spcAft>
            </a:pPr>
            <a:r>
              <a:rPr sz="1800" b="0" i="0">
                <a:solidFill>
                  <a:srgbClr val="1A1F2E"/>
                </a:solidFill>
                <a:latin typeface="Microsoft YaHei"/>
                <a:ea typeface="Microsoft YaHei"/>
              </a:rPr>
              <a:t>手持绿玉杖，朝别黄鹤楼。</a:t>
            </a:r>
          </a:p>
          <a:p>
            <a:pPr algn="l">
              <a:spcAft>
                <a:spcPts val="400"/>
              </a:spcAft>
            </a:pPr>
            <a:r>
              <a:rPr sz="1800" b="0" i="0">
                <a:solidFill>
                  <a:srgbClr val="1A1F2E"/>
                </a:solidFill>
                <a:latin typeface="Microsoft YaHei"/>
                <a:ea typeface="Microsoft YaHei"/>
              </a:rPr>
              <a:t>五岳寻仙不辞远，一生好入名山游。</a:t>
            </a:r>
          </a:p>
          <a:p>
            <a:pPr algn="l">
              <a:spcAft>
                <a:spcPts val="400"/>
              </a:spcAft>
            </a:pPr>
            <a:r>
              <a:rPr sz="1800" b="0" i="0">
                <a:solidFill>
                  <a:srgbClr val="1A1F2E"/>
                </a:solidFill>
                <a:latin typeface="Microsoft YaHei"/>
                <a:ea typeface="Microsoft YaHei"/>
              </a:rPr>
              <a:t>庐山秀出南斗旁，屏风九叠云锦张。</a:t>
            </a:r>
          </a:p>
          <a:p>
            <a:pPr algn="l">
              <a:spcAft>
                <a:spcPts val="400"/>
              </a:spcAft>
            </a:pPr>
            <a:r>
              <a:rPr sz="1800" b="0" i="0">
                <a:solidFill>
                  <a:srgbClr val="1A1F2E"/>
                </a:solidFill>
                <a:latin typeface="Microsoft YaHei"/>
                <a:ea typeface="Microsoft YaHei"/>
              </a:rPr>
              <a:t>……</a:t>
            </a:r>
          </a:p>
          <a:p>
            <a:pPr algn="l">
              <a:spcAft>
                <a:spcPts val="400"/>
              </a:spcAft>
            </a:pPr>
            <a:r>
              <a:rPr sz="1800" b="0" i="0">
                <a:solidFill>
                  <a:srgbClr val="1A1F2E"/>
                </a:solidFill>
                <a:latin typeface="Microsoft YaHei"/>
                <a:ea typeface="Microsoft YaHei"/>
              </a:rPr>
              <a:t>早服还丹无世情，琴心三叠道初成。</a:t>
            </a:r>
          </a:p>
          <a:p>
            <a:pPr algn="l">
              <a:spcAft>
                <a:spcPts val="400"/>
              </a:spcAft>
            </a:pPr>
            <a:r>
              <a:rPr sz="1800" b="0" i="0">
                <a:solidFill>
                  <a:srgbClr val="1A1F2E"/>
                </a:solidFill>
                <a:latin typeface="Microsoft YaHei"/>
                <a:ea typeface="Microsoft YaHei"/>
              </a:rPr>
              <a:t>遥见仙人彩云里，手把芙蓉朝玉京。</a:t>
            </a:r>
          </a:p>
          <a:p>
            <a:pPr algn="l">
              <a:spcAft>
                <a:spcPts val="400"/>
              </a:spcAft>
            </a:pPr>
            <a:r>
              <a:rPr sz="1800" b="0" i="0">
                <a:solidFill>
                  <a:srgbClr val="1A1F2E"/>
                </a:solidFill>
                <a:latin typeface="Microsoft YaHei"/>
                <a:ea typeface="Microsoft YaHei"/>
              </a:rPr>
              <a:t>先期汗漫九垓上，愿接卢敖游太清。</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庐山谣寄卢侍御虚舟  |  75/83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Ballad of Mount Lu, Sent to Censor Lu Xuzhou · 英译节选 Excerpt</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300" b="0" i="0">
                <a:solidFill>
                  <a:srgbClr val="2C3548"/>
                </a:solidFill>
                <a:latin typeface="Microsoft YaHei"/>
                <a:ea typeface="Microsoft YaHei"/>
              </a:rPr>
              <a:t>I am the Madman of Chu,</a:t>
            </a:r>
          </a:p>
          <a:p>
            <a:pPr algn="l">
              <a:spcAft>
                <a:spcPts val="400"/>
              </a:spcAft>
            </a:pPr>
            <a:r>
              <a:rPr sz="1300" b="0" i="0">
                <a:solidFill>
                  <a:srgbClr val="2C3548"/>
                </a:solidFill>
                <a:latin typeface="Microsoft YaHei"/>
                <a:ea typeface="Microsoft YaHei"/>
              </a:rPr>
              <a:t>Singing of the phoenix, laughing at Confucius.</a:t>
            </a:r>
          </a:p>
          <a:p>
            <a:pPr algn="l">
              <a:spcAft>
                <a:spcPts val="400"/>
              </a:spcAft>
            </a:pPr>
            <a:r>
              <a:rPr sz="1300" b="0" i="0">
                <a:solidFill>
                  <a:srgbClr val="2C3548"/>
                </a:solidFill>
                <a:latin typeface="Microsoft YaHei"/>
                <a:ea typeface="Microsoft YaHei"/>
              </a:rPr>
              <a:t>Green jade staff in hand,</a:t>
            </a:r>
          </a:p>
          <a:p>
            <a:pPr algn="l">
              <a:spcAft>
                <a:spcPts val="400"/>
              </a:spcAft>
            </a:pPr>
            <a:r>
              <a:rPr sz="1300" b="0" i="0">
                <a:solidFill>
                  <a:srgbClr val="2C3548"/>
                </a:solidFill>
                <a:latin typeface="Microsoft YaHei"/>
                <a:ea typeface="Microsoft YaHei"/>
              </a:rPr>
              <a:t>At dawn I leave Yellow Crane Tower.</a:t>
            </a:r>
          </a:p>
          <a:p>
            <a:pPr algn="l">
              <a:spcAft>
                <a:spcPts val="400"/>
              </a:spcAft>
            </a:pPr>
            <a:r>
              <a:rPr sz="1300" b="0" i="0">
                <a:solidFill>
                  <a:srgbClr val="2C3548"/>
                </a:solidFill>
                <a:latin typeface="Microsoft YaHei"/>
                <a:ea typeface="Microsoft YaHei"/>
              </a:rPr>
              <a:t>I seek immortals among the Five Peaks, never minding distance;</a:t>
            </a:r>
          </a:p>
          <a:p>
            <a:pPr algn="l">
              <a:spcAft>
                <a:spcPts val="400"/>
              </a:spcAft>
            </a:pPr>
            <a:r>
              <a:rPr sz="1300" b="0" i="0">
                <a:solidFill>
                  <a:srgbClr val="2C3548"/>
                </a:solidFill>
                <a:latin typeface="Microsoft YaHei"/>
                <a:ea typeface="Microsoft YaHei"/>
              </a:rPr>
              <a:t>All my life I love roaming famous mountains.</a:t>
            </a:r>
          </a:p>
          <a:p>
            <a:pPr algn="l">
              <a:spcAft>
                <a:spcPts val="400"/>
              </a:spcAft>
            </a:pPr>
            <a:r>
              <a:rPr sz="1300" b="0" i="0">
                <a:solidFill>
                  <a:srgbClr val="2C3548"/>
                </a:solidFill>
                <a:latin typeface="Microsoft YaHei"/>
                <a:ea typeface="Microsoft YaHei"/>
              </a:rPr>
              <a:t>Mount Lu rises fine beside the Southern Dipper;</a:t>
            </a:r>
          </a:p>
          <a:p>
            <a:pPr algn="l">
              <a:spcAft>
                <a:spcPts val="400"/>
              </a:spcAft>
            </a:pPr>
            <a:r>
              <a:rPr sz="1300" b="0" i="0">
                <a:solidFill>
                  <a:srgbClr val="2C3548"/>
                </a:solidFill>
                <a:latin typeface="Microsoft YaHei"/>
                <a:ea typeface="Microsoft YaHei"/>
              </a:rPr>
              <a:t>Nine-fold screen cliffs unfurl like brocade clouds.</a:t>
            </a:r>
          </a:p>
          <a:p>
            <a:pPr algn="l">
              <a:spcAft>
                <a:spcPts val="400"/>
              </a:spcAft>
            </a:pPr>
            <a:r>
              <a:rPr sz="1300" b="0" i="0">
                <a:solidFill>
                  <a:srgbClr val="2C3548"/>
                </a:solidFill>
                <a:latin typeface="Microsoft YaHei"/>
                <a:ea typeface="Microsoft YaHei"/>
              </a:rPr>
              <a:t>…</a:t>
            </a:r>
          </a:p>
          <a:p>
            <a:pPr algn="l">
              <a:spcAft>
                <a:spcPts val="400"/>
              </a:spcAft>
            </a:pPr>
            <a:r>
              <a:rPr sz="1300" b="0" i="0">
                <a:solidFill>
                  <a:srgbClr val="2C3548"/>
                </a:solidFill>
                <a:latin typeface="Microsoft YaHei"/>
                <a:ea typeface="Microsoft YaHei"/>
              </a:rPr>
              <a:t>Early I take the returned elixir, free of worldly feeling;</a:t>
            </a:r>
          </a:p>
          <a:p>
            <a:pPr algn="l">
              <a:spcAft>
                <a:spcPts val="400"/>
              </a:spcAft>
            </a:pPr>
            <a:r>
              <a:rPr sz="1300" b="0" i="0">
                <a:solidFill>
                  <a:srgbClr val="2C3548"/>
                </a:solidFill>
                <a:latin typeface="Microsoft YaHei"/>
                <a:ea typeface="Microsoft YaHei"/>
              </a:rPr>
              <a:t>With triple-layered qin-heart, the Way begins to form.</a:t>
            </a:r>
          </a:p>
          <a:p>
            <a:pPr algn="l">
              <a:spcAft>
                <a:spcPts val="400"/>
              </a:spcAft>
            </a:pPr>
            <a:r>
              <a:rPr sz="1300" b="0" i="0">
                <a:solidFill>
                  <a:srgbClr val="2C3548"/>
                </a:solidFill>
                <a:latin typeface="Microsoft YaHei"/>
                <a:ea typeface="Microsoft YaHei"/>
              </a:rPr>
              <a:t>Far off I see immortals in colored clouds,</a:t>
            </a:r>
          </a:p>
          <a:p>
            <a:pPr algn="l">
              <a:spcAft>
                <a:spcPts val="400"/>
              </a:spcAft>
            </a:pPr>
            <a:r>
              <a:rPr sz="1300" b="0" i="0">
                <a:solidFill>
                  <a:srgbClr val="2C3548"/>
                </a:solidFill>
                <a:latin typeface="Microsoft YaHei"/>
                <a:ea typeface="Microsoft YaHei"/>
              </a:rPr>
              <a:t>Lotus in hand, toward the Jade Capital.</a:t>
            </a:r>
          </a:p>
          <a:p>
            <a:pPr algn="l">
              <a:spcAft>
                <a:spcPts val="400"/>
              </a:spcAft>
            </a:pPr>
            <a:r>
              <a:rPr sz="1300" b="0" i="0">
                <a:solidFill>
                  <a:srgbClr val="2C3548"/>
                </a:solidFill>
                <a:latin typeface="Microsoft YaHei"/>
                <a:ea typeface="Microsoft YaHei"/>
              </a:rPr>
              <a:t>I have an appointment with the Boundless above the Nine Regions;</a:t>
            </a:r>
          </a:p>
          <a:p>
            <a:pPr algn="l">
              <a:spcAft>
                <a:spcPts val="400"/>
              </a:spcAft>
            </a:pPr>
            <a:r>
              <a:rPr sz="1300" b="0" i="0">
                <a:solidFill>
                  <a:srgbClr val="2C3548"/>
                </a:solidFill>
                <a:latin typeface="Microsoft YaHei"/>
                <a:ea typeface="Microsoft YaHei"/>
              </a:rPr>
              <a:t>I wish to meet Lu Ao and roam the Great Purity.</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庐山谣寄卢侍御虚舟  |  76/83</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《庐山谣寄卢侍御虚舟》 · 全文原文 Full Chinese</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800" b="0" i="0">
                <a:solidFill>
                  <a:srgbClr val="1A1F2E"/>
                </a:solidFill>
                <a:latin typeface="Microsoft YaHei"/>
                <a:ea typeface="Microsoft YaHei"/>
              </a:rPr>
              <a:t>我本楚狂人，凤歌笑孔丘。手持绿玉杖，朝别黄鹤楼。</a:t>
            </a:r>
          </a:p>
          <a:p>
            <a:pPr algn="l">
              <a:spcAft>
                <a:spcPts val="400"/>
              </a:spcAft>
            </a:pPr>
            <a:r>
              <a:rPr sz="1800" b="0" i="0">
                <a:solidFill>
                  <a:srgbClr val="1A1F2E"/>
                </a:solidFill>
                <a:latin typeface="Microsoft YaHei"/>
                <a:ea typeface="Microsoft YaHei"/>
              </a:rPr>
              <a:t>五岳寻仙不辞远，一生好入名山游。庐山秀出南斗旁，屏风九叠云锦张。</a:t>
            </a:r>
          </a:p>
          <a:p>
            <a:pPr algn="l">
              <a:spcAft>
                <a:spcPts val="400"/>
              </a:spcAft>
            </a:pPr>
            <a:r>
              <a:rPr sz="1800" b="0" i="0">
                <a:solidFill>
                  <a:srgbClr val="1A1F2E"/>
                </a:solidFill>
                <a:latin typeface="Microsoft YaHei"/>
                <a:ea typeface="Microsoft YaHei"/>
              </a:rPr>
              <a:t>影落明湖青黛光，金阙前开二峰长，银河倒挂三石梁。</a:t>
            </a:r>
          </a:p>
          <a:p>
            <a:pPr algn="l">
              <a:spcAft>
                <a:spcPts val="400"/>
              </a:spcAft>
            </a:pPr>
            <a:r>
              <a:rPr sz="1800" b="0" i="0">
                <a:solidFill>
                  <a:srgbClr val="1A1F2E"/>
                </a:solidFill>
                <a:latin typeface="Microsoft YaHei"/>
                <a:ea typeface="Microsoft YaHei"/>
              </a:rPr>
              <a:t>香炉瀑布遥相望，回崖沓嶂凌苍苍。翠影红霞映朝日，鸟飞不到吴天长。</a:t>
            </a:r>
          </a:p>
          <a:p>
            <a:pPr algn="l">
              <a:spcAft>
                <a:spcPts val="400"/>
              </a:spcAft>
            </a:pPr>
            <a:r>
              <a:rPr sz="1800" b="0" i="0">
                <a:solidFill>
                  <a:srgbClr val="1A1F2E"/>
                </a:solidFill>
                <a:latin typeface="Microsoft YaHei"/>
                <a:ea typeface="Microsoft YaHei"/>
              </a:rPr>
              <a:t>登高壮观天地间，大江茫茫去不还。黄云万里动风色，白波九道流雪山。</a:t>
            </a:r>
          </a:p>
          <a:p>
            <a:pPr algn="l">
              <a:spcAft>
                <a:spcPts val="400"/>
              </a:spcAft>
            </a:pPr>
            <a:r>
              <a:rPr sz="1800" b="0" i="0">
                <a:solidFill>
                  <a:srgbClr val="1A1F2E"/>
                </a:solidFill>
                <a:latin typeface="Microsoft YaHei"/>
                <a:ea typeface="Microsoft YaHei"/>
              </a:rPr>
              <a:t>好为庐山谣，兴因庐山发。闲窥石镜清我心，谢公行处苍苔没。</a:t>
            </a:r>
          </a:p>
          <a:p>
            <a:pPr algn="l">
              <a:spcAft>
                <a:spcPts val="400"/>
              </a:spcAft>
            </a:pPr>
            <a:r>
              <a:rPr sz="1800" b="0" i="0">
                <a:solidFill>
                  <a:srgbClr val="1A1F2E"/>
                </a:solidFill>
                <a:latin typeface="Microsoft YaHei"/>
                <a:ea typeface="Microsoft YaHei"/>
              </a:rPr>
              <a:t>早服还丹无世情，琴心三叠道初成。遥见仙人彩云里，手把芙蓉朝玉京。</a:t>
            </a:r>
          </a:p>
          <a:p>
            <a:pPr algn="l">
              <a:spcAft>
                <a:spcPts val="400"/>
              </a:spcAft>
            </a:pPr>
            <a:r>
              <a:rPr sz="1800" b="0" i="0">
                <a:solidFill>
                  <a:srgbClr val="1A1F2E"/>
                </a:solidFill>
                <a:latin typeface="Microsoft YaHei"/>
                <a:ea typeface="Microsoft YaHei"/>
              </a:rPr>
              <a:t>先期汗漫九垓上，愿接卢敖游太清。</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庐山谣寄卢侍御虚舟  |  77/83</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Ballad of Mount Lu, Sent to Censor Lu Xuzhou · 全文英译 Full English</a:t>
            </a:r>
          </a:p>
        </p:txBody>
      </p:sp>
      <p:sp>
        <p:nvSpPr>
          <p:cNvPr id="5" name="TextBox 4"/>
          <p:cNvSpPr txBox="1"/>
          <p:nvPr/>
        </p:nvSpPr>
        <p:spPr>
          <a:xfrm>
            <a:off x="640080" y="1005840"/>
            <a:ext cx="10972800" cy="5120640"/>
          </a:xfrm>
          <a:prstGeom prst="rect">
            <a:avLst/>
          </a:prstGeom>
          <a:noFill/>
        </p:spPr>
        <p:txBody>
          <a:bodyPr wrap="square" anchor="t"/>
          <a:lstStyle/>
          <a:p>
            <a:pPr algn="l">
              <a:spcAft>
                <a:spcPts val="400"/>
              </a:spcAft>
            </a:pPr>
            <a:r>
              <a:rPr sz="1600" b="0" i="0">
                <a:solidFill>
                  <a:srgbClr val="2C3548"/>
                </a:solidFill>
                <a:latin typeface="Microsoft YaHei"/>
                <a:ea typeface="Microsoft YaHei"/>
              </a:rPr>
              <a:t>I am the Madman of Chu, singing of the phoenix, laughing at Confucius. Green jade staff in hand, at dawn I leave Yellow Crane Tower.</a:t>
            </a:r>
          </a:p>
          <a:p>
            <a:pPr algn="l">
              <a:spcAft>
                <a:spcPts val="400"/>
              </a:spcAft>
            </a:pPr>
            <a:r>
              <a:rPr sz="1600" b="0" i="0">
                <a:solidFill>
                  <a:srgbClr val="2C3548"/>
                </a:solidFill>
                <a:latin typeface="Microsoft YaHei"/>
                <a:ea typeface="Microsoft YaHei"/>
              </a:rPr>
              <a:t>I seek immortals among the Five Peaks, never minding distance; all my life I love roaming famous mountains. Mount Lu rises fine beside the Southern Dipper; nine-fold screen cliffs unfurl like brocade clouds.</a:t>
            </a:r>
          </a:p>
          <a:p>
            <a:pPr algn="l">
              <a:spcAft>
                <a:spcPts val="400"/>
              </a:spcAft>
            </a:pPr>
            <a:r>
              <a:rPr sz="1600" b="0" i="0">
                <a:solidFill>
                  <a:srgbClr val="2C3548"/>
                </a:solidFill>
                <a:latin typeface="Microsoft YaHei"/>
                <a:ea typeface="Microsoft YaHei"/>
              </a:rPr>
              <a:t>Shadows fall on the bright lake in blue-black light; golden towers open before twin long peaks; the Milky Way hangs inverted on Three Stone Bridges.</a:t>
            </a:r>
          </a:p>
          <a:p>
            <a:pPr algn="l">
              <a:spcAft>
                <a:spcPts val="400"/>
              </a:spcAft>
            </a:pPr>
            <a:r>
              <a:rPr sz="1600" b="0" i="0">
                <a:solidFill>
                  <a:srgbClr val="2C3548"/>
                </a:solidFill>
                <a:latin typeface="Microsoft YaHei"/>
                <a:ea typeface="Microsoft YaHei"/>
              </a:rPr>
              <a:t>Incense Burner Falls face each other afar; circling cliffs and layered ridges pierce the gray-blue. Green shadows and red mist mirror the morning sun; birds cannot reach the long Wu sky.</a:t>
            </a:r>
          </a:p>
          <a:p>
            <a:pPr algn="l">
              <a:spcAft>
                <a:spcPts val="400"/>
              </a:spcAft>
            </a:pPr>
            <a:r>
              <a:rPr sz="1600" b="0" i="0">
                <a:solidFill>
                  <a:srgbClr val="2C3548"/>
                </a:solidFill>
                <a:latin typeface="Microsoft YaHei"/>
                <a:ea typeface="Microsoft YaHei"/>
              </a:rPr>
              <a:t>Climbing high, I survey heaven and earth: the Great River rolls away and does not return. Yellow clouds for ten thousand li stir the wind’s color; white waves in nine channels flow like snowy mountains.</a:t>
            </a:r>
          </a:p>
          <a:p>
            <a:pPr algn="l">
              <a:spcAft>
                <a:spcPts val="400"/>
              </a:spcAft>
            </a:pPr>
            <a:r>
              <a:rPr sz="1600" b="0" i="0">
                <a:solidFill>
                  <a:srgbClr val="2C3548"/>
                </a:solidFill>
                <a:latin typeface="Microsoft YaHei"/>
                <a:ea typeface="Microsoft YaHei"/>
              </a:rPr>
              <a:t>Gladly I make a ballad of Lu; inspiration rises from Lu. Idly I peer into the Stone Mirror and clear my heart; where Xie once walked, green moss has buried the path.</a:t>
            </a:r>
          </a:p>
          <a:p>
            <a:pPr algn="l">
              <a:spcAft>
                <a:spcPts val="400"/>
              </a:spcAft>
            </a:pPr>
            <a:r>
              <a:rPr sz="1600" b="0" i="0">
                <a:solidFill>
                  <a:srgbClr val="2C3548"/>
                </a:solidFill>
                <a:latin typeface="Microsoft YaHei"/>
                <a:ea typeface="Microsoft YaHei"/>
              </a:rPr>
              <a:t>Early I take the returned elixir, free of worldly feeling; with triple-layered qin-heart, the Way begins to form. Far off I see immortals in colored clouds, lotus in hand, toward the Jade Capital.</a:t>
            </a:r>
          </a:p>
          <a:p>
            <a:pPr algn="l">
              <a:spcAft>
                <a:spcPts val="400"/>
              </a:spcAft>
            </a:pPr>
            <a:r>
              <a:rPr sz="1600" b="0" i="0">
                <a:solidFill>
                  <a:srgbClr val="2C3548"/>
                </a:solidFill>
                <a:latin typeface="Microsoft YaHei"/>
                <a:ea typeface="Microsoft YaHei"/>
              </a:rPr>
              <a:t>I have an appointment with the Boundless above the Nine Regions; I wish to meet Lu Ao and roam the Great Purity.</a:t>
            </a:r>
          </a:p>
        </p:txBody>
      </p:sp>
      <p:sp>
        <p:nvSpPr>
          <p:cNvPr id="6" name="TextBox 5"/>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庐山谣寄卢侍御虚舟  |  78/83</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《庐山谣寄卢侍御虚舟》 · 创作背景 Context</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李白晚年遇赦后继续漫游，上元前后登庐山，将此谣寄给侍御史卢虚舟。诗中自称“楚狂人”，用陆通凤歌笑孔子的典故，表明疏离礼法、追求自由与求仙的态度。庐山的屏风叠、香炉瀑布、石镜等实景与游仙想象交织，是晚年精神世界的集中呈现。</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In late life, after pardon, Li Bai climbed Mount Lu and sent this ballad to Censor Lu Xuzhou. Calling himself the “Madman of Chu,” he invokes the phoenix-song that mocked Confucius—freedom and immortality over ritual. Real Lu scenery blends with Daoist vision.</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庐山谣寄卢侍御虚舟  |  79/83</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《庐山谣寄卢侍御虚舟》 · 诗文意义 Meaning</a:t>
            </a:r>
          </a:p>
        </p:txBody>
      </p:sp>
      <p:sp>
        <p:nvSpPr>
          <p:cNvPr id="5" name="Rectangle 4"/>
          <p:cNvSpPr/>
          <p:nvPr/>
        </p:nvSpPr>
        <p:spPr>
          <a:xfrm>
            <a:off x="548640" y="914400"/>
            <a:ext cx="1371600" cy="457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2377440"/>
          </a:xfrm>
          <a:prstGeom prst="rect">
            <a:avLst/>
          </a:prstGeom>
          <a:noFill/>
        </p:spPr>
        <p:txBody>
          <a:bodyPr wrap="square" anchor="t"/>
          <a:lstStyle/>
          <a:p>
            <a:pPr algn="l">
              <a:spcAft>
                <a:spcPts val="400"/>
              </a:spcAft>
            </a:pPr>
            <a:r>
              <a:rPr sz="1500" b="0" i="0">
                <a:solidFill>
                  <a:srgbClr val="1A1F2E"/>
                </a:solidFill>
                <a:latin typeface="Microsoft YaHei"/>
                <a:ea typeface="Microsoft YaHei"/>
              </a:rPr>
              <a:t>开篇即以狂者自居，奠定傲视权贵与礼教的基调；中间以浓墨重彩铺写庐山壮观，“登高壮观天地间”一节气象万千；结尾转入服丹求仙、愿接卢敖游太清，把对友人的寄赠升为同游仙境的邀约。山水之美、人格之狂、仙道之思三者合一，是李白晚年的精神自画像。</a:t>
            </a:r>
          </a:p>
        </p:txBody>
      </p:sp>
      <p:sp>
        <p:nvSpPr>
          <p:cNvPr id="7" name="TextBox 6"/>
          <p:cNvSpPr txBox="1"/>
          <p:nvPr/>
        </p:nvSpPr>
        <p:spPr>
          <a:xfrm>
            <a:off x="548640" y="3657600"/>
            <a:ext cx="11064240" cy="2377440"/>
          </a:xfrm>
          <a:prstGeom prst="rect">
            <a:avLst/>
          </a:prstGeom>
          <a:noFill/>
        </p:spPr>
        <p:txBody>
          <a:bodyPr wrap="square" anchor="t"/>
          <a:lstStyle/>
          <a:p>
            <a:pPr algn="l">
              <a:spcAft>
                <a:spcPts val="400"/>
              </a:spcAft>
            </a:pPr>
            <a:r>
              <a:rPr sz="1300" b="0" i="1">
                <a:solidFill>
                  <a:srgbClr val="2C3548"/>
                </a:solidFill>
                <a:latin typeface="Microsoft YaHei"/>
                <a:ea typeface="Microsoft YaHei"/>
              </a:rPr>
              <a:t>The madman persona rejects rigid orthodoxy; the middle paints Lu’s grandeur—“survey heaven and earth”—in sweeping strokes; the close invites Lu Xuzhou into a Daoist ascent. Landscape, defiance, and immortality form Li Bai’s late self-portrait.</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庐山谣寄卢侍御虚舟  |  80/83</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创作年表略图 · Approximate Timeline</a:t>
            </a:r>
          </a:p>
        </p:txBody>
      </p:sp>
      <p:sp>
        <p:nvSpPr>
          <p:cNvPr id="5" name="Rectangle 4"/>
          <p:cNvSpPr/>
          <p:nvPr/>
        </p:nvSpPr>
        <p:spPr>
          <a:xfrm>
            <a:off x="548640" y="1005840"/>
            <a:ext cx="1645920" cy="5029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78992"/>
            <a:ext cx="1554480" cy="365760"/>
          </a:xfrm>
          <a:prstGeom prst="rect">
            <a:avLst/>
          </a:prstGeom>
          <a:noFill/>
        </p:spPr>
        <p:txBody>
          <a:bodyPr wrap="square" anchor="t"/>
          <a:lstStyle/>
          <a:p>
            <a:pPr algn="ctr">
              <a:spcAft>
                <a:spcPts val="400"/>
              </a:spcAft>
            </a:pPr>
            <a:r>
              <a:rPr sz="1200" b="1" i="0">
                <a:solidFill>
                  <a:srgbClr val="FFFFFF"/>
                </a:solidFill>
                <a:latin typeface="Microsoft YaHei"/>
                <a:ea typeface="Microsoft YaHei"/>
              </a:rPr>
              <a:t>约725</a:t>
            </a:r>
          </a:p>
        </p:txBody>
      </p:sp>
      <p:sp>
        <p:nvSpPr>
          <p:cNvPr id="7" name="TextBox 6"/>
          <p:cNvSpPr txBox="1"/>
          <p:nvPr/>
        </p:nvSpPr>
        <p:spPr>
          <a:xfrm>
            <a:off x="2377440" y="1024128"/>
            <a:ext cx="6400800" cy="274320"/>
          </a:xfrm>
          <a:prstGeom prst="rect">
            <a:avLst/>
          </a:prstGeom>
          <a:noFill/>
        </p:spPr>
        <p:txBody>
          <a:bodyPr wrap="square" anchor="t"/>
          <a:lstStyle/>
          <a:p>
            <a:pPr algn="l">
              <a:spcAft>
                <a:spcPts val="400"/>
              </a:spcAft>
            </a:pPr>
            <a:r>
              <a:rPr sz="1400" b="1" i="0">
                <a:solidFill>
                  <a:srgbClr val="1A1F2E"/>
                </a:solidFill>
                <a:latin typeface="Microsoft YaHei"/>
                <a:ea typeface="Microsoft YaHei"/>
              </a:rPr>
              <a:t>峨眉山月歌</a:t>
            </a:r>
          </a:p>
        </p:txBody>
      </p:sp>
      <p:sp>
        <p:nvSpPr>
          <p:cNvPr id="8" name="TextBox 7"/>
          <p:cNvSpPr txBox="1"/>
          <p:nvPr/>
        </p:nvSpPr>
        <p:spPr>
          <a:xfrm>
            <a:off x="2377440" y="1261872"/>
            <a:ext cx="6400800" cy="22860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出蜀之初</a:t>
            </a:r>
          </a:p>
        </p:txBody>
      </p:sp>
      <p:sp>
        <p:nvSpPr>
          <p:cNvPr id="9" name="Rectangle 8"/>
          <p:cNvSpPr/>
          <p:nvPr/>
        </p:nvSpPr>
        <p:spPr>
          <a:xfrm>
            <a:off x="548640" y="1645920"/>
            <a:ext cx="1645920" cy="5029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719072"/>
            <a:ext cx="1554480" cy="365760"/>
          </a:xfrm>
          <a:prstGeom prst="rect">
            <a:avLst/>
          </a:prstGeom>
          <a:noFill/>
        </p:spPr>
        <p:txBody>
          <a:bodyPr wrap="square" anchor="t"/>
          <a:lstStyle/>
          <a:p>
            <a:pPr algn="ctr">
              <a:spcAft>
                <a:spcPts val="400"/>
              </a:spcAft>
            </a:pPr>
            <a:r>
              <a:rPr sz="1200" b="1" i="0">
                <a:solidFill>
                  <a:srgbClr val="FFFFFF"/>
                </a:solidFill>
                <a:latin typeface="Microsoft YaHei"/>
                <a:ea typeface="Microsoft YaHei"/>
              </a:rPr>
              <a:t>约726</a:t>
            </a:r>
          </a:p>
        </p:txBody>
      </p:sp>
      <p:sp>
        <p:nvSpPr>
          <p:cNvPr id="11" name="TextBox 10"/>
          <p:cNvSpPr txBox="1"/>
          <p:nvPr/>
        </p:nvSpPr>
        <p:spPr>
          <a:xfrm>
            <a:off x="2377440" y="1664208"/>
            <a:ext cx="6400800" cy="274320"/>
          </a:xfrm>
          <a:prstGeom prst="rect">
            <a:avLst/>
          </a:prstGeom>
          <a:noFill/>
        </p:spPr>
        <p:txBody>
          <a:bodyPr wrap="square" anchor="t"/>
          <a:lstStyle/>
          <a:p>
            <a:pPr algn="l">
              <a:spcAft>
                <a:spcPts val="400"/>
              </a:spcAft>
            </a:pPr>
            <a:r>
              <a:rPr sz="1400" b="1" i="0">
                <a:solidFill>
                  <a:srgbClr val="1A1F2E"/>
                </a:solidFill>
                <a:latin typeface="Microsoft YaHei"/>
                <a:ea typeface="Microsoft YaHei"/>
              </a:rPr>
              <a:t>渡荆门送别 / 金陵酒肆留别</a:t>
            </a:r>
          </a:p>
        </p:txBody>
      </p:sp>
      <p:sp>
        <p:nvSpPr>
          <p:cNvPr id="12" name="TextBox 11"/>
          <p:cNvSpPr txBox="1"/>
          <p:nvPr/>
        </p:nvSpPr>
        <p:spPr>
          <a:xfrm>
            <a:off x="2377440" y="1901952"/>
            <a:ext cx="6400800" cy="22860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东游楚吴</a:t>
            </a:r>
          </a:p>
        </p:txBody>
      </p:sp>
      <p:sp>
        <p:nvSpPr>
          <p:cNvPr id="13" name="Rectangle 12"/>
          <p:cNvSpPr/>
          <p:nvPr/>
        </p:nvSpPr>
        <p:spPr>
          <a:xfrm>
            <a:off x="548640" y="2286000"/>
            <a:ext cx="1645920" cy="5029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359152"/>
            <a:ext cx="1554480" cy="365760"/>
          </a:xfrm>
          <a:prstGeom prst="rect">
            <a:avLst/>
          </a:prstGeom>
          <a:noFill/>
        </p:spPr>
        <p:txBody>
          <a:bodyPr wrap="square" anchor="t"/>
          <a:lstStyle/>
          <a:p>
            <a:pPr algn="ctr">
              <a:spcAft>
                <a:spcPts val="400"/>
              </a:spcAft>
            </a:pPr>
            <a:r>
              <a:rPr sz="1200" b="1" i="0">
                <a:solidFill>
                  <a:srgbClr val="FFFFFF"/>
                </a:solidFill>
                <a:latin typeface="Microsoft YaHei"/>
                <a:ea typeface="Microsoft YaHei"/>
              </a:rPr>
              <a:t>开天之际</a:t>
            </a:r>
          </a:p>
        </p:txBody>
      </p:sp>
      <p:sp>
        <p:nvSpPr>
          <p:cNvPr id="15" name="TextBox 14"/>
          <p:cNvSpPr txBox="1"/>
          <p:nvPr/>
        </p:nvSpPr>
        <p:spPr>
          <a:xfrm>
            <a:off x="2377440" y="2304288"/>
            <a:ext cx="6400800" cy="274320"/>
          </a:xfrm>
          <a:prstGeom prst="rect">
            <a:avLst/>
          </a:prstGeom>
          <a:noFill/>
        </p:spPr>
        <p:txBody>
          <a:bodyPr wrap="square" anchor="t"/>
          <a:lstStyle/>
          <a:p>
            <a:pPr algn="l">
              <a:spcAft>
                <a:spcPts val="400"/>
              </a:spcAft>
            </a:pPr>
            <a:r>
              <a:rPr sz="1400" b="1" i="0">
                <a:solidFill>
                  <a:srgbClr val="1A1F2E"/>
                </a:solidFill>
                <a:latin typeface="Microsoft YaHei"/>
                <a:ea typeface="Microsoft YaHei"/>
              </a:rPr>
              <a:t>长干行 / 蜀道难</a:t>
            </a:r>
          </a:p>
        </p:txBody>
      </p:sp>
      <p:sp>
        <p:nvSpPr>
          <p:cNvPr id="16" name="TextBox 15"/>
          <p:cNvSpPr txBox="1"/>
          <p:nvPr/>
        </p:nvSpPr>
        <p:spPr>
          <a:xfrm>
            <a:off x="2377440" y="2542032"/>
            <a:ext cx="6400800" cy="22860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漫游与乐府高峰</a:t>
            </a:r>
          </a:p>
        </p:txBody>
      </p:sp>
      <p:sp>
        <p:nvSpPr>
          <p:cNvPr id="17" name="Rectangle 16"/>
          <p:cNvSpPr/>
          <p:nvPr/>
        </p:nvSpPr>
        <p:spPr>
          <a:xfrm>
            <a:off x="548640" y="2926080"/>
            <a:ext cx="1645920" cy="5029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999232"/>
            <a:ext cx="1554480" cy="365760"/>
          </a:xfrm>
          <a:prstGeom prst="rect">
            <a:avLst/>
          </a:prstGeom>
          <a:noFill/>
        </p:spPr>
        <p:txBody>
          <a:bodyPr wrap="square" anchor="t"/>
          <a:lstStyle/>
          <a:p>
            <a:pPr algn="ctr">
              <a:spcAft>
                <a:spcPts val="400"/>
              </a:spcAft>
            </a:pPr>
            <a:r>
              <a:rPr sz="1200" b="1" i="0">
                <a:solidFill>
                  <a:srgbClr val="FFFFFF"/>
                </a:solidFill>
                <a:latin typeface="Microsoft YaHei"/>
                <a:ea typeface="Microsoft YaHei"/>
              </a:rPr>
              <a:t>约743</a:t>
            </a:r>
          </a:p>
        </p:txBody>
      </p:sp>
      <p:sp>
        <p:nvSpPr>
          <p:cNvPr id="19" name="TextBox 18"/>
          <p:cNvSpPr txBox="1"/>
          <p:nvPr/>
        </p:nvSpPr>
        <p:spPr>
          <a:xfrm>
            <a:off x="2377440" y="2944368"/>
            <a:ext cx="6400800" cy="274320"/>
          </a:xfrm>
          <a:prstGeom prst="rect">
            <a:avLst/>
          </a:prstGeom>
          <a:noFill/>
        </p:spPr>
        <p:txBody>
          <a:bodyPr wrap="square" anchor="t"/>
          <a:lstStyle/>
          <a:p>
            <a:pPr algn="l">
              <a:spcAft>
                <a:spcPts val="400"/>
              </a:spcAft>
            </a:pPr>
            <a:r>
              <a:rPr sz="1400" b="1" i="0">
                <a:solidFill>
                  <a:srgbClr val="1A1F2E"/>
                </a:solidFill>
                <a:latin typeface="Microsoft YaHei"/>
                <a:ea typeface="Microsoft YaHei"/>
              </a:rPr>
              <a:t>清平调</a:t>
            </a:r>
          </a:p>
        </p:txBody>
      </p:sp>
      <p:sp>
        <p:nvSpPr>
          <p:cNvPr id="20" name="TextBox 19"/>
          <p:cNvSpPr txBox="1"/>
          <p:nvPr/>
        </p:nvSpPr>
        <p:spPr>
          <a:xfrm>
            <a:off x="2377440" y="3182112"/>
            <a:ext cx="6400800" cy="22860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翰林供奉</a:t>
            </a:r>
          </a:p>
        </p:txBody>
      </p:sp>
      <p:sp>
        <p:nvSpPr>
          <p:cNvPr id="21" name="Rectangle 20"/>
          <p:cNvSpPr/>
          <p:nvPr/>
        </p:nvSpPr>
        <p:spPr>
          <a:xfrm>
            <a:off x="548640" y="3566160"/>
            <a:ext cx="1645920" cy="5029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3639312"/>
            <a:ext cx="1554480" cy="365760"/>
          </a:xfrm>
          <a:prstGeom prst="rect">
            <a:avLst/>
          </a:prstGeom>
          <a:noFill/>
        </p:spPr>
        <p:txBody>
          <a:bodyPr wrap="square" anchor="t"/>
          <a:lstStyle/>
          <a:p>
            <a:pPr algn="ctr">
              <a:spcAft>
                <a:spcPts val="400"/>
              </a:spcAft>
            </a:pPr>
            <a:r>
              <a:rPr sz="1200" b="1" i="0">
                <a:solidFill>
                  <a:srgbClr val="FFFFFF"/>
                </a:solidFill>
                <a:latin typeface="Microsoft YaHei"/>
                <a:ea typeface="Microsoft YaHei"/>
              </a:rPr>
              <a:t>约744</a:t>
            </a:r>
          </a:p>
        </p:txBody>
      </p:sp>
      <p:sp>
        <p:nvSpPr>
          <p:cNvPr id="23" name="TextBox 22"/>
          <p:cNvSpPr txBox="1"/>
          <p:nvPr/>
        </p:nvSpPr>
        <p:spPr>
          <a:xfrm>
            <a:off x="2377440" y="3584448"/>
            <a:ext cx="6400800" cy="274320"/>
          </a:xfrm>
          <a:prstGeom prst="rect">
            <a:avLst/>
          </a:prstGeom>
          <a:noFill/>
        </p:spPr>
        <p:txBody>
          <a:bodyPr wrap="square" anchor="t"/>
          <a:lstStyle/>
          <a:p>
            <a:pPr algn="l">
              <a:spcAft>
                <a:spcPts val="400"/>
              </a:spcAft>
            </a:pPr>
            <a:r>
              <a:rPr sz="1400" b="1" i="0">
                <a:solidFill>
                  <a:srgbClr val="1A1F2E"/>
                </a:solidFill>
                <a:latin typeface="Microsoft YaHei"/>
                <a:ea typeface="Microsoft YaHei"/>
              </a:rPr>
              <a:t>行路难 / 长相思</a:t>
            </a:r>
          </a:p>
        </p:txBody>
      </p:sp>
      <p:sp>
        <p:nvSpPr>
          <p:cNvPr id="24" name="TextBox 23"/>
          <p:cNvSpPr txBox="1"/>
          <p:nvPr/>
        </p:nvSpPr>
        <p:spPr>
          <a:xfrm>
            <a:off x="2377440" y="3822192"/>
            <a:ext cx="6400800" cy="22860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赐金放还前后</a:t>
            </a:r>
          </a:p>
        </p:txBody>
      </p:sp>
      <p:sp>
        <p:nvSpPr>
          <p:cNvPr id="25" name="Rectangle 24"/>
          <p:cNvSpPr/>
          <p:nvPr/>
        </p:nvSpPr>
        <p:spPr>
          <a:xfrm>
            <a:off x="548640" y="4206240"/>
            <a:ext cx="1645920" cy="5029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279392"/>
            <a:ext cx="1554480" cy="365760"/>
          </a:xfrm>
          <a:prstGeom prst="rect">
            <a:avLst/>
          </a:prstGeom>
          <a:noFill/>
        </p:spPr>
        <p:txBody>
          <a:bodyPr wrap="square" anchor="t"/>
          <a:lstStyle/>
          <a:p>
            <a:pPr algn="ctr">
              <a:spcAft>
                <a:spcPts val="400"/>
              </a:spcAft>
            </a:pPr>
            <a:r>
              <a:rPr sz="1200" b="1" i="0">
                <a:solidFill>
                  <a:srgbClr val="FFFFFF"/>
                </a:solidFill>
                <a:latin typeface="Microsoft YaHei"/>
                <a:ea typeface="Microsoft YaHei"/>
              </a:rPr>
              <a:t>745</a:t>
            </a:r>
          </a:p>
        </p:txBody>
      </p:sp>
      <p:sp>
        <p:nvSpPr>
          <p:cNvPr id="27" name="TextBox 26"/>
          <p:cNvSpPr txBox="1"/>
          <p:nvPr/>
        </p:nvSpPr>
        <p:spPr>
          <a:xfrm>
            <a:off x="2377440" y="4224528"/>
            <a:ext cx="6400800" cy="274320"/>
          </a:xfrm>
          <a:prstGeom prst="rect">
            <a:avLst/>
          </a:prstGeom>
          <a:noFill/>
        </p:spPr>
        <p:txBody>
          <a:bodyPr wrap="square" anchor="t"/>
          <a:lstStyle/>
          <a:p>
            <a:pPr algn="l">
              <a:spcAft>
                <a:spcPts val="400"/>
              </a:spcAft>
            </a:pPr>
            <a:r>
              <a:rPr sz="1400" b="1" i="0">
                <a:solidFill>
                  <a:srgbClr val="1A1F2E"/>
                </a:solidFill>
                <a:latin typeface="Microsoft YaHei"/>
                <a:ea typeface="Microsoft YaHei"/>
              </a:rPr>
              <a:t>梦游天姥吟留别</a:t>
            </a:r>
          </a:p>
        </p:txBody>
      </p:sp>
      <p:sp>
        <p:nvSpPr>
          <p:cNvPr id="28" name="TextBox 27"/>
          <p:cNvSpPr txBox="1"/>
          <p:nvPr/>
        </p:nvSpPr>
        <p:spPr>
          <a:xfrm>
            <a:off x="2377440" y="4462272"/>
            <a:ext cx="6400800" cy="22860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离鲁南下</a:t>
            </a:r>
          </a:p>
        </p:txBody>
      </p:sp>
      <p:sp>
        <p:nvSpPr>
          <p:cNvPr id="29" name="Rectangle 28"/>
          <p:cNvSpPr/>
          <p:nvPr/>
        </p:nvSpPr>
        <p:spPr>
          <a:xfrm>
            <a:off x="548640" y="4846320"/>
            <a:ext cx="1645920" cy="5029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4919472"/>
            <a:ext cx="1554480" cy="365760"/>
          </a:xfrm>
          <a:prstGeom prst="rect">
            <a:avLst/>
          </a:prstGeom>
          <a:noFill/>
        </p:spPr>
        <p:txBody>
          <a:bodyPr wrap="square" anchor="t"/>
          <a:lstStyle/>
          <a:p>
            <a:pPr algn="ctr">
              <a:spcAft>
                <a:spcPts val="400"/>
              </a:spcAft>
            </a:pPr>
            <a:r>
              <a:rPr sz="1200" b="1" i="0">
                <a:solidFill>
                  <a:srgbClr val="FFFFFF"/>
                </a:solidFill>
                <a:latin typeface="Microsoft YaHei"/>
                <a:ea typeface="Microsoft YaHei"/>
              </a:rPr>
              <a:t>759</a:t>
            </a:r>
          </a:p>
        </p:txBody>
      </p:sp>
      <p:sp>
        <p:nvSpPr>
          <p:cNvPr id="31" name="TextBox 30"/>
          <p:cNvSpPr txBox="1"/>
          <p:nvPr/>
        </p:nvSpPr>
        <p:spPr>
          <a:xfrm>
            <a:off x="2377440" y="4864608"/>
            <a:ext cx="6400800" cy="274320"/>
          </a:xfrm>
          <a:prstGeom prst="rect">
            <a:avLst/>
          </a:prstGeom>
          <a:noFill/>
        </p:spPr>
        <p:txBody>
          <a:bodyPr wrap="square" anchor="t"/>
          <a:lstStyle/>
          <a:p>
            <a:pPr algn="l">
              <a:spcAft>
                <a:spcPts val="400"/>
              </a:spcAft>
            </a:pPr>
            <a:r>
              <a:rPr sz="1400" b="1" i="0">
                <a:solidFill>
                  <a:srgbClr val="1A1F2E"/>
                </a:solidFill>
                <a:latin typeface="Microsoft YaHei"/>
                <a:ea typeface="Microsoft YaHei"/>
              </a:rPr>
              <a:t>早发白帝城</a:t>
            </a:r>
          </a:p>
        </p:txBody>
      </p:sp>
      <p:sp>
        <p:nvSpPr>
          <p:cNvPr id="32" name="TextBox 31"/>
          <p:cNvSpPr txBox="1"/>
          <p:nvPr/>
        </p:nvSpPr>
        <p:spPr>
          <a:xfrm>
            <a:off x="2377440" y="5102352"/>
            <a:ext cx="6400800" cy="22860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遇赦东归</a:t>
            </a:r>
          </a:p>
        </p:txBody>
      </p:sp>
      <p:sp>
        <p:nvSpPr>
          <p:cNvPr id="33" name="Rectangle 32"/>
          <p:cNvSpPr/>
          <p:nvPr/>
        </p:nvSpPr>
        <p:spPr>
          <a:xfrm>
            <a:off x="548640" y="5486400"/>
            <a:ext cx="1645920" cy="502920"/>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5559552"/>
            <a:ext cx="1554480" cy="365760"/>
          </a:xfrm>
          <a:prstGeom prst="rect">
            <a:avLst/>
          </a:prstGeom>
          <a:noFill/>
        </p:spPr>
        <p:txBody>
          <a:bodyPr wrap="square" anchor="t"/>
          <a:lstStyle/>
          <a:p>
            <a:pPr algn="ctr">
              <a:spcAft>
                <a:spcPts val="400"/>
              </a:spcAft>
            </a:pPr>
            <a:r>
              <a:rPr sz="1200" b="1" i="0">
                <a:solidFill>
                  <a:srgbClr val="FFFFFF"/>
                </a:solidFill>
                <a:latin typeface="Microsoft YaHei"/>
                <a:ea typeface="Microsoft YaHei"/>
              </a:rPr>
              <a:t>约760</a:t>
            </a:r>
          </a:p>
        </p:txBody>
      </p:sp>
      <p:sp>
        <p:nvSpPr>
          <p:cNvPr id="35" name="TextBox 34"/>
          <p:cNvSpPr txBox="1"/>
          <p:nvPr/>
        </p:nvSpPr>
        <p:spPr>
          <a:xfrm>
            <a:off x="2377440" y="5504688"/>
            <a:ext cx="6400800" cy="274320"/>
          </a:xfrm>
          <a:prstGeom prst="rect">
            <a:avLst/>
          </a:prstGeom>
          <a:noFill/>
        </p:spPr>
        <p:txBody>
          <a:bodyPr wrap="square" anchor="t"/>
          <a:lstStyle/>
          <a:p>
            <a:pPr algn="l">
              <a:spcAft>
                <a:spcPts val="400"/>
              </a:spcAft>
            </a:pPr>
            <a:r>
              <a:rPr sz="1400" b="1" i="0">
                <a:solidFill>
                  <a:srgbClr val="1A1F2E"/>
                </a:solidFill>
                <a:latin typeface="Microsoft YaHei"/>
                <a:ea typeface="Microsoft YaHei"/>
              </a:rPr>
              <a:t>庐山谣</a:t>
            </a:r>
          </a:p>
        </p:txBody>
      </p:sp>
      <p:sp>
        <p:nvSpPr>
          <p:cNvPr id="36" name="TextBox 35"/>
          <p:cNvSpPr txBox="1"/>
          <p:nvPr/>
        </p:nvSpPr>
        <p:spPr>
          <a:xfrm>
            <a:off x="2377440" y="5742432"/>
            <a:ext cx="6400800" cy="228600"/>
          </a:xfrm>
          <a:prstGeom prst="rect">
            <a:avLst/>
          </a:prstGeom>
          <a:noFill/>
        </p:spPr>
        <p:txBody>
          <a:bodyPr wrap="square" anchor="t"/>
          <a:lstStyle/>
          <a:p>
            <a:pPr algn="l">
              <a:spcAft>
                <a:spcPts val="400"/>
              </a:spcAft>
            </a:pPr>
            <a:r>
              <a:rPr sz="1100" b="0" i="0">
                <a:solidFill>
                  <a:srgbClr val="5A6272"/>
                </a:solidFill>
                <a:latin typeface="Microsoft YaHei"/>
                <a:ea typeface="Microsoft YaHei"/>
              </a:rPr>
              <a:t>晚年庐山</a:t>
            </a:r>
          </a:p>
        </p:txBody>
      </p:sp>
      <p:sp>
        <p:nvSpPr>
          <p:cNvPr id="37" name="TextBox 36"/>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李白诗作精讲 · Li Bai Poetry  |  81/83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411480"/>
          </a:xfrm>
          <a:prstGeom prst="rect">
            <a:avLst/>
          </a:prstGeom>
          <a:noFill/>
        </p:spPr>
        <p:txBody>
          <a:bodyPr wrap="square" anchor="t"/>
          <a:lstStyle/>
          <a:p>
            <a:pPr algn="l">
              <a:spcAft>
                <a:spcPts val="400"/>
              </a:spcAft>
            </a:pPr>
            <a:r>
              <a:rPr sz="2000" b="1" i="0">
                <a:solidFill>
                  <a:srgbClr val="FFFFFF"/>
                </a:solidFill>
                <a:latin typeface="Microsoft YaHei"/>
                <a:ea typeface="Microsoft YaHei"/>
              </a:rPr>
              <a:t>主题脉络 · Thematic Threads</a:t>
            </a:r>
          </a:p>
        </p:txBody>
      </p:sp>
      <p:sp>
        <p:nvSpPr>
          <p:cNvPr id="5" name="Rectangle 4"/>
          <p:cNvSpPr/>
          <p:nvPr/>
        </p:nvSpPr>
        <p:spPr>
          <a:xfrm>
            <a:off x="457200" y="1097280"/>
            <a:ext cx="3657600" cy="21031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3657600" cy="73152"/>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3291840" cy="365760"/>
          </a:xfrm>
          <a:prstGeom prst="rect">
            <a:avLst/>
          </a:prstGeom>
          <a:noFill/>
        </p:spPr>
        <p:txBody>
          <a:bodyPr wrap="square" anchor="t"/>
          <a:lstStyle/>
          <a:p>
            <a:pPr algn="l">
              <a:spcAft>
                <a:spcPts val="400"/>
              </a:spcAft>
            </a:pPr>
            <a:r>
              <a:rPr sz="1800" b="1" i="0">
                <a:solidFill>
                  <a:srgbClr val="1A1F2E"/>
                </a:solidFill>
                <a:latin typeface="Microsoft YaHei"/>
                <a:ea typeface="Microsoft YaHei"/>
              </a:rPr>
              <a:t>乡恋与壮游</a:t>
            </a:r>
          </a:p>
        </p:txBody>
      </p:sp>
      <p:sp>
        <p:nvSpPr>
          <p:cNvPr id="8" name="TextBox 7"/>
          <p:cNvSpPr txBox="1"/>
          <p:nvPr/>
        </p:nvSpPr>
        <p:spPr>
          <a:xfrm>
            <a:off x="640080" y="1783080"/>
            <a:ext cx="3291840" cy="320040"/>
          </a:xfrm>
          <a:prstGeom prst="rect">
            <a:avLst/>
          </a:prstGeom>
          <a:noFill/>
        </p:spPr>
        <p:txBody>
          <a:bodyPr wrap="square" anchor="t"/>
          <a:lstStyle/>
          <a:p>
            <a:pPr algn="l">
              <a:spcAft>
                <a:spcPts val="400"/>
              </a:spcAft>
            </a:pPr>
            <a:r>
              <a:rPr sz="1200" b="0" i="1">
                <a:solidFill>
                  <a:srgbClr val="1E5A5A"/>
                </a:solidFill>
                <a:latin typeface="Microsoft YaHei"/>
                <a:ea typeface="Microsoft YaHei"/>
              </a:rPr>
              <a:t>Homeland &amp; Roaming</a:t>
            </a:r>
          </a:p>
        </p:txBody>
      </p:sp>
      <p:sp>
        <p:nvSpPr>
          <p:cNvPr id="9" name="TextBox 8"/>
          <p:cNvSpPr txBox="1"/>
          <p:nvPr/>
        </p:nvSpPr>
        <p:spPr>
          <a:xfrm>
            <a:off x="640080" y="2240280"/>
            <a:ext cx="3291840" cy="731520"/>
          </a:xfrm>
          <a:prstGeom prst="rect">
            <a:avLst/>
          </a:prstGeom>
          <a:noFill/>
        </p:spPr>
        <p:txBody>
          <a:bodyPr wrap="square" anchor="t"/>
          <a:lstStyle/>
          <a:p>
            <a:pPr algn="l">
              <a:spcAft>
                <a:spcPts val="400"/>
              </a:spcAft>
            </a:pPr>
            <a:r>
              <a:rPr sz="1300" b="0" i="0">
                <a:solidFill>
                  <a:srgbClr val="2C3548"/>
                </a:solidFill>
                <a:latin typeface="Microsoft YaHei"/>
                <a:ea typeface="Microsoft YaHei"/>
              </a:rPr>
              <a:t>峨眉山月歌、渡荆门送别</a:t>
            </a:r>
          </a:p>
        </p:txBody>
      </p:sp>
      <p:sp>
        <p:nvSpPr>
          <p:cNvPr id="10" name="Rectangle 9"/>
          <p:cNvSpPr/>
          <p:nvPr/>
        </p:nvSpPr>
        <p:spPr>
          <a:xfrm>
            <a:off x="4297680" y="1097280"/>
            <a:ext cx="3657600" cy="21031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1097280"/>
            <a:ext cx="3657600" cy="73152"/>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371600"/>
            <a:ext cx="3291840" cy="365760"/>
          </a:xfrm>
          <a:prstGeom prst="rect">
            <a:avLst/>
          </a:prstGeom>
          <a:noFill/>
        </p:spPr>
        <p:txBody>
          <a:bodyPr wrap="square" anchor="t"/>
          <a:lstStyle/>
          <a:p>
            <a:pPr algn="l">
              <a:spcAft>
                <a:spcPts val="400"/>
              </a:spcAft>
            </a:pPr>
            <a:r>
              <a:rPr sz="1800" b="1" i="0">
                <a:solidFill>
                  <a:srgbClr val="1A1F2E"/>
                </a:solidFill>
                <a:latin typeface="Microsoft YaHei"/>
                <a:ea typeface="Microsoft YaHei"/>
              </a:rPr>
              <a:t>儿女深情</a:t>
            </a:r>
          </a:p>
        </p:txBody>
      </p:sp>
      <p:sp>
        <p:nvSpPr>
          <p:cNvPr id="13" name="TextBox 12"/>
          <p:cNvSpPr txBox="1"/>
          <p:nvPr/>
        </p:nvSpPr>
        <p:spPr>
          <a:xfrm>
            <a:off x="4480560" y="1783080"/>
            <a:ext cx="3291840" cy="320040"/>
          </a:xfrm>
          <a:prstGeom prst="rect">
            <a:avLst/>
          </a:prstGeom>
          <a:noFill/>
        </p:spPr>
        <p:txBody>
          <a:bodyPr wrap="square" anchor="t"/>
          <a:lstStyle/>
          <a:p>
            <a:pPr algn="l">
              <a:spcAft>
                <a:spcPts val="400"/>
              </a:spcAft>
            </a:pPr>
            <a:r>
              <a:rPr sz="1200" b="0" i="1">
                <a:solidFill>
                  <a:srgbClr val="1E5A5A"/>
                </a:solidFill>
                <a:latin typeface="Microsoft YaHei"/>
                <a:ea typeface="Microsoft YaHei"/>
              </a:rPr>
              <a:t>Love &amp; Longing</a:t>
            </a:r>
          </a:p>
        </p:txBody>
      </p:sp>
      <p:sp>
        <p:nvSpPr>
          <p:cNvPr id="14" name="TextBox 13"/>
          <p:cNvSpPr txBox="1"/>
          <p:nvPr/>
        </p:nvSpPr>
        <p:spPr>
          <a:xfrm>
            <a:off x="4480560" y="2240280"/>
            <a:ext cx="3291840" cy="731520"/>
          </a:xfrm>
          <a:prstGeom prst="rect">
            <a:avLst/>
          </a:prstGeom>
          <a:noFill/>
        </p:spPr>
        <p:txBody>
          <a:bodyPr wrap="square" anchor="t"/>
          <a:lstStyle/>
          <a:p>
            <a:pPr algn="l">
              <a:spcAft>
                <a:spcPts val="400"/>
              </a:spcAft>
            </a:pPr>
            <a:r>
              <a:rPr sz="1300" b="0" i="0">
                <a:solidFill>
                  <a:srgbClr val="2C3548"/>
                </a:solidFill>
                <a:latin typeface="Microsoft YaHei"/>
                <a:ea typeface="Microsoft YaHei"/>
              </a:rPr>
              <a:t>长干行、长相思</a:t>
            </a:r>
          </a:p>
        </p:txBody>
      </p:sp>
      <p:sp>
        <p:nvSpPr>
          <p:cNvPr id="15" name="Rectangle 14"/>
          <p:cNvSpPr/>
          <p:nvPr/>
        </p:nvSpPr>
        <p:spPr>
          <a:xfrm>
            <a:off x="8138160" y="1097280"/>
            <a:ext cx="3657600" cy="21031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097280"/>
            <a:ext cx="3657600" cy="73152"/>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371600"/>
            <a:ext cx="3291840" cy="365760"/>
          </a:xfrm>
          <a:prstGeom prst="rect">
            <a:avLst/>
          </a:prstGeom>
          <a:noFill/>
        </p:spPr>
        <p:txBody>
          <a:bodyPr wrap="square" anchor="t"/>
          <a:lstStyle/>
          <a:p>
            <a:pPr algn="l">
              <a:spcAft>
                <a:spcPts val="400"/>
              </a:spcAft>
            </a:pPr>
            <a:r>
              <a:rPr sz="1800" b="1" i="0">
                <a:solidFill>
                  <a:srgbClr val="1A1F2E"/>
                </a:solidFill>
                <a:latin typeface="Microsoft YaHei"/>
                <a:ea typeface="Microsoft YaHei"/>
              </a:rPr>
              <a:t>送别豪情</a:t>
            </a:r>
          </a:p>
        </p:txBody>
      </p:sp>
      <p:sp>
        <p:nvSpPr>
          <p:cNvPr id="18" name="TextBox 17"/>
          <p:cNvSpPr txBox="1"/>
          <p:nvPr/>
        </p:nvSpPr>
        <p:spPr>
          <a:xfrm>
            <a:off x="8321040" y="1783080"/>
            <a:ext cx="3291840" cy="320040"/>
          </a:xfrm>
          <a:prstGeom prst="rect">
            <a:avLst/>
          </a:prstGeom>
          <a:noFill/>
        </p:spPr>
        <p:txBody>
          <a:bodyPr wrap="square" anchor="t"/>
          <a:lstStyle/>
          <a:p>
            <a:pPr algn="l">
              <a:spcAft>
                <a:spcPts val="400"/>
              </a:spcAft>
            </a:pPr>
            <a:r>
              <a:rPr sz="1200" b="0" i="1">
                <a:solidFill>
                  <a:srgbClr val="1E5A5A"/>
                </a:solidFill>
                <a:latin typeface="Microsoft YaHei"/>
                <a:ea typeface="Microsoft YaHei"/>
              </a:rPr>
              <a:t>Farewell &amp; Wine</a:t>
            </a:r>
          </a:p>
        </p:txBody>
      </p:sp>
      <p:sp>
        <p:nvSpPr>
          <p:cNvPr id="19" name="TextBox 18"/>
          <p:cNvSpPr txBox="1"/>
          <p:nvPr/>
        </p:nvSpPr>
        <p:spPr>
          <a:xfrm>
            <a:off x="8321040" y="2240280"/>
            <a:ext cx="3291840" cy="731520"/>
          </a:xfrm>
          <a:prstGeom prst="rect">
            <a:avLst/>
          </a:prstGeom>
          <a:noFill/>
        </p:spPr>
        <p:txBody>
          <a:bodyPr wrap="square" anchor="t"/>
          <a:lstStyle/>
          <a:p>
            <a:pPr algn="l">
              <a:spcAft>
                <a:spcPts val="400"/>
              </a:spcAft>
            </a:pPr>
            <a:r>
              <a:rPr sz="1300" b="0" i="0">
                <a:solidFill>
                  <a:srgbClr val="2C3548"/>
                </a:solidFill>
                <a:latin typeface="Microsoft YaHei"/>
                <a:ea typeface="Microsoft YaHei"/>
              </a:rPr>
              <a:t>金陵酒肆留别、将进酒</a:t>
            </a:r>
          </a:p>
        </p:txBody>
      </p:sp>
      <p:sp>
        <p:nvSpPr>
          <p:cNvPr id="20" name="Rectangle 19"/>
          <p:cNvSpPr/>
          <p:nvPr/>
        </p:nvSpPr>
        <p:spPr>
          <a:xfrm>
            <a:off x="457200" y="3474720"/>
            <a:ext cx="3657600" cy="21031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474720"/>
            <a:ext cx="3657600" cy="73152"/>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749040"/>
            <a:ext cx="3291840" cy="365760"/>
          </a:xfrm>
          <a:prstGeom prst="rect">
            <a:avLst/>
          </a:prstGeom>
          <a:noFill/>
        </p:spPr>
        <p:txBody>
          <a:bodyPr wrap="square" anchor="t"/>
          <a:lstStyle/>
          <a:p>
            <a:pPr algn="l">
              <a:spcAft>
                <a:spcPts val="400"/>
              </a:spcAft>
            </a:pPr>
            <a:r>
              <a:rPr sz="1800" b="1" i="0">
                <a:solidFill>
                  <a:srgbClr val="1A1F2E"/>
                </a:solidFill>
                <a:latin typeface="Microsoft YaHei"/>
                <a:ea typeface="Microsoft YaHei"/>
              </a:rPr>
              <a:t>失路与傲骨</a:t>
            </a:r>
          </a:p>
        </p:txBody>
      </p:sp>
      <p:sp>
        <p:nvSpPr>
          <p:cNvPr id="23" name="TextBox 22"/>
          <p:cNvSpPr txBox="1"/>
          <p:nvPr/>
        </p:nvSpPr>
        <p:spPr>
          <a:xfrm>
            <a:off x="640080" y="4160520"/>
            <a:ext cx="3291840" cy="320040"/>
          </a:xfrm>
          <a:prstGeom prst="rect">
            <a:avLst/>
          </a:prstGeom>
          <a:noFill/>
        </p:spPr>
        <p:txBody>
          <a:bodyPr wrap="square" anchor="t"/>
          <a:lstStyle/>
          <a:p>
            <a:pPr algn="l">
              <a:spcAft>
                <a:spcPts val="400"/>
              </a:spcAft>
            </a:pPr>
            <a:r>
              <a:rPr sz="1200" b="0" i="1">
                <a:solidFill>
                  <a:srgbClr val="1E5A5A"/>
                </a:solidFill>
                <a:latin typeface="Microsoft YaHei"/>
                <a:ea typeface="Microsoft YaHei"/>
              </a:rPr>
              <a:t>Setback &amp; Pride</a:t>
            </a:r>
          </a:p>
        </p:txBody>
      </p:sp>
      <p:sp>
        <p:nvSpPr>
          <p:cNvPr id="24" name="TextBox 23"/>
          <p:cNvSpPr txBox="1"/>
          <p:nvPr/>
        </p:nvSpPr>
        <p:spPr>
          <a:xfrm>
            <a:off x="640080" y="4617720"/>
            <a:ext cx="3291840" cy="731520"/>
          </a:xfrm>
          <a:prstGeom prst="rect">
            <a:avLst/>
          </a:prstGeom>
          <a:noFill/>
        </p:spPr>
        <p:txBody>
          <a:bodyPr wrap="square" anchor="t"/>
          <a:lstStyle/>
          <a:p>
            <a:pPr algn="l">
              <a:spcAft>
                <a:spcPts val="400"/>
              </a:spcAft>
            </a:pPr>
            <a:r>
              <a:rPr sz="1300" b="0" i="0">
                <a:solidFill>
                  <a:srgbClr val="2C3548"/>
                </a:solidFill>
                <a:latin typeface="Microsoft YaHei"/>
                <a:ea typeface="Microsoft YaHei"/>
              </a:rPr>
              <a:t>行路难、梦游天姥</a:t>
            </a:r>
          </a:p>
        </p:txBody>
      </p:sp>
      <p:sp>
        <p:nvSpPr>
          <p:cNvPr id="25" name="Rectangle 24"/>
          <p:cNvSpPr/>
          <p:nvPr/>
        </p:nvSpPr>
        <p:spPr>
          <a:xfrm>
            <a:off x="4297680" y="3474720"/>
            <a:ext cx="3657600" cy="21031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97680" y="3474720"/>
            <a:ext cx="3657600" cy="73152"/>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0560" y="3749040"/>
            <a:ext cx="3291840" cy="365760"/>
          </a:xfrm>
          <a:prstGeom prst="rect">
            <a:avLst/>
          </a:prstGeom>
          <a:noFill/>
        </p:spPr>
        <p:txBody>
          <a:bodyPr wrap="square" anchor="t"/>
          <a:lstStyle/>
          <a:p>
            <a:pPr algn="l">
              <a:spcAft>
                <a:spcPts val="400"/>
              </a:spcAft>
            </a:pPr>
            <a:r>
              <a:rPr sz="1800" b="1" i="0">
                <a:solidFill>
                  <a:srgbClr val="1A1F2E"/>
                </a:solidFill>
                <a:latin typeface="Microsoft YaHei"/>
                <a:ea typeface="Microsoft YaHei"/>
              </a:rPr>
              <a:t>奇境长歌</a:t>
            </a:r>
          </a:p>
        </p:txBody>
      </p:sp>
      <p:sp>
        <p:nvSpPr>
          <p:cNvPr id="28" name="TextBox 27"/>
          <p:cNvSpPr txBox="1"/>
          <p:nvPr/>
        </p:nvSpPr>
        <p:spPr>
          <a:xfrm>
            <a:off x="4480560" y="4160520"/>
            <a:ext cx="3291840" cy="320040"/>
          </a:xfrm>
          <a:prstGeom prst="rect">
            <a:avLst/>
          </a:prstGeom>
          <a:noFill/>
        </p:spPr>
        <p:txBody>
          <a:bodyPr wrap="square" anchor="t"/>
          <a:lstStyle/>
          <a:p>
            <a:pPr algn="l">
              <a:spcAft>
                <a:spcPts val="400"/>
              </a:spcAft>
            </a:pPr>
            <a:r>
              <a:rPr sz="1200" b="0" i="1">
                <a:solidFill>
                  <a:srgbClr val="1E5A5A"/>
                </a:solidFill>
                <a:latin typeface="Microsoft YaHei"/>
                <a:ea typeface="Microsoft YaHei"/>
              </a:rPr>
              <a:t>Visionary Songs</a:t>
            </a:r>
          </a:p>
        </p:txBody>
      </p:sp>
      <p:sp>
        <p:nvSpPr>
          <p:cNvPr id="29" name="TextBox 28"/>
          <p:cNvSpPr txBox="1"/>
          <p:nvPr/>
        </p:nvSpPr>
        <p:spPr>
          <a:xfrm>
            <a:off x="4480560" y="4617720"/>
            <a:ext cx="3291840" cy="731520"/>
          </a:xfrm>
          <a:prstGeom prst="rect">
            <a:avLst/>
          </a:prstGeom>
          <a:noFill/>
        </p:spPr>
        <p:txBody>
          <a:bodyPr wrap="square" anchor="t"/>
          <a:lstStyle/>
          <a:p>
            <a:pPr algn="l">
              <a:spcAft>
                <a:spcPts val="400"/>
              </a:spcAft>
            </a:pPr>
            <a:r>
              <a:rPr sz="1300" b="0" i="0">
                <a:solidFill>
                  <a:srgbClr val="2C3548"/>
                </a:solidFill>
                <a:latin typeface="Microsoft YaHei"/>
                <a:ea typeface="Microsoft YaHei"/>
              </a:rPr>
              <a:t>蜀道难、庐山谣、清平调</a:t>
            </a:r>
          </a:p>
        </p:txBody>
      </p:sp>
      <p:sp>
        <p:nvSpPr>
          <p:cNvPr id="30" name="Rectangle 29"/>
          <p:cNvSpPr/>
          <p:nvPr/>
        </p:nvSpPr>
        <p:spPr>
          <a:xfrm>
            <a:off x="8138160" y="3474720"/>
            <a:ext cx="3657600" cy="2103120"/>
          </a:xfrm>
          <a:prstGeom prst="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38160" y="3474720"/>
            <a:ext cx="3657600" cy="73152"/>
          </a:xfrm>
          <a:prstGeom prst="rect">
            <a:avLst/>
          </a:prstGeom>
          <a:solidFill>
            <a:srgbClr val="1E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21040" y="3749040"/>
            <a:ext cx="3291840" cy="365760"/>
          </a:xfrm>
          <a:prstGeom prst="rect">
            <a:avLst/>
          </a:prstGeom>
          <a:noFill/>
        </p:spPr>
        <p:txBody>
          <a:bodyPr wrap="square" anchor="t"/>
          <a:lstStyle/>
          <a:p>
            <a:pPr algn="l">
              <a:spcAft>
                <a:spcPts val="400"/>
              </a:spcAft>
            </a:pPr>
            <a:r>
              <a:rPr sz="1800" b="1" i="0">
                <a:solidFill>
                  <a:srgbClr val="1A1F2E"/>
                </a:solidFill>
                <a:latin typeface="Microsoft YaHei"/>
                <a:ea typeface="Microsoft YaHei"/>
              </a:rPr>
              <a:t>绝境重生</a:t>
            </a:r>
          </a:p>
        </p:txBody>
      </p:sp>
      <p:sp>
        <p:nvSpPr>
          <p:cNvPr id="33" name="TextBox 32"/>
          <p:cNvSpPr txBox="1"/>
          <p:nvPr/>
        </p:nvSpPr>
        <p:spPr>
          <a:xfrm>
            <a:off x="8321040" y="4160520"/>
            <a:ext cx="3291840" cy="320040"/>
          </a:xfrm>
          <a:prstGeom prst="rect">
            <a:avLst/>
          </a:prstGeom>
          <a:noFill/>
        </p:spPr>
        <p:txBody>
          <a:bodyPr wrap="square" anchor="t"/>
          <a:lstStyle/>
          <a:p>
            <a:pPr algn="l">
              <a:spcAft>
                <a:spcPts val="400"/>
              </a:spcAft>
            </a:pPr>
            <a:r>
              <a:rPr sz="1200" b="0" i="1">
                <a:solidFill>
                  <a:srgbClr val="1E5A5A"/>
                </a:solidFill>
                <a:latin typeface="Microsoft YaHei"/>
                <a:ea typeface="Microsoft YaHei"/>
              </a:rPr>
              <a:t>Release After Peril</a:t>
            </a:r>
          </a:p>
        </p:txBody>
      </p:sp>
      <p:sp>
        <p:nvSpPr>
          <p:cNvPr id="34" name="TextBox 33"/>
          <p:cNvSpPr txBox="1"/>
          <p:nvPr/>
        </p:nvSpPr>
        <p:spPr>
          <a:xfrm>
            <a:off x="8321040" y="4617720"/>
            <a:ext cx="3291840" cy="731520"/>
          </a:xfrm>
          <a:prstGeom prst="rect">
            <a:avLst/>
          </a:prstGeom>
          <a:noFill/>
        </p:spPr>
        <p:txBody>
          <a:bodyPr wrap="square" anchor="t"/>
          <a:lstStyle/>
          <a:p>
            <a:pPr algn="l">
              <a:spcAft>
                <a:spcPts val="400"/>
              </a:spcAft>
            </a:pPr>
            <a:r>
              <a:rPr sz="1300" b="0" i="0">
                <a:solidFill>
                  <a:srgbClr val="2C3548"/>
                </a:solidFill>
                <a:latin typeface="Microsoft YaHei"/>
                <a:ea typeface="Microsoft YaHei"/>
              </a:rPr>
              <a:t>早发白帝城</a:t>
            </a:r>
          </a:p>
        </p:txBody>
      </p:sp>
      <p:sp>
        <p:nvSpPr>
          <p:cNvPr id="35" name="TextBox 34"/>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李白诗作精讲 · Li Bai Poetry  |  82/83</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A67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10058400" cy="548640"/>
          </a:xfrm>
          <a:prstGeom prst="rect">
            <a:avLst/>
          </a:prstGeom>
          <a:noFill/>
        </p:spPr>
        <p:txBody>
          <a:bodyPr wrap="square" anchor="t"/>
          <a:lstStyle/>
          <a:p>
            <a:pPr algn="l">
              <a:spcAft>
                <a:spcPts val="400"/>
              </a:spcAft>
            </a:pPr>
            <a:r>
              <a:rPr sz="2800" b="1" i="0">
                <a:solidFill>
                  <a:srgbClr val="FFFFFF"/>
                </a:solidFill>
                <a:latin typeface="Microsoft YaHei"/>
                <a:ea typeface="Microsoft YaHei"/>
              </a:rPr>
              <a:t>长风破浪会有时，直挂云帆济沧海。</a:t>
            </a:r>
          </a:p>
        </p:txBody>
      </p:sp>
      <p:sp>
        <p:nvSpPr>
          <p:cNvPr id="5" name="TextBox 4"/>
          <p:cNvSpPr txBox="1"/>
          <p:nvPr/>
        </p:nvSpPr>
        <p:spPr>
          <a:xfrm>
            <a:off x="1097280" y="2834640"/>
            <a:ext cx="10058400" cy="457200"/>
          </a:xfrm>
          <a:prstGeom prst="rect">
            <a:avLst/>
          </a:prstGeom>
          <a:noFill/>
        </p:spPr>
        <p:txBody>
          <a:bodyPr wrap="square" anchor="t"/>
          <a:lstStyle/>
          <a:p>
            <a:pPr algn="l">
              <a:spcAft>
                <a:spcPts val="400"/>
              </a:spcAft>
            </a:pPr>
            <a:r>
              <a:rPr sz="1600" b="0" i="1">
                <a:solidFill>
                  <a:srgbClr val="E8E0D0"/>
                </a:solidFill>
                <a:latin typeface="Microsoft YaHei"/>
                <a:ea typeface="Microsoft YaHei"/>
              </a:rPr>
              <a:t>There will be a time to ride the wind and cleave the waves.</a:t>
            </a:r>
          </a:p>
        </p:txBody>
      </p:sp>
      <p:sp>
        <p:nvSpPr>
          <p:cNvPr id="6" name="Rectangle 5"/>
          <p:cNvSpPr/>
          <p:nvPr/>
        </p:nvSpPr>
        <p:spPr>
          <a:xfrm>
            <a:off x="1097280" y="3566160"/>
            <a:ext cx="2011680" cy="54864"/>
          </a:xfrm>
          <a:prstGeom prst="rect">
            <a:avLst/>
          </a:prstGeom>
          <a:solidFill>
            <a:srgbClr val="2A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931920"/>
            <a:ext cx="10058400" cy="1097280"/>
          </a:xfrm>
          <a:prstGeom prst="rect">
            <a:avLst/>
          </a:prstGeom>
          <a:noFill/>
        </p:spPr>
        <p:txBody>
          <a:bodyPr wrap="square" anchor="t"/>
          <a:lstStyle/>
          <a:p>
            <a:pPr algn="l">
              <a:spcAft>
                <a:spcPts val="400"/>
              </a:spcAft>
            </a:pPr>
            <a:r>
              <a:rPr sz="1400" b="0" i="0">
                <a:solidFill>
                  <a:srgbClr val="F7F3EB"/>
                </a:solidFill>
                <a:latin typeface="Microsoft YaHei"/>
                <a:ea typeface="Microsoft YaHei"/>
              </a:rPr>
              <a:t>十二名篇，贯穿出蜀、供奉、放还、流放与遇赦的一生轨迹。</a:t>
            </a:r>
          </a:p>
          <a:p>
            <a:pPr algn="l">
              <a:spcAft>
                <a:spcPts val="400"/>
              </a:spcAft>
            </a:pPr>
            <a:r>
              <a:rPr sz="1400" b="0" i="0">
                <a:solidFill>
                  <a:srgbClr val="F7F3EB"/>
                </a:solidFill>
                <a:latin typeface="Microsoft YaHei"/>
                <a:ea typeface="Microsoft YaHei"/>
              </a:rPr>
              <a:t>读其诗，可见盛唐之气象，亦可见一位诗人的骄傲、深情与自由。</a:t>
            </a:r>
          </a:p>
          <a:p>
            <a:pPr algn="l">
              <a:spcAft>
                <a:spcPts val="400"/>
              </a:spcAft>
            </a:pPr>
            <a:r>
              <a:rPr sz="1400" b="0" i="0">
                <a:solidFill>
                  <a:srgbClr val="F7F3EB"/>
                </a:solidFill>
                <a:latin typeface="Microsoft YaHei"/>
                <a:ea typeface="Microsoft YaHei"/>
              </a:rPr>
              <a:t/>
            </a:r>
          </a:p>
          <a:p>
            <a:pPr algn="l">
              <a:spcAft>
                <a:spcPts val="400"/>
              </a:spcAft>
            </a:pPr>
            <a:r>
              <a:rPr sz="1400" b="0" i="0">
                <a:solidFill>
                  <a:srgbClr val="F7F3EB"/>
                </a:solidFill>
                <a:latin typeface="Microsoft YaHei"/>
                <a:ea typeface="Microsoft YaHei"/>
              </a:rPr>
              <a:t>— 李白诗作精讲 · 完 —</a:t>
            </a:r>
          </a:p>
        </p:txBody>
      </p:sp>
      <p:sp>
        <p:nvSpPr>
          <p:cNvPr id="8" name="TextBox 7"/>
          <p:cNvSpPr txBox="1"/>
          <p:nvPr/>
        </p:nvSpPr>
        <p:spPr>
          <a:xfrm>
            <a:off x="457200" y="6492240"/>
            <a:ext cx="9144000" cy="274320"/>
          </a:xfrm>
          <a:prstGeom prst="rect">
            <a:avLst/>
          </a:prstGeom>
          <a:noFill/>
        </p:spPr>
        <p:txBody>
          <a:bodyPr wrap="square" anchor="t"/>
          <a:lstStyle/>
          <a:p>
            <a:pPr algn="l">
              <a:spcAft>
                <a:spcPts val="400"/>
              </a:spcAft>
            </a:pPr>
            <a:r>
              <a:rPr sz="1000" b="0" i="0">
                <a:solidFill>
                  <a:srgbClr val="5A6272"/>
                </a:solidFill>
                <a:latin typeface="Microsoft YaHei"/>
                <a:ea typeface="Microsoft YaHei"/>
              </a:rPr>
              <a:t>李白诗作精讲 · Li Bai Poetry  |  83/83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